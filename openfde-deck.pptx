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jpg" ContentType="image/jpeg"/>
  <Default Extension="png" ContentType="image/png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1.xml"/>
</Relationships>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2.xml"/>
</Relationships>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3.xml"/>
</Relationships>
</file>

<file path=ppt/notesSlides/_rels/notesSlide4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4.xml"/>
</Relationships>
</file>

<file path=ppt/notesSlides/_rels/notesSlide5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5.xml"/>
</Relationships>
</file>

<file path=ppt/notesSlides/_rels/notesSlide6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6.xml"/>
</Relationships>
</file>

<file path=ppt/notesSlides/_rels/notesSlide7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7.xml"/>
</Relationships>
</file>

<file path=ppt/notesSlides/_rels/notesSlide8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8.xml"/>
</Relationships>
</file>

<file path=ppt/notesSlides/_rels/notesSlide9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9.xml"/>
</Relationships>
</file>

<file path=ppt/notesSlides/_rels/notesSlide10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10.xml"/>
</Relationships>
</file>

<file path=ppt/notesSlides/_rels/notesSlide11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11.xml"/>
</Relationships>
</file>

<file path=ppt/notesSlides/_rels/notesSlide12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12.xml"/>
</Relationships>
</file>

<file path=ppt/notesSlides/_rels/notesSlide13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13.xml"/>
</Relationships>
</file>

<file path=ppt/notesSlides/_rels/notesSlide14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14.xml"/>
</Relationships>
</file>

<file path=ppt/notesSlides/_rels/notesSlide15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15.xml"/>
</Relationships>
</file>

<file path=ppt/notesSlides/_rels/notesSlide16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16.xml"/>
</Relationships>
</file>

<file path=ppt/notesSlides/_rels/notesSlide17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17.xml"/>
</Relationships>
</file>

<file path=ppt/notesSlides/_rels/notesSlide18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18.xml"/>
</Relationships>
</file>

<file path=ppt/notesSlides/_rels/notesSlide19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19.xml"/>
</Relationships>
</file>

<file path=ppt/notesSlides/_rels/notesSlide20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20.xml"/>
</Relationships>
</file>

<file path=ppt/notesSlides/_rels/notesSlide21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21.xml"/>
</Relationships>
</file>

<file path=ppt/notesSlides/_rels/notesSlide22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22.xml"/>
</Relationships>
</file>

<file path=ppt/notesSlides/_rels/notesSlide23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23.xml"/>
</Relationships>
</file>

<file path=ppt/notesSlides/_rels/notesSlide24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24.xml"/>
</Relationships>
</file>

<file path=ppt/notesSlides/_rels/notesSlide25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25.xml"/>
</Relationships>
</file>

<file path=ppt/notesSlides/_rels/notesSlide26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26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这一份不是 OpenFDE 的官方介绍，而是我把它的官网从源码里逆向出来、重新讲一遍的版本。做它的原因很简单：这个站内容不少，但路标不多，点几下就容易迷路。接下来二十六页，我把它到底是什么、卖什么、你该点哪里，一次讲完。所有数字和文案都取自站点的源码仓库，没有一条是我编的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先说清问题出在哪。六个顶层导航，其中两个还带二级下拉，加起来三十多个入口；白皮书十六章、信号库一千两百五十一条、十一个客户案例、四个智能体、四种服务，全部平铺在一层，没有主次。更麻烦的是首页在讲企业 AI 落地，白皮书在讲怎么转型当 FDE，这是两个完全不同的读者共用了一个首页。所以你点了三下还搞不清它到底要卖你东西还是教你东西，这真不是你的问题。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答案先给：这个网站只干三件事。第一，定义一个岗位——用 4C 定义 FDE，用三个数字证明它正在爆发，再用十六章白皮书和一千多条资料把它讲透，这部分全部免费开源。第二，卖一支队伍——九个行业、四个场景、十一个案例，加上交付平台和四个专家智能体，这是它的收入来源。第三，攒一个网络——二十人计划、一百多家合作公司、一千多位专家，今天靠人驻场，明天靠智能体驻场。后面所有页面，都是这三件事的展开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把三件事对到页面上就是这张图。开源社区那一块是知识基础设施，对应白皮书、信号库、工具地图、博客这些路径，不要钱；商业公司那一块是企业 AI 落地交付，对应解决方案、案例、产品、服务和聘请页，这是生意；中间的人才网络把两边连起来，对应加入和社区。记住一句话：左边这块不要钱，中间这块是生意，右边这块是未来的供给。认清自己在看哪一块，路就不绕了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六个导航，其实每个只回答一个问题。解决方案回答「我这个行业你们怎么做」，案例回答「你们真做成过吗」，产品回答「你们拿什么做」，服务回答「怎么合作、多少钱」，资源回答「FDE 是什么、我怎么学」，社区回答「我怎么加入你们」。另外还有两个常驻按钮：主按钮是聘请 FDE 团队，次按钮是加入 OpenFDE。认准问题，就不会点错。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再往下收一层，其实只有三条路。想学的人，看白皮书前三章，然后是九十天学习路线、八维能力模型和面试题，最后进信号库查一手资料。想买的人，先在解决方案里找自己的行业，再读案例里同行业那一条、只看它验收了什么指标，然后去服务页选合作方式，填表单。想干的人，直接看二十人计划的四类角色，确认「加入不收费、费率自报、有项目才合作」这条规则，进社群，提交申请。三条路互不干扰，你不需要看完全站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现在进概念层。FDE 的官方定义只有一句：会写生产代码、能进入客户现场、能理解业务结果、还能反哺产品路线图的工程型部署负责人。它的品牌符号是雨燕——终生在飞行中，却把巢筑在客户现场，这个比喻挺贴。这四个动作缺任何一个，就不是 FDE，而是它的相邻岗位。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官方把这四个动作总结成 4C。C 一是现场，读懂客户的真实业务、流程与约束；C 二是代码，亲手把方案写到生产，不是交报告；C 三是校准，用真实指标和失败模式做评估，调到真有用；C 四是回流，把现场摩擦沉淀成可复用的产品能力。注意它们是四个等权的面，不是四个先后步骤。只会前两个的是外包工程师，只会一和三的是咨询顾问，四个同时在一个人身上，才叫 FDE。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它用四个数字证明这个岗位在爆发。第一，FDE 岗位一年增长百分之七百二十九，来源是商业内幕的统计，从六百四十三涨到五千三百三十。第二，一百多家 YC 创业公司在招，三年前这个数字是零。第三，头部公司现金薪资区间是十三万五到三十二万五美元，另有股权。第四，本站去重后保留了一千二百五十一条参考资料。每个数字下面都写了出处，不编数字也不藏来源，这是这个网站少见的克制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为什么是现在？三股力量同时在推。一是落地鸿沟：企业数据散在客户关系系统、企业资源系统、数仓、票据、邮件和权限系统里，真正的回报来自流程重构而不是单点模型调用，演示很快、上生产很难。二是组织化：OpenAI 成立部署公司并收购了 Tomoro，Anthropic 联合黑石成立企业 AI 服务公司，接口加深度部署加产品反馈正在成为新范式。三是智能体时代：智能体要执行动作、接权限审批、还是非确定性的，产品探索只能在企业内部完成，这正是 FDE 的主场。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同一个岗位在十家公司有十个名字。Palantir 是原型，Delta 做落地、Echo 做发现、本体层做底座；OpenAI 叫 FDE 或前线部署软件工程师，方法论是构建、验证、泛化；Anthropic 叫应用 AI 工程师；谷歌云、Mistral、Scale AI、字节火山引擎、Databricks、Salesforce 各有各的叫法；Sierra、Decagon、Harvey 这批 AI 应用公司干脆把它当成商业化的核心岗位。名字不一样，干的是同一件事。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落地实战部分，最核心的是这个十步工作流。从账户和场景选择开始，然后是业务发现、技术定界、系统设计、快速原型、评估体系、生产化、用户采用、沉淀产品，最后是商业扩展。关键在于它是个闭环：第九步的沉淀让下一个客户更快落地，官方给的数字是同行业第二家客户，交付人天从二十天降到十天。这才是「复利」两个字的实际含义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能力模型是八个维度。基础工程零点九五、AI 应用零点九、客户发现零点八八、沟通协作零点八六、企业集成零点八五、产品判断零点八二、评估与可观测零点八，最低的云和安全是零点七五。最高的两项说明它首先是个工程岗，客户发现紧随其后说明它同时要能面客，最低那项是门槛不是卖点。真正稀缺的不是某一项，而是八项同时在一个人身上到及格线以上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到这里，免费讲岗位的部分结束了。从下一页开始，这个网站在卖一支队伍。核心承诺可以先记住：不卖人天，不卖标准软件，收入和你的结果绑在一起。接下来九页是九个行业、四个场景、五个招牌案例、交付平台、四个智能体、蒸馏引擎、信任边界和四种服务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九个行业方案，每个都挂着一条硬数字。零售电商是详情页套版准确率百分之九十五；母婴消费是两千二百四十四个账号统一运营；金融支付是企微社群七乘二十四在线；批发贸易是二十条聊天完成成交闭环；教育培训是群内八秒响应、七成重复问题被接住；医疗健康是日咨询两万多、人工压力降六成五；知识付费是续费推进率加百分之十五；文旅演艺是舱位库存九成以上实时核对；本地生活是两秒识别预约意图。这些方案不是模板，是已交付项目的沉淀。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九个行业往上抽象，其实只有四个场景，而且做的都是同一件事：复制判断。销售与客服，把最会做私域的人的判断蒸馏进智能体；内容与获客，蒸馏选题、脚本、钩子和节奏；设计生产，把套版判断和品牌规范变成规则；招聘管道，把用人判断编译进筛选流程。官方的打法是先纵向吃透营销团队这些判断密集型场景，再横向复制到设计和招聘。前两个是现在的收入来源，后两个是复制方向。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五个招牌案例。斯凯奇是创始人带队驻场一个月，把资深设计的套版判断做成自动产线，准确率百分之九十五。某奶粉品牌是两千多个账号统一运营，覆盖三十五万粉丝、单月发四千九百多篇。某国际支付网络加银行信用卡是企微社群七乘二十四答疑，高意向线索转客户经理。某钻石批发集团更狠，二十条聊天完成成交闭环，两周跑通二十单抽成模式。某知识付费社群是续费推进率加十五个百分点，对照期零丢单。下面那条品牌墙是服务过的品牌，包含团队成员的历史服务。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产品这一块，交付平台的真正结构是双层。上层是灵活用工层，负责组队匹配、交付管理和结果保障，这是人做的部分；下层是智能体平台层，负责知识、运行时和归因账本，这是机器做的部分。两层之间靠原位学习闭环连接：看、问、学、做、长，FDE 在现场采集信号动作理由和例外，智能体就地学习。五步交付系统里最关键的是结果验收归因，因为它直接决定收入。底下那条供给网络，一百多家合作公司和一千多位专家，是它敢说「随时凑出一支队伍」的底气。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四个专家智能体，产品逻辑完全一样：找到团队里最强的那个人，把他的判断蒸馏出来。私域运营专家蒸馏最会做私域的人的判断，产出企微和微信全链路自动运营；社媒运营专家蒸馏最懂内容的人的选题和口径；企业销售专家蒸馏该找谁、该说什么、下一步该做什么；短视频获客专家蒸馏选题脚本钩子节奏。它们都由流岸提供，都有真实客户验证。注意客户名单全是「某某」——因为它卖的不是 AI 客服，是你们最强那个人的判断，判断本身不能公开。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四个智能体背后是同一套五步引擎：采集、引出、蒸馏、构建、进化。采集是桌面助手和微信企微低侵入采集，标注专家时刻；引出是 AI 主动访谈，逼出说不出口的隐性判断；蒸馏是沉淀成结构化的判断档案，包含触发条件、信号、动作、理由和例外；构建是编译成可运行的智能体挂上渠道；进化是多维评估加反思式进化。整条流水线的难点只在第二步——顶尖销售自己也讲不清为什么这句话该这么说，这一步做不到，后面产出的就只是个普通话术机器人。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覆盖面这一块，它支持五十多个渠道：个人微信、企业微信、小红书、抖音、视频号、飞书、钉钉、WhatsApp 和网页专属页。只要你的客户在某个聊天窗口里，智能体就能进去工作。同时它用四条硬边界回答数据安全：数据归你，只读接入随时可撤回；品牌归你，客户看到的是你的 AI 员工；本地脱敏，原文不出你的设备；最后一条最关键——只学模式不学数据，蒸馏的是判断模式而不是你的客户名单和聊天原文。真要签约，这条值得让法务和安全团队重点核。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四种合作方式。主入口是驻场诊断，两三人小队先进场诊断，基础服务费两千元一个月起，另加成果奖金和项目提成。第二种是人机协同交付，三段演进，同行业第二家客户交付人天从二十降到十。第三种是工作坊，四个阶段跑出第一个真实用例，按团队规模分四档，最后留下自运转机制而不是课件。第四种是轻量方案，最快一两天出演示，适合先跑个小闭环。所有方式共用一条定价原则：不卖人天，不卖标准软件，基础服务费加成果奖金或归因抽成，做不出结果他们赚不到钱。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回到免费的那一半。白皮书十六章分五组：认知 FDE 三章，新手从这里开始；岗位全景两章；从你的岗位转型两章，求职者重点看；落地实战六章，分量最重，包含十步工作流、实战白皮书、能力模型、技术栈、九十天路线和面试准备；组织与洞察四章，偏管理者视角。右边是信号库：检索了一千五百五十条，去重后保留一千二百五十一条，覆盖十三个领域，还区分「已核实」和「仅检索命中」。这一半完全免费不需要注册，只想搞懂 FDE 的话，看完这十六章就够了。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想加入的话，看这张圈层图。最核心是三名交付负责人，负责业务发现、范围控制、客户沟通和验收；往外是二十名核心 FDE，分工程与智能体、评估与数据、行业专家三类方向；再往外是三到五家小型交付伙伴，每家至少两名可认证 FDE；最外圈是已有的一百多家公司和一千多位专家。要特别注意它的立场：加入不收费、不等于入职、不发固定工资，费率你自己报，只有真实项目启动并确认范围和费率后才产生报酬。它还提供一处两百平米的联合办公室。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最后把全站三十多个入口压成六行。想让 FDE 小队进场，去聘请页填飞书表单，这是唯一要花钱的一行。想申请二十人计划，去加入页。想先找人聊聊，去社区页扫社群二维码，这是门槛最低的一步。想补资料投经验，去贡献页。想看开源代码，去 GitHub 上的 Open-FDE 组织，本站源码就在 OpenFDE-WEB 仓库，这份讲解也是从那里逆向出来的。想看他们信什么，去宣言页。六行里五行免费，只是好奇的话，从第三行或第五行开始最省事。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三句话记住这个网站：想学，去白皮书和信号库；想买，去解决方案、案例和服务；想干，去二十人计划和社群。它自己那句话说得挺准——企业 AI 落地的最后一公里，是 FDE。进入业务现场，把前沿模型变成生产系统，对结果负责。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1e5f2960c0ac927a.jpg"/>
  <Relationship Id="rId3" Type="http://schemas.openxmlformats.org/officeDocument/2006/relationships/image" Target="../media/image_36d241366e76f7aa.png"/>
  <Relationship Id="rId4" Type="http://schemas.openxmlformats.org/officeDocument/2006/relationships/notesSlide" Target="../notesSlides/notesSlide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b3db426968a4a6e9.png"/>
  <Relationship Id="rId3" Type="http://schemas.openxmlformats.org/officeDocument/2006/relationships/notesSlide" Target="../notesSlides/notesSlide2.xml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3.xml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b3db426968a4a6e9.png"/>
  <Relationship Id="rId3" Type="http://schemas.openxmlformats.org/officeDocument/2006/relationships/notesSlide" Target="../notesSlides/notesSlide4.xml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87dee672f5398b28.jpg"/>
  <Relationship Id="rId3" Type="http://schemas.openxmlformats.org/officeDocument/2006/relationships/image" Target="../media/image_b3db426968a4a6e9.png"/>
  <Relationship Id="rId4" Type="http://schemas.openxmlformats.org/officeDocument/2006/relationships/notesSlide" Target="../notesSlides/notesSlide5.xml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b3db426968a4a6e9.png"/>
  <Relationship Id="rId3" Type="http://schemas.openxmlformats.org/officeDocument/2006/relationships/notesSlide" Target="../notesSlides/notesSlide6.xml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b3db426968a4a6e9.png"/>
  <Relationship Id="rId3" Type="http://schemas.openxmlformats.org/officeDocument/2006/relationships/notesSlide" Target="../notesSlides/notesSlide7.xml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b3db426968a4a6e9.png"/>
  <Relationship Id="rId3" Type="http://schemas.openxmlformats.org/officeDocument/2006/relationships/notesSlide" Target="../notesSlides/notesSlide8.xml"/>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b3db426968a4a6e9.png"/>
  <Relationship Id="rId3" Type="http://schemas.openxmlformats.org/officeDocument/2006/relationships/notesSlide" Target="../notesSlides/notesSlide9.xml"/>
</Relationships>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b3db426968a4a6e9.png"/>
  <Relationship Id="rId3" Type="http://schemas.openxmlformats.org/officeDocument/2006/relationships/notesSlide" Target="../notesSlides/notesSlide10.xml"/>
</Relationships>
</file>

<file path=ppt/slides/_rels/slide1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b3db426968a4a6e9.png"/>
  <Relationship Id="rId3" Type="http://schemas.openxmlformats.org/officeDocument/2006/relationships/notesSlide" Target="../notesSlides/notesSlide11.xml"/>
</Relationships>
</file>

<file path=ppt/slides/_rels/slide1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b3db426968a4a6e9.png"/>
  <Relationship Id="rId3" Type="http://schemas.openxmlformats.org/officeDocument/2006/relationships/notesSlide" Target="../notesSlides/notesSlide12.xml"/>
</Relationships>
</file>

<file path=ppt/slides/_rels/slide1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b3db426968a4a6e9.png"/>
  <Relationship Id="rId3" Type="http://schemas.openxmlformats.org/officeDocument/2006/relationships/notesSlide" Target="../notesSlides/notesSlide13.xml"/>
</Relationships>
</file>

<file path=ppt/slides/_rels/slide1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bf405e7092d7b27f.jpg"/>
  <Relationship Id="rId3" Type="http://schemas.openxmlformats.org/officeDocument/2006/relationships/notesSlide" Target="../notesSlides/notesSlide14.xml"/>
</Relationships>
</file>

<file path=ppt/slides/_rels/slide1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b3db426968a4a6e9.png"/>
  <Relationship Id="rId3" Type="http://schemas.openxmlformats.org/officeDocument/2006/relationships/notesSlide" Target="../notesSlides/notesSlide15.xml"/>
</Relationships>
</file>

<file path=ppt/slides/_rels/slide1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b3db426968a4a6e9.png"/>
  <Relationship Id="rId3" Type="http://schemas.openxmlformats.org/officeDocument/2006/relationships/notesSlide" Target="../notesSlides/notesSlide16.xml"/>
</Relationships>
</file>

<file path=ppt/slides/_rels/slide1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b3db426968a4a6e9.png"/>
  <Relationship Id="rId3" Type="http://schemas.openxmlformats.org/officeDocument/2006/relationships/notesSlide" Target="../notesSlides/notesSlide17.xml"/>
</Relationships>
</file>

<file path=ppt/slides/_rels/slide1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b3db426968a4a6e9.png"/>
  <Relationship Id="rId3" Type="http://schemas.openxmlformats.org/officeDocument/2006/relationships/notesSlide" Target="../notesSlides/notesSlide18.xml"/>
</Relationships>
</file>

<file path=ppt/slides/_rels/slide1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b3db426968a4a6e9.png"/>
  <Relationship Id="rId3" Type="http://schemas.openxmlformats.org/officeDocument/2006/relationships/notesSlide" Target="../notesSlides/notesSlide19.xml"/>
</Relationships>
</file>

<file path=ppt/slides/_rels/slide2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b3db426968a4a6e9.png"/>
  <Relationship Id="rId3" Type="http://schemas.openxmlformats.org/officeDocument/2006/relationships/notesSlide" Target="../notesSlides/notesSlide20.xml"/>
</Relationships>
</file>

<file path=ppt/slides/_rels/slide2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b3db426968a4a6e9.png"/>
  <Relationship Id="rId3" Type="http://schemas.openxmlformats.org/officeDocument/2006/relationships/notesSlide" Target="../notesSlides/notesSlide21.xml"/>
</Relationships>
</file>

<file path=ppt/slides/_rels/slide2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b3db426968a4a6e9.png"/>
  <Relationship Id="rId3" Type="http://schemas.openxmlformats.org/officeDocument/2006/relationships/notesSlide" Target="../notesSlides/notesSlide22.xml"/>
</Relationships>
</file>

<file path=ppt/slides/_rels/slide2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b3db426968a4a6e9.png"/>
  <Relationship Id="rId3" Type="http://schemas.openxmlformats.org/officeDocument/2006/relationships/notesSlide" Target="../notesSlides/notesSlide23.xml"/>
</Relationships>
</file>

<file path=ppt/slides/_rels/slide2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b3db426968a4a6e9.png"/>
  <Relationship Id="rId3" Type="http://schemas.openxmlformats.org/officeDocument/2006/relationships/notesSlide" Target="../notesSlides/notesSlide24.xml"/>
</Relationships>
</file>

<file path=ppt/slides/_rels/slide2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b3db426968a4a6e9.png"/>
  <Relationship Id="rId3" Type="http://schemas.openxmlformats.org/officeDocument/2006/relationships/notesSlide" Target="../notesSlides/notesSlide25.xml"/>
</Relationships>
</file>

<file path=ppt/slides/_rels/slide2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a70802aeb6755fc2.jpg"/>
  <Relationship Id="rId3" Type="http://schemas.openxmlformats.org/officeDocument/2006/relationships/image" Target="../media/image_36d241366e76f7aa.png"/>
  <Relationship Id="rId4" Type="http://schemas.openxmlformats.org/officeDocument/2006/relationships/notesSlide" Target="../notesSlides/notesSlide26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7F5EF"/>
            </a:solidFill>
            <a:ln>
              <a:noFill/>
            </a:ln>
          </p:spPr>
        </p:sp>
        <p:pic>
          <p:nvPicPr>
            <p:cNvPr id="3" name="Image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12192000" cy="6858000"/>
            </a:xfrm>
            <a:prstGeom prst="rect">
              <a:avLst/>
            </a:prstGeom>
          </p:spPr>
        </p:pic>
        <p:sp>
          <p:nvSpPr>
            <p:cNvPr id="4" name="Rectangle 4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F7F5EF">
                    <a:alpha val="95000"/>
                  </a:srgbClr>
                </a:gs>
                <a:gs pos="57999">
                  <a:srgbClr val="F7F5EF">
                    <a:alpha val="62000"/>
                  </a:srgbClr>
                </a:gs>
                <a:gs pos="100000">
                  <a:srgbClr val="F7F5EF">
                    <a:alpha val="0"/>
                  </a:srgbClr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Group 8"/>
          <p:cNvGrpSpPr/>
          <p:nvPr/>
        </p:nvGrpSpPr>
        <p:grpSpPr>
          <a:xfrm>
            <a:off x="557212" y="1554956"/>
            <a:ext cx="1635276" cy="264319"/>
            <a:chOff x="557212" y="1554956"/>
            <a:chExt cx="1635276" cy="264319"/>
          </a:xfrm>
        </p:grpSpPr>
        <p:sp>
          <p:nvSpPr>
            <p:cNvPr id="6" name="Rectangle 6"/>
            <p:cNvSpPr/>
            <p:nvPr/>
          </p:nvSpPr>
          <p:spPr>
            <a:xfrm>
              <a:off x="571500" y="1790700"/>
              <a:ext cx="495300" cy="28575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557212" y="1554956"/>
              <a:ext cx="163527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OpenFDE · 站点讲解版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502920" y="2274570"/>
            <a:ext cx="6450549" cy="1640205"/>
            <a:chOff x="502920" y="2274570"/>
            <a:chExt cx="6450549" cy="1640205"/>
          </a:xfrm>
        </p:grpSpPr>
        <p:sp>
          <p:nvSpPr>
            <p:cNvPr id="9" name="TextBox 9"/>
            <p:cNvSpPr txBox="1"/>
            <p:nvPr/>
          </p:nvSpPr>
          <p:spPr>
            <a:xfrm>
              <a:off x="502920" y="2274570"/>
              <a:ext cx="6450549" cy="1097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540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看懂 openfde.net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14350" y="3000375"/>
              <a:ext cx="5785009" cy="914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500" b="1" dirty="0">
                  <a:solidFill>
                    <a:srgbClr val="C4471F"/>
                  </a:solidFill>
                  <a:latin typeface="Georgia"/>
                  <a:ea typeface="KaiTi"/>
                  <a:cs typeface="Georgia"/>
                </a:rPr>
                <a:t>一个网站，两个身份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546735" y="3848100"/>
            <a:ext cx="6120765" cy="966788"/>
            <a:chOff x="546735" y="3848100"/>
            <a:chExt cx="6120765" cy="966788"/>
          </a:xfrm>
        </p:grpSpPr>
        <p:sp>
          <p:nvSpPr>
            <p:cNvPr id="12" name="Line 12"/>
            <p:cNvSpPr/>
            <p:nvPr/>
          </p:nvSpPr>
          <p:spPr>
            <a:xfrm>
              <a:off x="571500" y="3848100"/>
              <a:ext cx="6096000" cy="9525"/>
            </a:xfrm>
            <a:custGeom>
              <a:avLst/>
              <a:gdLst/>
              <a:ahLst/>
              <a:cxnLst/>
              <a:rect l="l" t="t" r="r" b="b"/>
              <a:pathLst>
                <a:path w="6096000" h="9525">
                  <a:moveTo>
                    <a:pt x="0" y="0"/>
                  </a:moveTo>
                  <a:lnTo>
                    <a:pt x="6096000" y="0"/>
                  </a:lnTo>
                </a:path>
              </a:pathLst>
            </a:custGeom>
            <a:noFill/>
            <a:ln w="9525">
              <a:solidFill>
                <a:srgbClr val="D4CDB9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546735" y="4037648"/>
              <a:ext cx="5536216" cy="7772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3000"/>
                </a:lnSpc>
              </a:pPr>
              <a:r>
                <a:rPr lang="zh-CN" sz="1950" b="1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 xml:space="preserve">六个导航、十六章白皮书、一千两百多条资料—— </a:t>
              </a:r>
              <a:r>
                <a:rPr lang="zh-CN" sz="1950" b="1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26 页讲完它到底在干什么，以及你该点哪里。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557212" y="5174456"/>
            <a:ext cx="4731663" cy="476250"/>
            <a:chOff x="557212" y="5174456"/>
            <a:chExt cx="4731663" cy="476250"/>
          </a:xfrm>
        </p:grpSpPr>
        <p:sp>
          <p:nvSpPr>
            <p:cNvPr id="15" name="TextBox 15"/>
            <p:cNvSpPr txBox="1"/>
            <p:nvPr/>
          </p:nvSpPr>
          <p:spPr>
            <a:xfrm>
              <a:off x="557212" y="5174456"/>
              <a:ext cx="473166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素材逆向自站点源码仓库 OpenFDEAI/OpenFDE-WEB（提交 8fa397d）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57212" y="5422106"/>
              <a:ext cx="34265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全部数字与文案取自源码，未作虚构 · 2026-08-17</a:t>
              </a:r>
            </a:p>
          </p:txBody>
        </p:sp>
      </p:grpSp>
      <p:pic>
        <p:nvPicPr>
          <p:cNvPr id="18" name="Image 1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5924550"/>
            <a:ext cx="2286000" cy="571500"/>
          </a:xfrm>
          <a:prstGeom prst="rect">
            <a:avLst/>
          </a:prstGeom>
        </p:spPr>
      </p:pic>
      <p:grpSp>
        <p:nvGrpSpPr>
          <p:cNvPr id="21" name="Group 21"/>
          <p:cNvGrpSpPr/>
          <p:nvPr/>
        </p:nvGrpSpPr>
        <p:grpSpPr>
          <a:xfrm>
            <a:off x="0" y="6398895"/>
            <a:ext cx="12192000" cy="278130"/>
            <a:chOff x="0" y="6398895"/>
            <a:chExt cx="12192000" cy="278130"/>
          </a:xfrm>
        </p:grpSpPr>
        <p:sp>
          <p:nvSpPr>
            <p:cNvPr id="19" name="Line 19"/>
            <p:cNvSpPr/>
            <p:nvPr/>
          </p:nvSpPr>
          <p:spPr>
            <a:xfrm>
              <a:off x="0" y="6667500"/>
              <a:ext cx="12192000" cy="9525"/>
            </a:xfrm>
            <a:custGeom>
              <a:avLst/>
              <a:gdLst/>
              <a:ahLst/>
              <a:cxnLst/>
              <a:rect l="l" t="t" r="r" b="b"/>
              <a:pathLst>
                <a:path w="12192000" h="9525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w="9525">
              <a:solidFill>
                <a:srgbClr val="D4CDB9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342912" y="6398895"/>
              <a:ext cx="128901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openfde.net · 01 / 26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1" grpId="0"/>
      <p:bldP spid="14" grpId="0"/>
      <p:bldP spid="1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</p:sp>
      <p:grpSp>
        <p:nvGrpSpPr>
          <p:cNvPr id="7" name="Group 7"/>
          <p:cNvGrpSpPr/>
          <p:nvPr/>
        </p:nvGrpSpPr>
        <p:grpSpPr>
          <a:xfrm>
            <a:off x="539115" y="571500"/>
            <a:ext cx="11081385" cy="909638"/>
            <a:chOff x="539115" y="571500"/>
            <a:chExt cx="11081385" cy="909638"/>
          </a:xfrm>
        </p:grpSpPr>
        <p:sp>
          <p:nvSpPr>
            <p:cNvPr id="3" name="Rectangle 3"/>
            <p:cNvSpPr/>
            <p:nvPr/>
          </p:nvSpPr>
          <p:spPr>
            <a:xfrm>
              <a:off x="571500" y="571500"/>
              <a:ext cx="381000" cy="28575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557212" y="735806"/>
              <a:ext cx="65865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先说问题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39115" y="962978"/>
              <a:ext cx="3278172" cy="518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内容不少，路标不多</a:t>
              </a:r>
            </a:p>
          </p:txBody>
        </p:sp>
        <p:sp>
          <p:nvSpPr>
            <p:cNvPr id="6" name="Line 6"/>
            <p:cNvSpPr/>
            <p:nvPr/>
          </p:nvSpPr>
          <p:spPr>
            <a:xfrm>
              <a:off x="571500" y="14478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14288">
              <a:solidFill>
                <a:srgbClr val="D4CDB9"/>
              </a:solidFill>
            </a:ln>
          </p:spPr>
        </p:sp>
      </p:grpSp>
      <p:grpSp>
        <p:nvGrpSpPr>
          <p:cNvPr id="19" name="Group 19"/>
          <p:cNvGrpSpPr/>
          <p:nvPr/>
        </p:nvGrpSpPr>
        <p:grpSpPr>
          <a:xfrm>
            <a:off x="546735" y="1676400"/>
            <a:ext cx="3272790" cy="3619500"/>
            <a:chOff x="546735" y="1676400"/>
            <a:chExt cx="3272790" cy="3619500"/>
          </a:xfrm>
        </p:grpSpPr>
        <p:grpSp>
          <p:nvGrpSpPr>
            <p:cNvPr id="14" name="Group 14"/>
            <p:cNvGrpSpPr/>
            <p:nvPr/>
          </p:nvGrpSpPr>
          <p:grpSpPr>
            <a:xfrm>
              <a:off x="809625" y="1876425"/>
              <a:ext cx="514350" cy="514350"/>
              <a:chOff x="809625" y="1876425"/>
              <a:chExt cx="514350" cy="514350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952500" y="2019300"/>
                <a:ext cx="228600" cy="228600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228600">
                    <a:moveTo>
                      <a:pt x="0" y="228600"/>
                    </a:moveTo>
                    <a:lnTo>
                      <a:pt x="57150" y="57150"/>
                    </a:lnTo>
                    <a:lnTo>
                      <a:pt x="228600" y="0"/>
                    </a:lnTo>
                    <a:lnTo>
                      <a:pt x="171450" y="171450"/>
                    </a:lnTo>
                    <a:lnTo>
                      <a:pt x="0" y="228600"/>
                    </a:ln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  <p:sp>
            <p:nvSpPr>
              <p:cNvPr id="9" name="Freeform 9"/>
              <p:cNvSpPr/>
              <p:nvPr/>
            </p:nvSpPr>
            <p:spPr>
              <a:xfrm>
                <a:off x="809625" y="1876425"/>
                <a:ext cx="514350" cy="514350"/>
              </a:xfrm>
              <a:custGeom>
                <a:avLst/>
                <a:gdLst/>
                <a:ahLst/>
                <a:cxnLst/>
                <a:rect l="l" t="t" r="r" b="b"/>
                <a:pathLst>
                  <a:path w="514350" h="514350">
                    <a:moveTo>
                      <a:pt x="0" y="257175"/>
                    </a:moveTo>
                    <a:cubicBezTo>
                      <a:pt x="0" y="399209"/>
                      <a:pt x="115141" y="514350"/>
                      <a:pt x="257175" y="514350"/>
                    </a:cubicBezTo>
                    <a:cubicBezTo>
                      <a:pt x="399209" y="514350"/>
                      <a:pt x="514350" y="399209"/>
                      <a:pt x="514350" y="257175"/>
                    </a:cubicBezTo>
                    <a:cubicBezTo>
                      <a:pt x="514350" y="115141"/>
                      <a:pt x="399209" y="0"/>
                      <a:pt x="257175" y="0"/>
                    </a:cubicBezTo>
                    <a:cubicBezTo>
                      <a:pt x="115141" y="0"/>
                      <a:pt x="0" y="115141"/>
                      <a:pt x="0" y="257175"/>
                    </a:cubicBez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  <p:sp>
            <p:nvSpPr>
              <p:cNvPr id="10" name="Freeform 10"/>
              <p:cNvSpPr/>
              <p:nvPr/>
            </p:nvSpPr>
            <p:spPr>
              <a:xfrm>
                <a:off x="1066800" y="1876425"/>
                <a:ext cx="9525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57150">
                    <a:moveTo>
                      <a:pt x="0" y="0"/>
                    </a:moveTo>
                    <a:lnTo>
                      <a:pt x="0" y="57150"/>
                    </a:ln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  <p:sp>
            <p:nvSpPr>
              <p:cNvPr id="11" name="Freeform 11"/>
              <p:cNvSpPr/>
              <p:nvPr/>
            </p:nvSpPr>
            <p:spPr>
              <a:xfrm>
                <a:off x="1066800" y="2333625"/>
                <a:ext cx="9525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57150">
                    <a:moveTo>
                      <a:pt x="0" y="0"/>
                    </a:moveTo>
                    <a:lnTo>
                      <a:pt x="0" y="57150"/>
                    </a:ln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  <p:sp>
            <p:nvSpPr>
              <p:cNvPr id="12" name="Freeform 12"/>
              <p:cNvSpPr/>
              <p:nvPr/>
            </p:nvSpPr>
            <p:spPr>
              <a:xfrm>
                <a:off x="809625" y="2133600"/>
                <a:ext cx="571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9525">
                    <a:moveTo>
                      <a:pt x="0" y="0"/>
                    </a:moveTo>
                    <a:lnTo>
                      <a:pt x="57150" y="0"/>
                    </a:ln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1266825" y="2133600"/>
                <a:ext cx="571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9525">
                    <a:moveTo>
                      <a:pt x="0" y="0"/>
                    </a:moveTo>
                    <a:lnTo>
                      <a:pt x="57150" y="0"/>
                    </a:ln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</p:grpSp>
        <p:sp>
          <p:nvSpPr>
            <p:cNvPr id="15" name="TextBox 15"/>
            <p:cNvSpPr txBox="1"/>
            <p:nvPr/>
          </p:nvSpPr>
          <p:spPr>
            <a:xfrm>
              <a:off x="546735" y="2761298"/>
              <a:ext cx="1869757" cy="11582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3000"/>
                </a:lnSpc>
              </a:pPr>
              <a:r>
                <a:rPr lang="zh-CN" sz="19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点了三下，</a:t>
              </a:r>
              <a:r>
                <a:rPr lang="zh-CN" sz="19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还没搞清</a:t>
              </a:r>
              <a:r>
                <a:rPr lang="zh-CN" sz="19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它是干什么的？</a:t>
              </a:r>
            </a:p>
          </p:txBody>
        </p:sp>
        <p:sp>
          <p:nvSpPr>
            <p:cNvPr id="16" name="Line 16"/>
            <p:cNvSpPr/>
            <p:nvPr/>
          </p:nvSpPr>
          <p:spPr>
            <a:xfrm>
              <a:off x="571500" y="3733800"/>
              <a:ext cx="3048000" cy="9525"/>
            </a:xfrm>
            <a:custGeom>
              <a:avLst/>
              <a:gdLst/>
              <a:ahLst/>
              <a:cxnLst/>
              <a:rect l="l" t="t" r="r" b="b"/>
              <a:pathLst>
                <a:path w="3048000" h="9525">
                  <a:moveTo>
                    <a:pt x="0" y="0"/>
                  </a:moveTo>
                  <a:lnTo>
                    <a:pt x="3048000" y="0"/>
                  </a:lnTo>
                </a:path>
              </a:pathLst>
            </a:custGeom>
            <a:noFill/>
            <a:ln w="9525">
              <a:solidFill>
                <a:srgbClr val="D4CDB9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557212" y="3917156"/>
              <a:ext cx="1314450" cy="6858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800"/>
                </a:lnSpc>
              </a:pPr>
              <a:r>
                <a:rPr lang="zh-CN" sz="112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这不是你的问题。</a:t>
              </a:r>
              <a:r>
                <a:rPr lang="zh-CN" sz="112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它把两样东西塞进了</a:t>
              </a:r>
              <a:r>
                <a:rPr lang="zh-CN" sz="112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同一套导航里。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3810000" y="1676400"/>
              <a:ext cx="9525" cy="3619500"/>
            </a:xfrm>
            <a:custGeom>
              <a:avLst/>
              <a:gdLst/>
              <a:ahLst/>
              <a:cxnLst/>
              <a:rect l="l" t="t" r="r" b="b"/>
              <a:pathLst>
                <a:path w="9525" h="3619500">
                  <a:moveTo>
                    <a:pt x="0" y="0"/>
                  </a:moveTo>
                  <a:lnTo>
                    <a:pt x="0" y="3619500"/>
                  </a:lnTo>
                </a:path>
              </a:pathLst>
            </a:custGeom>
            <a:noFill/>
            <a:ln w="9525">
              <a:solidFill>
                <a:srgbClr val="D4CDB9"/>
              </a:solidFill>
            </a:ln>
          </p:spPr>
        </p:sp>
      </p:grpSp>
      <p:grpSp>
        <p:nvGrpSpPr>
          <p:cNvPr id="23" name="Group 23"/>
          <p:cNvGrpSpPr/>
          <p:nvPr/>
        </p:nvGrpSpPr>
        <p:grpSpPr>
          <a:xfrm>
            <a:off x="4166235" y="1732598"/>
            <a:ext cx="7454265" cy="486727"/>
            <a:chOff x="4166235" y="1732598"/>
            <a:chExt cx="7454265" cy="486727"/>
          </a:xfrm>
        </p:grpSpPr>
        <p:sp>
          <p:nvSpPr>
            <p:cNvPr id="20" name="TextBox 20"/>
            <p:cNvSpPr txBox="1"/>
            <p:nvPr/>
          </p:nvSpPr>
          <p:spPr>
            <a:xfrm>
              <a:off x="4166235" y="1732598"/>
              <a:ext cx="349868" cy="396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C4471F"/>
                  </a:solidFill>
                  <a:latin typeface="Georgia"/>
                  <a:ea typeface="KaiTi"/>
                  <a:cs typeface="Georgia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705350" y="1781175"/>
              <a:ext cx="5578792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 xml:space="preserve">六个顶层导航，其中两个还带二级下拉，加起来 </a:t>
              </a:r>
              <a:r>
                <a:rPr lang="zh-CN" sz="1500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30 多个入口</a:t>
              </a: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。</a:t>
              </a:r>
            </a:p>
          </p:txBody>
        </p:sp>
        <p:sp>
          <p:nvSpPr>
            <p:cNvPr id="22" name="Line 22"/>
            <p:cNvSpPr/>
            <p:nvPr/>
          </p:nvSpPr>
          <p:spPr>
            <a:xfrm>
              <a:off x="4191000" y="2209800"/>
              <a:ext cx="7429500" cy="9525"/>
            </a:xfrm>
            <a:custGeom>
              <a:avLst/>
              <a:gdLst/>
              <a:ahLst/>
              <a:cxnLst/>
              <a:rect l="l" t="t" r="r" b="b"/>
              <a:pathLst>
                <a:path w="7429500" h="9525">
                  <a:moveTo>
                    <a:pt x="0" y="0"/>
                  </a:moveTo>
                  <a:lnTo>
                    <a:pt x="7429500" y="0"/>
                  </a:lnTo>
                </a:path>
              </a:pathLst>
            </a:custGeom>
            <a:noFill/>
            <a:ln w="9525">
              <a:solidFill>
                <a:srgbClr val="ECE7DA"/>
              </a:solidFill>
            </a:ln>
          </p:spPr>
        </p:sp>
      </p:grpSp>
      <p:grpSp>
        <p:nvGrpSpPr>
          <p:cNvPr id="27" name="Group 27"/>
          <p:cNvGrpSpPr/>
          <p:nvPr/>
        </p:nvGrpSpPr>
        <p:grpSpPr>
          <a:xfrm>
            <a:off x="4166235" y="2486025"/>
            <a:ext cx="7454265" cy="590550"/>
            <a:chOff x="4166235" y="2486025"/>
            <a:chExt cx="7454265" cy="590550"/>
          </a:xfrm>
        </p:grpSpPr>
        <p:sp>
          <p:nvSpPr>
            <p:cNvPr id="24" name="TextBox 24"/>
            <p:cNvSpPr txBox="1"/>
            <p:nvPr/>
          </p:nvSpPr>
          <p:spPr>
            <a:xfrm>
              <a:off x="4166235" y="2551748"/>
              <a:ext cx="349868" cy="396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C4471F"/>
                  </a:solidFill>
                  <a:latin typeface="Georgia"/>
                  <a:ea typeface="KaiTi"/>
                  <a:cs typeface="Georgia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705350" y="2486025"/>
              <a:ext cx="4314825" cy="5905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白皮书 16 章、信号库 1,251 条、11 个客户案例、</a:t>
              </a: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4 个 Agent、4 种服务——全部平铺，没有主次。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191000" y="3048000"/>
              <a:ext cx="7429500" cy="9525"/>
            </a:xfrm>
            <a:custGeom>
              <a:avLst/>
              <a:gdLst/>
              <a:ahLst/>
              <a:cxnLst/>
              <a:rect l="l" t="t" r="r" b="b"/>
              <a:pathLst>
                <a:path w="7429500" h="9525">
                  <a:moveTo>
                    <a:pt x="0" y="0"/>
                  </a:moveTo>
                  <a:lnTo>
                    <a:pt x="7429500" y="0"/>
                  </a:lnTo>
                </a:path>
              </a:pathLst>
            </a:custGeom>
            <a:noFill/>
            <a:ln w="9525">
              <a:solidFill>
                <a:srgbClr val="ECE7DA"/>
              </a:solidFill>
            </a:ln>
          </p:spPr>
        </p:sp>
      </p:grpSp>
      <p:grpSp>
        <p:nvGrpSpPr>
          <p:cNvPr id="31" name="Group 31"/>
          <p:cNvGrpSpPr/>
          <p:nvPr/>
        </p:nvGrpSpPr>
        <p:grpSpPr>
          <a:xfrm>
            <a:off x="4166235" y="3324225"/>
            <a:ext cx="7454265" cy="590550"/>
            <a:chOff x="4166235" y="3324225"/>
            <a:chExt cx="7454265" cy="590550"/>
          </a:xfrm>
        </p:grpSpPr>
        <p:sp>
          <p:nvSpPr>
            <p:cNvPr id="28" name="TextBox 28"/>
            <p:cNvSpPr txBox="1"/>
            <p:nvPr/>
          </p:nvSpPr>
          <p:spPr>
            <a:xfrm>
              <a:off x="4166235" y="3389948"/>
              <a:ext cx="349868" cy="396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C4471F"/>
                  </a:solidFill>
                  <a:latin typeface="Georgia"/>
                  <a:ea typeface="KaiTi"/>
                  <a:cs typeface="Georgia"/>
                </a:rPr>
                <a:t>03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705350" y="3324225"/>
              <a:ext cx="5067300" cy="5905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首页在讲「</a:t>
              </a:r>
              <a:r>
                <a:rPr lang="zh-CN" sz="1500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企业 AI 落地</a:t>
              </a: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」，白皮书在讲「</a:t>
              </a:r>
              <a:r>
                <a:rPr lang="zh-CN" sz="1500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怎么转型当 FDE</a:t>
              </a: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」</a:t>
              </a: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——两个完全不同的读者，共用一个首页。</a:t>
              </a:r>
            </a:p>
          </p:txBody>
        </p:sp>
        <p:sp>
          <p:nvSpPr>
            <p:cNvPr id="30" name="Line 30"/>
            <p:cNvSpPr/>
            <p:nvPr/>
          </p:nvSpPr>
          <p:spPr>
            <a:xfrm>
              <a:off x="4191000" y="3886200"/>
              <a:ext cx="7429500" cy="9525"/>
            </a:xfrm>
            <a:custGeom>
              <a:avLst/>
              <a:gdLst/>
              <a:ahLst/>
              <a:cxnLst/>
              <a:rect l="l" t="t" r="r" b="b"/>
              <a:pathLst>
                <a:path w="7429500" h="9525">
                  <a:moveTo>
                    <a:pt x="0" y="0"/>
                  </a:moveTo>
                  <a:lnTo>
                    <a:pt x="7429500" y="0"/>
                  </a:lnTo>
                </a:path>
              </a:pathLst>
            </a:custGeom>
            <a:noFill/>
            <a:ln w="9525">
              <a:solidFill>
                <a:srgbClr val="ECE7DA"/>
              </a:solidFill>
            </a:ln>
          </p:spPr>
        </p:sp>
      </p:grpSp>
      <p:grpSp>
        <p:nvGrpSpPr>
          <p:cNvPr id="34" name="Group 34"/>
          <p:cNvGrpSpPr/>
          <p:nvPr/>
        </p:nvGrpSpPr>
        <p:grpSpPr>
          <a:xfrm>
            <a:off x="4166235" y="4162425"/>
            <a:ext cx="4577715" cy="590550"/>
            <a:chOff x="4166235" y="4162425"/>
            <a:chExt cx="4577715" cy="590550"/>
          </a:xfrm>
        </p:grpSpPr>
        <p:sp>
          <p:nvSpPr>
            <p:cNvPr id="32" name="TextBox 32"/>
            <p:cNvSpPr txBox="1"/>
            <p:nvPr/>
          </p:nvSpPr>
          <p:spPr>
            <a:xfrm>
              <a:off x="4166235" y="4228148"/>
              <a:ext cx="349868" cy="396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C4471F"/>
                  </a:solidFill>
                  <a:latin typeface="Georgia"/>
                  <a:ea typeface="KaiTi"/>
                  <a:cs typeface="Georgia"/>
                </a:rPr>
                <a:t>04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4705350" y="4162425"/>
              <a:ext cx="4038600" cy="5905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于是最基本的那个问题反而没答案：它到底是要</a:t>
              </a:r>
              <a:r>
                <a:rPr lang="zh-CN" sz="1500" b="1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卖你东西</a:t>
              </a: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，还是要</a:t>
              </a:r>
              <a:r>
                <a:rPr lang="zh-CN" sz="1500" b="1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教你东西</a:t>
              </a: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？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571500" y="5486400"/>
            <a:ext cx="11049000" cy="685800"/>
            <a:chOff x="571500" y="5486400"/>
            <a:chExt cx="11049000" cy="685800"/>
          </a:xfrm>
        </p:grpSpPr>
        <p:sp>
          <p:nvSpPr>
            <p:cNvPr id="35" name="Rectangle 35"/>
            <p:cNvSpPr/>
            <p:nvPr/>
          </p:nvSpPr>
          <p:spPr>
            <a:xfrm>
              <a:off x="571500" y="5486400"/>
              <a:ext cx="11049000" cy="685800"/>
            </a:xfrm>
            <a:prstGeom prst="rect">
              <a:avLst/>
            </a:prstGeom>
            <a:solidFill>
              <a:srgbClr val="F6E7DD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571500" y="5486400"/>
              <a:ext cx="38100" cy="685800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851535" y="5714048"/>
              <a:ext cx="7175721" cy="396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答案是：两样都要——一半是开源知识库，一半是商业公司。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571500" y="6438900"/>
            <a:ext cx="11060430" cy="304800"/>
            <a:chOff x="571500" y="6438900"/>
            <a:chExt cx="11060430" cy="304800"/>
          </a:xfrm>
        </p:grpSpPr>
        <p:sp>
          <p:nvSpPr>
            <p:cNvPr id="39" name="Line 39"/>
            <p:cNvSpPr/>
            <p:nvPr/>
          </p:nvSpPr>
          <p:spPr>
            <a:xfrm>
              <a:off x="571500" y="64389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ECE7DA"/>
              </a:solidFill>
            </a:ln>
          </p:spPr>
        </p:sp>
        <p:pic>
          <p:nvPicPr>
            <p:cNvPr id="40" name="Image 40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71500" y="6517891"/>
              <a:ext cx="190500" cy="184919"/>
            </a:xfrm>
            <a:prstGeom prst="rect">
              <a:avLst/>
            </a:prstGeom>
          </p:spPr>
        </p:pic>
        <p:sp>
          <p:nvSpPr>
            <p:cNvPr id="41" name="TextBox 41"/>
            <p:cNvSpPr txBox="1"/>
            <p:nvPr/>
          </p:nvSpPr>
          <p:spPr>
            <a:xfrm>
              <a:off x="845820" y="6560820"/>
              <a:ext cx="74895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openfde.net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1207020" y="6560820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02 / 26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5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9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3" grpId="0"/>
      <p:bldP spid="27" grpId="0"/>
      <p:bldP spid="31" grpId="0"/>
      <p:bldP spid="34" grpId="0"/>
      <p:bldP spid="38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</p:sp>
      <p:grpSp>
        <p:nvGrpSpPr>
          <p:cNvPr id="6" name="Group 6"/>
          <p:cNvGrpSpPr/>
          <p:nvPr/>
        </p:nvGrpSpPr>
        <p:grpSpPr>
          <a:xfrm>
            <a:off x="3238500" y="469106"/>
            <a:ext cx="5715000" cy="783432"/>
            <a:chOff x="3238500" y="469106"/>
            <a:chExt cx="5715000" cy="783432"/>
          </a:xfrm>
        </p:grpSpPr>
        <p:sp>
          <p:nvSpPr>
            <p:cNvPr id="3" name="TextBox 3"/>
            <p:cNvSpPr txBox="1"/>
            <p:nvPr/>
          </p:nvSpPr>
          <p:spPr>
            <a:xfrm>
              <a:off x="5766673" y="469106"/>
              <a:ext cx="65865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结论先给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4099870" y="734378"/>
              <a:ext cx="3992261" cy="518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5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一页看懂：它只干三件事</a:t>
              </a:r>
            </a:p>
          </p:txBody>
        </p:sp>
        <p:sp>
          <p:nvSpPr>
            <p:cNvPr id="5" name="Line 5"/>
            <p:cNvSpPr/>
            <p:nvPr/>
          </p:nvSpPr>
          <p:spPr>
            <a:xfrm>
              <a:off x="3238500" y="12192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19050">
              <a:solidFill>
                <a:srgbClr val="C4471F"/>
              </a:solidFill>
            </a:ln>
          </p:spPr>
        </p:sp>
      </p:grpSp>
      <p:grpSp>
        <p:nvGrpSpPr>
          <p:cNvPr id="17" name="Group 17"/>
          <p:cNvGrpSpPr/>
          <p:nvPr/>
        </p:nvGrpSpPr>
        <p:grpSpPr>
          <a:xfrm>
            <a:off x="0" y="1247584"/>
            <a:ext cx="2665184" cy="5124831"/>
            <a:chOff x="0" y="1247584"/>
            <a:chExt cx="2665184" cy="5124831"/>
          </a:xfrm>
        </p:grpSpPr>
        <p:sp>
          <p:nvSpPr>
            <p:cNvPr id="7" name="Freeform 7"/>
            <p:cNvSpPr/>
            <p:nvPr/>
          </p:nvSpPr>
          <p:spPr>
            <a:xfrm>
              <a:off x="116205" y="1247584"/>
              <a:ext cx="2111026" cy="1895666"/>
            </a:xfrm>
            <a:custGeom>
              <a:avLst/>
              <a:gdLst/>
              <a:ahLst/>
              <a:cxnLst/>
              <a:rect l="l" t="t" r="r" b="b"/>
              <a:pathLst>
                <a:path w="2111026" h="1895666">
                  <a:moveTo>
                    <a:pt x="0" y="1233964"/>
                  </a:moveTo>
                  <a:lnTo>
                    <a:pt x="107918" y="0"/>
                  </a:lnTo>
                  <a:cubicBezTo>
                    <a:pt x="943903" y="73212"/>
                    <a:pt x="1691587" y="549697"/>
                    <a:pt x="2111026" y="1276540"/>
                  </a:cubicBezTo>
                  <a:lnTo>
                    <a:pt x="1038606" y="1895666"/>
                  </a:lnTo>
                  <a:cubicBezTo>
                    <a:pt x="821079" y="1518875"/>
                    <a:pt x="433417" y="1271894"/>
                    <a:pt x="0" y="1233964"/>
                  </a:cubicBezTo>
                  <a:close/>
                </a:path>
              </a:pathLst>
            </a:custGeom>
            <a:solidFill>
              <a:srgbClr val="17140D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792078" y="1959292"/>
              <a:ext cx="51134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850" b="1" dirty="0">
                  <a:solidFill>
                    <a:srgbClr val="F7F5EF"/>
                  </a:solidFill>
                  <a:latin typeface="Georgia"/>
                  <a:ea typeface="KaiTi"/>
                  <a:cs typeface="Georgia"/>
                </a:rPr>
                <a:t>01</a:t>
              </a:r>
            </a:p>
          </p:txBody>
        </p:sp>
        <p:sp>
          <p:nvSpPr>
            <p:cNvPr id="9" name="Freeform 9"/>
            <p:cNvSpPr/>
            <p:nvPr/>
          </p:nvSpPr>
          <p:spPr>
            <a:xfrm>
              <a:off x="1188148" y="2642426"/>
              <a:ext cx="1477036" cy="2335149"/>
            </a:xfrm>
            <a:custGeom>
              <a:avLst/>
              <a:gdLst/>
              <a:ahLst/>
              <a:cxnLst/>
              <a:rect l="l" t="t" r="r" b="b"/>
              <a:pathLst>
                <a:path w="1477036" h="2335149">
                  <a:moveTo>
                    <a:pt x="0" y="562165"/>
                  </a:moveTo>
                  <a:lnTo>
                    <a:pt x="1103281" y="0"/>
                  </a:lnTo>
                  <a:cubicBezTo>
                    <a:pt x="1477036" y="733517"/>
                    <a:pt x="1477036" y="1601632"/>
                    <a:pt x="1103281" y="2335149"/>
                  </a:cubicBezTo>
                  <a:lnTo>
                    <a:pt x="0" y="1772983"/>
                  </a:lnTo>
                  <a:cubicBezTo>
                    <a:pt x="193799" y="1392642"/>
                    <a:pt x="193799" y="942507"/>
                    <a:pt x="0" y="562165"/>
                  </a:cubicBezTo>
                  <a:close/>
                </a:path>
              </a:pathLst>
            </a:custGeom>
            <a:solidFill>
              <a:srgbClr val="C4471F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696953" y="3616642"/>
              <a:ext cx="51134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850" b="1" dirty="0">
                  <a:solidFill>
                    <a:srgbClr val="F7F5EF"/>
                  </a:solidFill>
                  <a:latin typeface="Georgia"/>
                  <a:ea typeface="KaiTi"/>
                  <a:cs typeface="Georgia"/>
                </a:rPr>
                <a:t>02</a:t>
              </a:r>
            </a:p>
          </p:txBody>
        </p:sp>
        <p:sp>
          <p:nvSpPr>
            <p:cNvPr id="11" name="Freeform 11"/>
            <p:cNvSpPr/>
            <p:nvPr/>
          </p:nvSpPr>
          <p:spPr>
            <a:xfrm>
              <a:off x="116205" y="4476750"/>
              <a:ext cx="2111026" cy="1895665"/>
            </a:xfrm>
            <a:custGeom>
              <a:avLst/>
              <a:gdLst/>
              <a:ahLst/>
              <a:cxnLst/>
              <a:rect l="l" t="t" r="r" b="b"/>
              <a:pathLst>
                <a:path w="2111026" h="1895665">
                  <a:moveTo>
                    <a:pt x="1038606" y="0"/>
                  </a:moveTo>
                  <a:lnTo>
                    <a:pt x="2111026" y="619125"/>
                  </a:lnTo>
                  <a:cubicBezTo>
                    <a:pt x="1691587" y="1345969"/>
                    <a:pt x="943903" y="1822453"/>
                    <a:pt x="107918" y="1895665"/>
                  </a:cubicBezTo>
                  <a:lnTo>
                    <a:pt x="0" y="661702"/>
                  </a:lnTo>
                  <a:cubicBezTo>
                    <a:pt x="433417" y="623772"/>
                    <a:pt x="821079" y="376790"/>
                    <a:pt x="1038606" y="0"/>
                  </a:cubicBezTo>
                  <a:close/>
                </a:path>
              </a:pathLst>
            </a:custGeom>
            <a:solidFill>
              <a:srgbClr val="B8552E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792078" y="5254942"/>
              <a:ext cx="51134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850" b="1" dirty="0">
                  <a:solidFill>
                    <a:srgbClr val="F7F5EF"/>
                  </a:solidFill>
                  <a:latin typeface="Georgia"/>
                  <a:ea typeface="KaiTi"/>
                  <a:cs typeface="Georgia"/>
                </a:rPr>
                <a:t>03</a:t>
              </a:r>
            </a:p>
          </p:txBody>
        </p:sp>
        <p:sp>
          <p:nvSpPr>
            <p:cNvPr id="13" name="Freeform 13"/>
            <p:cNvSpPr/>
            <p:nvPr/>
          </p:nvSpPr>
          <p:spPr>
            <a:xfrm>
              <a:off x="0" y="2762250"/>
              <a:ext cx="1047750" cy="2095500"/>
            </a:xfrm>
            <a:custGeom>
              <a:avLst/>
              <a:gdLst/>
              <a:ahLst/>
              <a:cxnLst/>
              <a:rect l="l" t="t" r="r" b="b"/>
              <a:pathLst>
                <a:path w="1047750" h="2095500">
                  <a:moveTo>
                    <a:pt x="0" y="0"/>
                  </a:moveTo>
                  <a:cubicBezTo>
                    <a:pt x="578656" y="0"/>
                    <a:pt x="1047750" y="469094"/>
                    <a:pt x="1047750" y="1047750"/>
                  </a:cubicBezTo>
                  <a:cubicBezTo>
                    <a:pt x="1047750" y="1626406"/>
                    <a:pt x="578656" y="2095500"/>
                    <a:pt x="0" y="2095500"/>
                  </a:cubicBezTo>
                  <a:close/>
                </a:path>
              </a:pathLst>
            </a:custGeom>
            <a:solidFill>
              <a:srgbClr val="EFEBE0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29614" y="3498532"/>
              <a:ext cx="931371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openfde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20213" y="3765232"/>
              <a:ext cx="550174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.net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03847" y="4131945"/>
              <a:ext cx="38290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三件事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3238500" y="1543050"/>
            <a:ext cx="8382000" cy="1238250"/>
            <a:chOff x="3238500" y="1543050"/>
            <a:chExt cx="8382000" cy="1238250"/>
          </a:xfrm>
        </p:grpSpPr>
        <p:sp>
          <p:nvSpPr>
            <p:cNvPr id="18" name="Rectangle 18"/>
            <p:cNvSpPr/>
            <p:nvPr/>
          </p:nvSpPr>
          <p:spPr>
            <a:xfrm>
              <a:off x="3238500" y="1543050"/>
              <a:ext cx="7429500" cy="1238250"/>
            </a:xfrm>
            <a:prstGeom prst="rect">
              <a:avLst/>
            </a:prstGeom>
            <a:solidFill>
              <a:srgbClr val="EFEBE0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3480435" y="1694498"/>
              <a:ext cx="3325940" cy="396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定义一个岗位</a:t>
              </a:r>
              <a:r>
                <a:rPr lang="zh-CN" sz="1125" b="1" dirty="0">
                  <a:solidFill>
                    <a:srgbClr val="2E7D32"/>
                  </a:solidFill>
                  <a:latin typeface="Arial"/>
                  <a:ea typeface="Microsoft YaHei"/>
                  <a:cs typeface="Arial"/>
                </a:rPr>
                <a:t>全部免费开源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486150" y="2085975"/>
              <a:ext cx="5686425" cy="5905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 xml:space="preserve">用 4C 定义 FDE，用 </a:t>
              </a:r>
              <a:r>
                <a:rPr lang="zh-CN" sz="1500" b="1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729%</a:t>
              </a: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 xml:space="preserve"> / </a:t>
              </a:r>
              <a:r>
                <a:rPr lang="zh-CN" sz="1500" b="1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100+</a:t>
              </a: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 xml:space="preserve"> / </a:t>
              </a:r>
              <a:r>
                <a:rPr lang="zh-CN" sz="1500" b="1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$135K–325K</a:t>
              </a: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 xml:space="preserve"> 证明它正在爆发，</a:t>
              </a: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再用 16 章白皮书 + 1,251 条信号库把它讲透。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10668000" y="1543050"/>
              <a:ext cx="952500" cy="1238250"/>
            </a:xfrm>
            <a:prstGeom prst="rect">
              <a:avLst/>
            </a:prstGeom>
            <a:solidFill>
              <a:srgbClr val="17140D"/>
            </a:solidFill>
            <a:ln>
              <a:noFill/>
            </a:ln>
          </p:spPr>
        </p:sp>
        <p:grpSp>
          <p:nvGrpSpPr>
            <p:cNvPr id="25" name="Group 25"/>
            <p:cNvGrpSpPr/>
            <p:nvPr/>
          </p:nvGrpSpPr>
          <p:grpSpPr>
            <a:xfrm>
              <a:off x="11022012" y="2003425"/>
              <a:ext cx="244475" cy="279400"/>
              <a:chOff x="11022012" y="2003425"/>
              <a:chExt cx="244475" cy="279400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11022012" y="2003425"/>
                <a:ext cx="244475" cy="279400"/>
              </a:xfrm>
              <a:custGeom>
                <a:avLst/>
                <a:gdLst/>
                <a:ahLst/>
                <a:cxnLst/>
                <a:rect l="l" t="t" r="r" b="b"/>
                <a:pathLst>
                  <a:path w="244475" h="279400">
                    <a:moveTo>
                      <a:pt x="244475" y="0"/>
                    </a:moveTo>
                    <a:lnTo>
                      <a:pt x="244475" y="279400"/>
                    </a:lnTo>
                    <a:lnTo>
                      <a:pt x="34925" y="279400"/>
                    </a:lnTo>
                    <a:cubicBezTo>
                      <a:pt x="15636" y="279400"/>
                      <a:pt x="0" y="263764"/>
                      <a:pt x="0" y="244475"/>
                    </a:cubicBezTo>
                    <a:lnTo>
                      <a:pt x="0" y="34925"/>
                    </a:lnTo>
                    <a:cubicBezTo>
                      <a:pt x="0" y="15636"/>
                      <a:pt x="15636" y="0"/>
                      <a:pt x="34925" y="0"/>
                    </a:cubicBezTo>
                    <a:lnTo>
                      <a:pt x="244475" y="0"/>
                    </a:lnTo>
                  </a:path>
                </a:pathLst>
              </a:custGeom>
              <a:noFill/>
              <a:ln w="19050">
                <a:solidFill>
                  <a:srgbClr val="F7F5EF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11022012" y="2212975"/>
                <a:ext cx="244475" cy="34925"/>
              </a:xfrm>
              <a:custGeom>
                <a:avLst/>
                <a:gdLst/>
                <a:ahLst/>
                <a:cxnLst/>
                <a:rect l="l" t="t" r="r" b="b"/>
                <a:pathLst>
                  <a:path w="244475" h="34925">
                    <a:moveTo>
                      <a:pt x="244475" y="0"/>
                    </a:moveTo>
                    <a:lnTo>
                      <a:pt x="34925" y="0"/>
                    </a:lnTo>
                    <a:cubicBezTo>
                      <a:pt x="15636" y="0"/>
                      <a:pt x="0" y="15636"/>
                      <a:pt x="0" y="34925"/>
                    </a:cubicBezTo>
                  </a:path>
                </a:pathLst>
              </a:custGeom>
              <a:noFill/>
              <a:ln w="19050">
                <a:solidFill>
                  <a:srgbClr val="F7F5EF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11091862" y="2073275"/>
                <a:ext cx="1047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04775" h="9525">
                    <a:moveTo>
                      <a:pt x="0" y="0"/>
                    </a:moveTo>
                    <a:lnTo>
                      <a:pt x="104775" y="0"/>
                    </a:lnTo>
                  </a:path>
                </a:pathLst>
              </a:custGeom>
              <a:noFill/>
              <a:ln w="19050">
                <a:solidFill>
                  <a:srgbClr val="F7F5EF"/>
                </a:solidFill>
              </a:ln>
            </p:spPr>
          </p:sp>
        </p:grpSp>
      </p:grpSp>
      <p:grpSp>
        <p:nvGrpSpPr>
          <p:cNvPr id="35" name="Group 35"/>
          <p:cNvGrpSpPr/>
          <p:nvPr/>
        </p:nvGrpSpPr>
        <p:grpSpPr>
          <a:xfrm>
            <a:off x="3238500" y="3190875"/>
            <a:ext cx="8382000" cy="1238250"/>
            <a:chOff x="3238500" y="3190875"/>
            <a:chExt cx="8382000" cy="1238250"/>
          </a:xfrm>
        </p:grpSpPr>
        <p:sp>
          <p:nvSpPr>
            <p:cNvPr id="27" name="Rectangle 27"/>
            <p:cNvSpPr/>
            <p:nvPr/>
          </p:nvSpPr>
          <p:spPr>
            <a:xfrm>
              <a:off x="3238500" y="3190875"/>
              <a:ext cx="7429500" cy="1238250"/>
            </a:xfrm>
            <a:prstGeom prst="rect">
              <a:avLst/>
            </a:prstGeom>
            <a:solidFill>
              <a:srgbClr val="EFEBE0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3480435" y="3342322"/>
              <a:ext cx="3052905" cy="396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卖一支队伍</a:t>
              </a:r>
              <a:r>
                <a:rPr lang="zh-CN" sz="1125" b="1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这是收入来源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3486150" y="3733800"/>
              <a:ext cx="5457825" cy="5905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9 个行业 × 4 个场景 × 11 个案例，交付平台 + 4 个专家 Agent，</a:t>
              </a: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 xml:space="preserve">服务从 </a:t>
              </a:r>
              <a:r>
                <a:rPr lang="zh-CN" sz="1500" b="1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2000 元/月</a:t>
              </a: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 xml:space="preserve"> 起步，到</a:t>
              </a:r>
              <a:r>
                <a:rPr lang="zh-CN" sz="1500" b="1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按业务结果抽成</a:t>
              </a: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。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10668000" y="3190875"/>
              <a:ext cx="952500" cy="1238250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grpSp>
          <p:nvGrpSpPr>
            <p:cNvPr id="34" name="Group 34"/>
            <p:cNvGrpSpPr/>
            <p:nvPr/>
          </p:nvGrpSpPr>
          <p:grpSpPr>
            <a:xfrm>
              <a:off x="11009183" y="3633788"/>
              <a:ext cx="292230" cy="314325"/>
              <a:chOff x="11009183" y="3633788"/>
              <a:chExt cx="292230" cy="314325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11009183" y="3721099"/>
                <a:ext cx="270152" cy="227014"/>
              </a:xfrm>
              <a:custGeom>
                <a:avLst/>
                <a:gdLst/>
                <a:ahLst/>
                <a:cxnLst/>
                <a:rect l="l" t="t" r="r" b="b"/>
                <a:pathLst>
                  <a:path w="270152" h="227014">
                    <a:moveTo>
                      <a:pt x="126336" y="227014"/>
                    </a:moveTo>
                    <a:lnTo>
                      <a:pt x="75241" y="227014"/>
                    </a:lnTo>
                    <a:cubicBezTo>
                      <a:pt x="49384" y="227012"/>
                      <a:pt x="27395" y="208146"/>
                      <a:pt x="23464" y="182589"/>
                    </a:cubicBezTo>
                    <a:lnTo>
                      <a:pt x="1549" y="40235"/>
                    </a:lnTo>
                    <a:cubicBezTo>
                      <a:pt x="0" y="30163"/>
                      <a:pt x="2927" y="19917"/>
                      <a:pt x="9563" y="12183"/>
                    </a:cubicBezTo>
                    <a:cubicBezTo>
                      <a:pt x="16199" y="4450"/>
                      <a:pt x="25882" y="0"/>
                      <a:pt x="36072" y="1"/>
                    </a:cubicBezTo>
                    <a:lnTo>
                      <a:pt x="234080" y="1"/>
                    </a:lnTo>
                    <a:cubicBezTo>
                      <a:pt x="244270" y="0"/>
                      <a:pt x="253953" y="4450"/>
                      <a:pt x="260589" y="12183"/>
                    </a:cubicBezTo>
                    <a:cubicBezTo>
                      <a:pt x="267225" y="19917"/>
                      <a:pt x="270152" y="30163"/>
                      <a:pt x="268603" y="40235"/>
                    </a:cubicBezTo>
                    <a:lnTo>
                      <a:pt x="259872" y="96953"/>
                    </a:lnTo>
                  </a:path>
                </a:pathLst>
              </a:custGeom>
              <a:noFill/>
              <a:ln w="19050">
                <a:solidFill>
                  <a:srgbClr val="F7F5EF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11091862" y="3633788"/>
                <a:ext cx="104775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04775" h="139700">
                    <a:moveTo>
                      <a:pt x="0" y="139700"/>
                    </a:moveTo>
                    <a:lnTo>
                      <a:pt x="0" y="52388"/>
                    </a:lnTo>
                    <a:cubicBezTo>
                      <a:pt x="0" y="23455"/>
                      <a:pt x="23455" y="0"/>
                      <a:pt x="52388" y="0"/>
                    </a:cubicBezTo>
                    <a:cubicBezTo>
                      <a:pt x="81320" y="0"/>
                      <a:pt x="104775" y="23455"/>
                      <a:pt x="104775" y="52388"/>
                    </a:cubicBezTo>
                    <a:lnTo>
                      <a:pt x="104775" y="139700"/>
                    </a:lnTo>
                  </a:path>
                </a:pathLst>
              </a:custGeom>
              <a:noFill/>
              <a:ln w="19050">
                <a:solidFill>
                  <a:srgbClr val="F7F5EF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11196638" y="3878262"/>
                <a:ext cx="104775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104775" h="69850">
                    <a:moveTo>
                      <a:pt x="0" y="34925"/>
                    </a:moveTo>
                    <a:lnTo>
                      <a:pt x="34925" y="69850"/>
                    </a:lnTo>
                    <a:lnTo>
                      <a:pt x="104775" y="0"/>
                    </a:lnTo>
                  </a:path>
                </a:pathLst>
              </a:custGeom>
              <a:noFill/>
              <a:ln w="19050">
                <a:solidFill>
                  <a:srgbClr val="F7F5EF"/>
                </a:solidFill>
              </a:ln>
            </p:spPr>
          </p:sp>
        </p:grpSp>
      </p:grpSp>
      <p:grpSp>
        <p:nvGrpSpPr>
          <p:cNvPr id="47" name="Group 47"/>
          <p:cNvGrpSpPr/>
          <p:nvPr/>
        </p:nvGrpSpPr>
        <p:grpSpPr>
          <a:xfrm>
            <a:off x="3238500" y="4838700"/>
            <a:ext cx="8382000" cy="1238250"/>
            <a:chOff x="3238500" y="4838700"/>
            <a:chExt cx="8382000" cy="1238250"/>
          </a:xfrm>
        </p:grpSpPr>
        <p:sp>
          <p:nvSpPr>
            <p:cNvPr id="36" name="Rectangle 36"/>
            <p:cNvSpPr/>
            <p:nvPr/>
          </p:nvSpPr>
          <p:spPr>
            <a:xfrm>
              <a:off x="3238500" y="4838700"/>
              <a:ext cx="7429500" cy="1238250"/>
            </a:xfrm>
            <a:prstGeom prst="rect">
              <a:avLst/>
            </a:prstGeom>
            <a:solidFill>
              <a:srgbClr val="EFEBE0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3480435" y="4990148"/>
              <a:ext cx="2506837" cy="396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攒一个网络</a:t>
              </a:r>
              <a:r>
                <a:rPr lang="zh-CN" sz="1125" b="1" dirty="0">
                  <a:solidFill>
                    <a:srgbClr val="B8552E"/>
                  </a:solidFill>
                  <a:latin typeface="Arial"/>
                  <a:ea typeface="Microsoft YaHei"/>
                  <a:cs typeface="Arial"/>
                </a:rPr>
                <a:t>这是未来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3486150" y="5381625"/>
              <a:ext cx="5791200" cy="5905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首批 20 人计划 + 100+ 合作公司 + 1000+ 专家 + 200㎡ 联合办公室；</a:t>
              </a: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 xml:space="preserve">今天靠人驻场，明天靠 </a:t>
              </a:r>
              <a:r>
                <a:rPr lang="zh-CN" sz="1500" b="1" dirty="0">
                  <a:solidFill>
                    <a:srgbClr val="B8552E"/>
                  </a:solidFill>
                  <a:latin typeface="Arial"/>
                  <a:ea typeface="Microsoft YaHei"/>
                  <a:cs typeface="Arial"/>
                </a:rPr>
                <a:t>FDE Agent</a:t>
              </a: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 xml:space="preserve"> 驻场。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10668000" y="4838700"/>
              <a:ext cx="952500" cy="1238250"/>
            </a:xfrm>
            <a:prstGeom prst="rect">
              <a:avLst/>
            </a:prstGeom>
            <a:solidFill>
              <a:srgbClr val="B8552E"/>
            </a:solidFill>
            <a:ln>
              <a:noFill/>
            </a:ln>
          </p:spPr>
        </p:sp>
        <p:grpSp>
          <p:nvGrpSpPr>
            <p:cNvPr id="46" name="Group 46"/>
            <p:cNvGrpSpPr/>
            <p:nvPr/>
          </p:nvGrpSpPr>
          <p:grpSpPr>
            <a:xfrm>
              <a:off x="10987088" y="5281612"/>
              <a:ext cx="314324" cy="314326"/>
              <a:chOff x="10987088" y="5281612"/>
              <a:chExt cx="314324" cy="314326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11109325" y="5421312"/>
                <a:ext cx="69850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69850" h="69850">
                    <a:moveTo>
                      <a:pt x="0" y="34925"/>
                    </a:moveTo>
                    <a:cubicBezTo>
                      <a:pt x="0" y="54214"/>
                      <a:pt x="15636" y="69850"/>
                      <a:pt x="34925" y="69850"/>
                    </a:cubicBezTo>
                    <a:cubicBezTo>
                      <a:pt x="54214" y="69850"/>
                      <a:pt x="69850" y="54214"/>
                      <a:pt x="69850" y="34925"/>
                    </a:cubicBezTo>
                    <a:cubicBezTo>
                      <a:pt x="69850" y="15636"/>
                      <a:pt x="54214" y="0"/>
                      <a:pt x="34925" y="0"/>
                    </a:cubicBezTo>
                    <a:cubicBezTo>
                      <a:pt x="15636" y="0"/>
                      <a:pt x="0" y="15636"/>
                      <a:pt x="0" y="34925"/>
                    </a:cubicBezTo>
                  </a:path>
                </a:pathLst>
              </a:custGeom>
              <a:noFill/>
              <a:ln w="19050">
                <a:solidFill>
                  <a:srgbClr val="F7F5EF"/>
                </a:solidFill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11074400" y="5543550"/>
                <a:ext cx="139700" cy="52388"/>
              </a:xfrm>
              <a:custGeom>
                <a:avLst/>
                <a:gdLst/>
                <a:ahLst/>
                <a:cxnLst/>
                <a:rect l="l" t="t" r="r" b="b"/>
                <a:pathLst>
                  <a:path w="139700" h="52388">
                    <a:moveTo>
                      <a:pt x="0" y="52388"/>
                    </a:moveTo>
                    <a:lnTo>
                      <a:pt x="0" y="34925"/>
                    </a:lnTo>
                    <a:cubicBezTo>
                      <a:pt x="0" y="15636"/>
                      <a:pt x="15636" y="0"/>
                      <a:pt x="34925" y="0"/>
                    </a:cubicBezTo>
                    <a:lnTo>
                      <a:pt x="104775" y="0"/>
                    </a:lnTo>
                    <a:cubicBezTo>
                      <a:pt x="124064" y="0"/>
                      <a:pt x="139700" y="15636"/>
                      <a:pt x="139700" y="34925"/>
                    </a:cubicBezTo>
                    <a:lnTo>
                      <a:pt x="139700" y="52388"/>
                    </a:lnTo>
                  </a:path>
                </a:pathLst>
              </a:custGeom>
              <a:noFill/>
              <a:ln w="19050">
                <a:solidFill>
                  <a:srgbClr val="F7F5EF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11196638" y="5281612"/>
                <a:ext cx="69850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69850" h="69850">
                    <a:moveTo>
                      <a:pt x="0" y="34925"/>
                    </a:moveTo>
                    <a:cubicBezTo>
                      <a:pt x="0" y="54214"/>
                      <a:pt x="15636" y="69850"/>
                      <a:pt x="34925" y="69850"/>
                    </a:cubicBezTo>
                    <a:cubicBezTo>
                      <a:pt x="54214" y="69850"/>
                      <a:pt x="69850" y="54214"/>
                      <a:pt x="69850" y="34925"/>
                    </a:cubicBezTo>
                    <a:cubicBezTo>
                      <a:pt x="69850" y="15636"/>
                      <a:pt x="54214" y="0"/>
                      <a:pt x="34925" y="0"/>
                    </a:cubicBezTo>
                    <a:cubicBezTo>
                      <a:pt x="15636" y="0"/>
                      <a:pt x="0" y="15636"/>
                      <a:pt x="0" y="34925"/>
                    </a:cubicBezTo>
                  </a:path>
                </a:pathLst>
              </a:custGeom>
              <a:noFill/>
              <a:ln w="19050">
                <a:solidFill>
                  <a:srgbClr val="F7F5EF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11231562" y="5403850"/>
                <a:ext cx="69850" cy="52388"/>
              </a:xfrm>
              <a:custGeom>
                <a:avLst/>
                <a:gdLst/>
                <a:ahLst/>
                <a:cxnLst/>
                <a:rect l="l" t="t" r="r" b="b"/>
                <a:pathLst>
                  <a:path w="69850" h="52388">
                    <a:moveTo>
                      <a:pt x="0" y="0"/>
                    </a:moveTo>
                    <a:lnTo>
                      <a:pt x="34925" y="0"/>
                    </a:lnTo>
                    <a:cubicBezTo>
                      <a:pt x="54214" y="0"/>
                      <a:pt x="69850" y="15636"/>
                      <a:pt x="69850" y="34925"/>
                    </a:cubicBezTo>
                    <a:lnTo>
                      <a:pt x="69850" y="52388"/>
                    </a:lnTo>
                  </a:path>
                </a:pathLst>
              </a:custGeom>
              <a:noFill/>
              <a:ln w="19050">
                <a:solidFill>
                  <a:srgbClr val="F7F5EF"/>
                </a:solidFill>
              </a:ln>
            </p:spPr>
          </p:sp>
          <p:sp>
            <p:nvSpPr>
              <p:cNvPr id="44" name="Freeform 44"/>
              <p:cNvSpPr/>
              <p:nvPr/>
            </p:nvSpPr>
            <p:spPr>
              <a:xfrm>
                <a:off x="11022012" y="5281612"/>
                <a:ext cx="69850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69850" h="69850">
                    <a:moveTo>
                      <a:pt x="0" y="34925"/>
                    </a:moveTo>
                    <a:cubicBezTo>
                      <a:pt x="0" y="54214"/>
                      <a:pt x="15636" y="69850"/>
                      <a:pt x="34925" y="69850"/>
                    </a:cubicBezTo>
                    <a:cubicBezTo>
                      <a:pt x="54214" y="69850"/>
                      <a:pt x="69850" y="54214"/>
                      <a:pt x="69850" y="34925"/>
                    </a:cubicBezTo>
                    <a:cubicBezTo>
                      <a:pt x="69850" y="15636"/>
                      <a:pt x="54214" y="0"/>
                      <a:pt x="34925" y="0"/>
                    </a:cubicBezTo>
                    <a:cubicBezTo>
                      <a:pt x="15636" y="0"/>
                      <a:pt x="0" y="15636"/>
                      <a:pt x="0" y="34925"/>
                    </a:cubicBezTo>
                  </a:path>
                </a:pathLst>
              </a:custGeom>
              <a:noFill/>
              <a:ln w="19050">
                <a:solidFill>
                  <a:srgbClr val="F7F5EF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10987088" y="5403850"/>
                <a:ext cx="69850" cy="52388"/>
              </a:xfrm>
              <a:custGeom>
                <a:avLst/>
                <a:gdLst/>
                <a:ahLst/>
                <a:cxnLst/>
                <a:rect l="l" t="t" r="r" b="b"/>
                <a:pathLst>
                  <a:path w="69850" h="52388">
                    <a:moveTo>
                      <a:pt x="0" y="52388"/>
                    </a:moveTo>
                    <a:lnTo>
                      <a:pt x="0" y="34925"/>
                    </a:lnTo>
                    <a:cubicBezTo>
                      <a:pt x="0" y="15636"/>
                      <a:pt x="15636" y="0"/>
                      <a:pt x="34925" y="0"/>
                    </a:cubicBezTo>
                    <a:lnTo>
                      <a:pt x="69850" y="0"/>
                    </a:lnTo>
                  </a:path>
                </a:pathLst>
              </a:custGeom>
              <a:noFill/>
              <a:ln w="19050">
                <a:solidFill>
                  <a:srgbClr val="F7F5EF"/>
                </a:solidFill>
              </a:ln>
            </p:spPr>
          </p:sp>
        </p:grpSp>
      </p:grpSp>
      <p:grpSp>
        <p:nvGrpSpPr>
          <p:cNvPr id="51" name="Group 51"/>
          <p:cNvGrpSpPr/>
          <p:nvPr/>
        </p:nvGrpSpPr>
        <p:grpSpPr>
          <a:xfrm>
            <a:off x="571500" y="6438900"/>
            <a:ext cx="11060430" cy="304800"/>
            <a:chOff x="571500" y="6438900"/>
            <a:chExt cx="11060430" cy="304800"/>
          </a:xfrm>
        </p:grpSpPr>
        <p:sp>
          <p:nvSpPr>
            <p:cNvPr id="48" name="Line 48"/>
            <p:cNvSpPr/>
            <p:nvPr/>
          </p:nvSpPr>
          <p:spPr>
            <a:xfrm>
              <a:off x="571500" y="64389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ECE7DA"/>
              </a:solidFill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3227070" y="6560820"/>
              <a:ext cx="194310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其余所有页面，都是这三件事的展开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1207020" y="6560820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03 / 26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26" grpId="0"/>
      <p:bldP spid="35" grpId="0"/>
      <p:bldP spid="47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</p:sp>
      <p:grpSp>
        <p:nvGrpSpPr>
          <p:cNvPr id="8" name="Group 8"/>
          <p:cNvGrpSpPr/>
          <p:nvPr/>
        </p:nvGrpSpPr>
        <p:grpSpPr>
          <a:xfrm>
            <a:off x="539115" y="571500"/>
            <a:ext cx="11095673" cy="909638"/>
            <a:chOff x="539115" y="571500"/>
            <a:chExt cx="11095673" cy="909638"/>
          </a:xfrm>
        </p:grpSpPr>
        <p:sp>
          <p:nvSpPr>
            <p:cNvPr id="3" name="Rectangle 3"/>
            <p:cNvSpPr/>
            <p:nvPr/>
          </p:nvSpPr>
          <p:spPr>
            <a:xfrm>
              <a:off x="571500" y="571500"/>
              <a:ext cx="381000" cy="28575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557212" y="735806"/>
              <a:ext cx="99732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站点地图 · 一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39115" y="962978"/>
              <a:ext cx="5063395" cy="518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一个域名，两个身份，一个网络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10256044" y="1078706"/>
              <a:ext cx="137874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「绕」的根源在这里</a:t>
              </a:r>
            </a:p>
          </p:txBody>
        </p:sp>
        <p:sp>
          <p:nvSpPr>
            <p:cNvPr id="7" name="Line 7"/>
            <p:cNvSpPr/>
            <p:nvPr/>
          </p:nvSpPr>
          <p:spPr>
            <a:xfrm>
              <a:off x="571500" y="14478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14288">
              <a:solidFill>
                <a:srgbClr val="D4CDB9"/>
              </a:solidFill>
            </a:ln>
          </p:spPr>
        </p:sp>
      </p:grpSp>
      <p:grpSp>
        <p:nvGrpSpPr>
          <p:cNvPr id="11" name="Group 11"/>
          <p:cNvGrpSpPr/>
          <p:nvPr/>
        </p:nvGrpSpPr>
        <p:grpSpPr>
          <a:xfrm>
            <a:off x="571500" y="1676400"/>
            <a:ext cx="11049000" cy="4038600"/>
            <a:chOff x="571500" y="1676400"/>
            <a:chExt cx="11049000" cy="4038600"/>
          </a:xfrm>
        </p:grpSpPr>
        <p:sp>
          <p:nvSpPr>
            <p:cNvPr id="9" name="Rectangle 9"/>
            <p:cNvSpPr/>
            <p:nvPr/>
          </p:nvSpPr>
          <p:spPr>
            <a:xfrm>
              <a:off x="571500" y="1676400"/>
              <a:ext cx="11049000" cy="4038600"/>
            </a:xfrm>
            <a:prstGeom prst="rect">
              <a:avLst/>
            </a:prstGeom>
            <a:solidFill>
              <a:srgbClr val="FFFDF8"/>
            </a:solidFill>
            <a:ln w="14288">
              <a:solidFill>
                <a:srgbClr val="D4CDB9"/>
              </a:solidFill>
              <a:custDash>
                <a:ds d="400000" sp="266666"/>
              </a:custDash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3667723" y="1821656"/>
              <a:ext cx="485655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同一个域名 openfde.net · 同一套顶部导航 · 三块内容各有各的读者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800100" y="2114550"/>
            <a:ext cx="3371850" cy="3371850"/>
            <a:chOff x="800100" y="2114550"/>
            <a:chExt cx="3371850" cy="3371850"/>
          </a:xfrm>
        </p:grpSpPr>
        <p:sp>
          <p:nvSpPr>
            <p:cNvPr id="12" name="Rectangle 12"/>
            <p:cNvSpPr/>
            <p:nvPr/>
          </p:nvSpPr>
          <p:spPr>
            <a:xfrm>
              <a:off x="800100" y="2114550"/>
              <a:ext cx="3371850" cy="3371850"/>
            </a:xfrm>
            <a:prstGeom prst="rect">
              <a:avLst/>
            </a:prstGeom>
            <a:solidFill>
              <a:srgbClr val="F7F5EF"/>
            </a:solidFill>
            <a:ln w="9525">
              <a:solidFill>
                <a:srgbClr val="E2DCCD"/>
              </a:solidFill>
            </a:ln>
          </p:spPr>
        </p:sp>
        <p:sp>
          <p:nvSpPr>
            <p:cNvPr id="13" name="Rectangle 13"/>
            <p:cNvSpPr/>
            <p:nvPr/>
          </p:nvSpPr>
          <p:spPr>
            <a:xfrm>
              <a:off x="800100" y="2114550"/>
              <a:ext cx="3371850" cy="57150"/>
            </a:xfrm>
            <a:prstGeom prst="rect">
              <a:avLst/>
            </a:prstGeom>
            <a:solidFill>
              <a:srgbClr val="17140D"/>
            </a:solidFill>
            <a:ln>
              <a:noFill/>
            </a:ln>
          </p:spPr>
        </p:sp>
        <p:sp>
          <p:nvSpPr>
            <p:cNvPr id="14" name="Freeform 14"/>
            <p:cNvSpPr/>
            <p:nvPr/>
          </p:nvSpPr>
          <p:spPr>
            <a:xfrm>
              <a:off x="1076325" y="2406650"/>
              <a:ext cx="269875" cy="288925"/>
            </a:xfrm>
            <a:custGeom>
              <a:avLst/>
              <a:gdLst/>
              <a:ahLst/>
              <a:cxnLst/>
              <a:rect l="l" t="t" r="r" b="b"/>
              <a:pathLst>
                <a:path w="269875" h="288925">
                  <a:moveTo>
                    <a:pt x="95250" y="257175"/>
                  </a:moveTo>
                  <a:cubicBezTo>
                    <a:pt x="26987" y="279400"/>
                    <a:pt x="26987" y="217488"/>
                    <a:pt x="0" y="209550"/>
                  </a:cubicBezTo>
                  <a:moveTo>
                    <a:pt x="190500" y="288925"/>
                  </a:moveTo>
                  <a:lnTo>
                    <a:pt x="190500" y="233363"/>
                  </a:lnTo>
                  <a:cubicBezTo>
                    <a:pt x="190500" y="217488"/>
                    <a:pt x="192087" y="211137"/>
                    <a:pt x="182562" y="201612"/>
                  </a:cubicBezTo>
                  <a:cubicBezTo>
                    <a:pt x="227013" y="196850"/>
                    <a:pt x="269875" y="179388"/>
                    <a:pt x="269875" y="106362"/>
                  </a:cubicBezTo>
                  <a:cubicBezTo>
                    <a:pt x="269856" y="87391"/>
                    <a:pt x="262454" y="69172"/>
                    <a:pt x="249237" y="55562"/>
                  </a:cubicBezTo>
                  <a:cubicBezTo>
                    <a:pt x="255436" y="39084"/>
                    <a:pt x="254865" y="20822"/>
                    <a:pt x="247650" y="4762"/>
                  </a:cubicBezTo>
                  <a:cubicBezTo>
                    <a:pt x="247650" y="4762"/>
                    <a:pt x="230187" y="0"/>
                    <a:pt x="192087" y="25400"/>
                  </a:cubicBezTo>
                  <a:cubicBezTo>
                    <a:pt x="159817" y="16996"/>
                    <a:pt x="125933" y="16996"/>
                    <a:pt x="93662" y="25400"/>
                  </a:cubicBezTo>
                  <a:cubicBezTo>
                    <a:pt x="55562" y="0"/>
                    <a:pt x="38100" y="4762"/>
                    <a:pt x="38100" y="4762"/>
                  </a:cubicBezTo>
                  <a:cubicBezTo>
                    <a:pt x="30885" y="20822"/>
                    <a:pt x="30314" y="39084"/>
                    <a:pt x="36512" y="55563"/>
                  </a:cubicBezTo>
                  <a:cubicBezTo>
                    <a:pt x="23296" y="69172"/>
                    <a:pt x="15894" y="87391"/>
                    <a:pt x="15875" y="106362"/>
                  </a:cubicBezTo>
                  <a:cubicBezTo>
                    <a:pt x="15875" y="179388"/>
                    <a:pt x="58738" y="196850"/>
                    <a:pt x="103187" y="201612"/>
                  </a:cubicBezTo>
                  <a:cubicBezTo>
                    <a:pt x="93662" y="211137"/>
                    <a:pt x="93662" y="220662"/>
                    <a:pt x="95250" y="233363"/>
                  </a:cubicBezTo>
                  <a:lnTo>
                    <a:pt x="95250" y="288925"/>
                  </a:lnTo>
                </a:path>
              </a:pathLst>
            </a:custGeom>
            <a:noFill/>
            <a:ln w="19050">
              <a:solidFill>
                <a:srgbClr val="17140D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1003935" y="2932748"/>
              <a:ext cx="1141667" cy="396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开源社区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014412" y="3269456"/>
              <a:ext cx="1280857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FDE 知识基础设施</a:t>
              </a:r>
            </a:p>
          </p:txBody>
        </p:sp>
        <p:sp>
          <p:nvSpPr>
            <p:cNvPr id="17" name="Line 17"/>
            <p:cNvSpPr/>
            <p:nvPr/>
          </p:nvSpPr>
          <p:spPr>
            <a:xfrm>
              <a:off x="1028700" y="3562350"/>
              <a:ext cx="2914650" cy="9525"/>
            </a:xfrm>
            <a:custGeom>
              <a:avLst/>
              <a:gdLst/>
              <a:ahLst/>
              <a:cxnLst/>
              <a:rect l="l" t="t" r="r" b="b"/>
              <a:pathLst>
                <a:path w="2914650" h="9525">
                  <a:moveTo>
                    <a:pt x="0" y="0"/>
                  </a:moveTo>
                  <a:lnTo>
                    <a:pt x="2914650" y="0"/>
                  </a:lnTo>
                </a:path>
              </a:pathLst>
            </a:custGeom>
            <a:noFill/>
            <a:ln w="9525">
              <a:solidFill>
                <a:srgbClr val="D4CDB9"/>
              </a:solidFill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1009650" y="3705225"/>
              <a:ext cx="2381250" cy="8763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 xml:space="preserve">白皮书 </a:t>
              </a:r>
              <a:r>
                <a:rPr lang="zh-CN" sz="1500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16 章</a:t>
              </a: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 xml:space="preserve">信号库 </a:t>
              </a:r>
              <a:r>
                <a:rPr lang="zh-CN" sz="1500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1,251 条</a:t>
              </a: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一手资料</a:t>
              </a: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工具地图 · 博客 · 社区宣言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1028700" y="4686300"/>
              <a:ext cx="2914650" cy="590550"/>
            </a:xfrm>
            <a:prstGeom prst="rect">
              <a:avLst/>
            </a:prstGeom>
            <a:solidFill>
              <a:srgbClr val="EFEBE0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130618" y="4809649"/>
              <a:ext cx="1801654" cy="4076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650"/>
                </a:lnSpc>
              </a:pPr>
              <a:r>
                <a:rPr lang="zh-CN" sz="975" dirty="0">
                  <a:solidFill>
                    <a:srgbClr val="6A6356"/>
                  </a:solidFill>
                  <a:latin typeface="Consolas"/>
                  <a:ea typeface="Microsoft YaHei"/>
                  <a:cs typeface="Consolas"/>
                </a:rPr>
                <a:t xml:space="preserve">/docs /research /tool-map </a:t>
              </a:r>
              <a:r>
                <a:rPr lang="zh-CN" sz="975" dirty="0">
                  <a:solidFill>
                    <a:srgbClr val="6A6356"/>
                  </a:solidFill>
                  <a:latin typeface="Consolas"/>
                  <a:ea typeface="Microsoft YaHei"/>
                  <a:cs typeface="Consolas"/>
                </a:rPr>
                <a:t>/blog /manifesto /contribute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4400550" y="2114550"/>
            <a:ext cx="3371850" cy="3371850"/>
            <a:chOff x="4400550" y="2114550"/>
            <a:chExt cx="3371850" cy="3371850"/>
          </a:xfrm>
        </p:grpSpPr>
        <p:sp>
          <p:nvSpPr>
            <p:cNvPr id="22" name="Rectangle 22"/>
            <p:cNvSpPr/>
            <p:nvPr/>
          </p:nvSpPr>
          <p:spPr>
            <a:xfrm>
              <a:off x="4400550" y="2114550"/>
              <a:ext cx="3371850" cy="3371850"/>
            </a:xfrm>
            <a:prstGeom prst="rect">
              <a:avLst/>
            </a:prstGeom>
            <a:solidFill>
              <a:srgbClr val="F7F5EF"/>
            </a:solidFill>
            <a:ln w="9525">
              <a:solidFill>
                <a:srgbClr val="E2DCCD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400550" y="2114550"/>
              <a:ext cx="3371850" cy="57150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grpSp>
          <p:nvGrpSpPr>
            <p:cNvPr id="31" name="Group 31"/>
            <p:cNvGrpSpPr/>
            <p:nvPr/>
          </p:nvGrpSpPr>
          <p:grpSpPr>
            <a:xfrm>
              <a:off x="4676775" y="2409825"/>
              <a:ext cx="285750" cy="295275"/>
              <a:chOff x="4676775" y="2409825"/>
              <a:chExt cx="285750" cy="295275"/>
            </a:xfrm>
          </p:grpSpPr>
          <p:sp>
            <p:nvSpPr>
              <p:cNvPr id="24" name="Freeform 24"/>
              <p:cNvSpPr/>
              <p:nvPr/>
            </p:nvSpPr>
            <p:spPr>
              <a:xfrm>
                <a:off x="4676775" y="2695575"/>
                <a:ext cx="2857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85750" h="9525">
                    <a:moveTo>
                      <a:pt x="0" y="0"/>
                    </a:moveTo>
                    <a:lnTo>
                      <a:pt x="285750" y="0"/>
                    </a:ln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  <p:sp>
            <p:nvSpPr>
              <p:cNvPr id="25" name="Freeform 25"/>
              <p:cNvSpPr/>
              <p:nvPr/>
            </p:nvSpPr>
            <p:spPr>
              <a:xfrm>
                <a:off x="4708525" y="2409825"/>
                <a:ext cx="127000" cy="285750"/>
              </a:xfrm>
              <a:custGeom>
                <a:avLst/>
                <a:gdLst/>
                <a:ahLst/>
                <a:cxnLst/>
                <a:rect l="l" t="t" r="r" b="b"/>
                <a:pathLst>
                  <a:path w="127000" h="285750">
                    <a:moveTo>
                      <a:pt x="0" y="285750"/>
                    </a:moveTo>
                    <a:lnTo>
                      <a:pt x="0" y="63500"/>
                    </a:lnTo>
                    <a:lnTo>
                      <a:pt x="127000" y="0"/>
                    </a:lnTo>
                    <a:lnTo>
                      <a:pt x="127000" y="285750"/>
                    </a:ln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  <p:sp>
            <p:nvSpPr>
              <p:cNvPr id="26" name="Freeform 26"/>
              <p:cNvSpPr/>
              <p:nvPr/>
            </p:nvSpPr>
            <p:spPr>
              <a:xfrm>
                <a:off x="4835525" y="2473325"/>
                <a:ext cx="95250" cy="222250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222250">
                    <a:moveTo>
                      <a:pt x="95250" y="222250"/>
                    </a:moveTo>
                    <a:lnTo>
                      <a:pt x="95250" y="63500"/>
                    </a:lnTo>
                    <a:lnTo>
                      <a:pt x="0" y="0"/>
                    </a:ln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  <p:sp>
            <p:nvSpPr>
              <p:cNvPr id="27" name="Freeform 27"/>
              <p:cNvSpPr/>
              <p:nvPr/>
            </p:nvSpPr>
            <p:spPr>
              <a:xfrm>
                <a:off x="4772025" y="250507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159"/>
                    </a:ln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4772025" y="25527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159"/>
                    </a:ln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4772025" y="260032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159"/>
                    </a:ln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4772025" y="264795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159"/>
                    </a:ln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</p:grpSp>
        <p:sp>
          <p:nvSpPr>
            <p:cNvPr id="32" name="TextBox 32"/>
            <p:cNvSpPr txBox="1"/>
            <p:nvPr/>
          </p:nvSpPr>
          <p:spPr>
            <a:xfrm>
              <a:off x="4604385" y="2932748"/>
              <a:ext cx="1141667" cy="396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商业公司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4614862" y="3269456"/>
              <a:ext cx="1202097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企业 AI 落地交付</a:t>
              </a:r>
            </a:p>
          </p:txBody>
        </p:sp>
        <p:sp>
          <p:nvSpPr>
            <p:cNvPr id="34" name="Line 34"/>
            <p:cNvSpPr/>
            <p:nvPr/>
          </p:nvSpPr>
          <p:spPr>
            <a:xfrm>
              <a:off x="4629150" y="3562350"/>
              <a:ext cx="2914650" cy="9525"/>
            </a:xfrm>
            <a:custGeom>
              <a:avLst/>
              <a:gdLst/>
              <a:ahLst/>
              <a:cxnLst/>
              <a:rect l="l" t="t" r="r" b="b"/>
              <a:pathLst>
                <a:path w="2914650" h="9525">
                  <a:moveTo>
                    <a:pt x="0" y="0"/>
                  </a:moveTo>
                  <a:lnTo>
                    <a:pt x="2914650" y="0"/>
                  </a:lnTo>
                </a:path>
              </a:pathLst>
            </a:custGeom>
            <a:noFill/>
            <a:ln w="9525">
              <a:solidFill>
                <a:srgbClr val="D4CDB9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4610100" y="3705225"/>
              <a:ext cx="2333625" cy="8763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9</a:t>
              </a: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 xml:space="preserve"> 个行业 + </a:t>
              </a:r>
              <a:r>
                <a:rPr lang="zh-CN" sz="1500" b="1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4</a:t>
              </a: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 xml:space="preserve"> 个场景方案</a:t>
              </a:r>
              <a:r>
                <a:rPr lang="zh-CN" sz="1500" b="1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11</a:t>
              </a: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 xml:space="preserve"> 个客户案例与品牌墙</a:t>
              </a: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 xml:space="preserve">交付平台 + </a:t>
              </a:r>
              <a:r>
                <a:rPr lang="zh-CN" sz="1500" b="1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4</a:t>
              </a: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 xml:space="preserve"> 个专家 Agent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4629150" y="4686300"/>
              <a:ext cx="2914650" cy="590550"/>
            </a:xfrm>
            <a:prstGeom prst="rect">
              <a:avLst/>
            </a:prstGeom>
            <a:solidFill>
              <a:srgbClr val="F6E7DD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731068" y="4809649"/>
              <a:ext cx="1739741" cy="4076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650"/>
                </a:lnSpc>
              </a:pPr>
              <a:r>
                <a:rPr lang="zh-CN" sz="975" dirty="0">
                  <a:solidFill>
                    <a:srgbClr val="6A6356"/>
                  </a:solidFill>
                  <a:latin typeface="Consolas"/>
                  <a:ea typeface="Microsoft YaHei"/>
                  <a:cs typeface="Consolas"/>
                </a:rPr>
                <a:t xml:space="preserve">/solutions /cases /products </a:t>
              </a:r>
              <a:r>
                <a:rPr lang="zh-CN" sz="975" dirty="0">
                  <a:solidFill>
                    <a:srgbClr val="6A6356"/>
                  </a:solidFill>
                  <a:latin typeface="Consolas"/>
                  <a:ea typeface="Microsoft YaHei"/>
                  <a:cs typeface="Consolas"/>
                </a:rPr>
                <a:t>/services /hirefde</a:t>
              </a:r>
            </a:p>
          </p:txBody>
        </p:sp>
      </p:grpSp>
      <p:grpSp>
        <p:nvGrpSpPr>
          <p:cNvPr id="54" name="Group 54"/>
          <p:cNvGrpSpPr/>
          <p:nvPr/>
        </p:nvGrpSpPr>
        <p:grpSpPr>
          <a:xfrm>
            <a:off x="8001000" y="2114550"/>
            <a:ext cx="3371850" cy="3371850"/>
            <a:chOff x="8001000" y="2114550"/>
            <a:chExt cx="3371850" cy="3371850"/>
          </a:xfrm>
        </p:grpSpPr>
        <p:sp>
          <p:nvSpPr>
            <p:cNvPr id="39" name="Rectangle 39"/>
            <p:cNvSpPr/>
            <p:nvPr/>
          </p:nvSpPr>
          <p:spPr>
            <a:xfrm>
              <a:off x="8001000" y="2114550"/>
              <a:ext cx="3371850" cy="3371850"/>
            </a:xfrm>
            <a:prstGeom prst="rect">
              <a:avLst/>
            </a:prstGeom>
            <a:solidFill>
              <a:srgbClr val="F7F5EF"/>
            </a:solidFill>
            <a:ln w="9525">
              <a:solidFill>
                <a:srgbClr val="E2DCCD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8001000" y="2114550"/>
              <a:ext cx="3371850" cy="57150"/>
            </a:xfrm>
            <a:prstGeom prst="rect">
              <a:avLst/>
            </a:prstGeom>
            <a:solidFill>
              <a:srgbClr val="B8552E"/>
            </a:solidFill>
            <a:ln>
              <a:noFill/>
            </a:ln>
          </p:spPr>
        </p:sp>
        <p:grpSp>
          <p:nvGrpSpPr>
            <p:cNvPr id="47" name="Group 47"/>
            <p:cNvGrpSpPr/>
            <p:nvPr/>
          </p:nvGrpSpPr>
          <p:grpSpPr>
            <a:xfrm>
              <a:off x="8277225" y="2409825"/>
              <a:ext cx="285750" cy="285750"/>
              <a:chOff x="8277225" y="2409825"/>
              <a:chExt cx="285750" cy="285750"/>
            </a:xfrm>
          </p:grpSpPr>
          <p:sp>
            <p:nvSpPr>
              <p:cNvPr id="41" name="Freeform 41"/>
              <p:cNvSpPr/>
              <p:nvPr/>
            </p:nvSpPr>
            <p:spPr>
              <a:xfrm>
                <a:off x="8388350" y="2536825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0" y="31750"/>
                    </a:moveTo>
                    <a:cubicBezTo>
                      <a:pt x="0" y="49285"/>
                      <a:pt x="14215" y="63500"/>
                      <a:pt x="31750" y="63500"/>
                    </a:cubicBezTo>
                    <a:cubicBezTo>
                      <a:pt x="49285" y="63500"/>
                      <a:pt x="63500" y="49285"/>
                      <a:pt x="63500" y="31750"/>
                    </a:cubicBezTo>
                    <a:cubicBezTo>
                      <a:pt x="63500" y="14215"/>
                      <a:pt x="49285" y="0"/>
                      <a:pt x="31750" y="0"/>
                    </a:cubicBezTo>
                    <a:cubicBezTo>
                      <a:pt x="14215" y="0"/>
                      <a:pt x="0" y="14215"/>
                      <a:pt x="0" y="31750"/>
                    </a:cubicBezTo>
                  </a:path>
                </a:pathLst>
              </a:custGeom>
              <a:noFill/>
              <a:ln w="19050">
                <a:solidFill>
                  <a:srgbClr val="B8552E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8356600" y="2647950"/>
                <a:ext cx="127000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127000" h="47625">
                    <a:moveTo>
                      <a:pt x="0" y="47625"/>
                    </a:moveTo>
                    <a:lnTo>
                      <a:pt x="0" y="31750"/>
                    </a:lnTo>
                    <a:cubicBezTo>
                      <a:pt x="0" y="14215"/>
                      <a:pt x="14215" y="0"/>
                      <a:pt x="31750" y="0"/>
                    </a:cubicBezTo>
                    <a:lnTo>
                      <a:pt x="95250" y="0"/>
                    </a:lnTo>
                    <a:cubicBezTo>
                      <a:pt x="112785" y="0"/>
                      <a:pt x="127000" y="14215"/>
                      <a:pt x="127000" y="31750"/>
                    </a:cubicBezTo>
                    <a:lnTo>
                      <a:pt x="127000" y="47625"/>
                    </a:lnTo>
                  </a:path>
                </a:pathLst>
              </a:custGeom>
              <a:noFill/>
              <a:ln w="19050">
                <a:solidFill>
                  <a:srgbClr val="B8552E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8467725" y="2409825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0" y="31750"/>
                    </a:moveTo>
                    <a:cubicBezTo>
                      <a:pt x="0" y="49285"/>
                      <a:pt x="14215" y="63500"/>
                      <a:pt x="31750" y="63500"/>
                    </a:cubicBezTo>
                    <a:cubicBezTo>
                      <a:pt x="49285" y="63500"/>
                      <a:pt x="63500" y="49285"/>
                      <a:pt x="63500" y="31750"/>
                    </a:cubicBezTo>
                    <a:cubicBezTo>
                      <a:pt x="63500" y="14215"/>
                      <a:pt x="49285" y="0"/>
                      <a:pt x="31750" y="0"/>
                    </a:cubicBezTo>
                    <a:cubicBezTo>
                      <a:pt x="14215" y="0"/>
                      <a:pt x="0" y="14215"/>
                      <a:pt x="0" y="31750"/>
                    </a:cubicBezTo>
                  </a:path>
                </a:pathLst>
              </a:custGeom>
              <a:noFill/>
              <a:ln w="19050">
                <a:solidFill>
                  <a:srgbClr val="B8552E"/>
                </a:solidFill>
              </a:ln>
            </p:spPr>
          </p:sp>
          <p:sp>
            <p:nvSpPr>
              <p:cNvPr id="44" name="Freeform 44"/>
              <p:cNvSpPr/>
              <p:nvPr/>
            </p:nvSpPr>
            <p:spPr>
              <a:xfrm>
                <a:off x="8499475" y="2520950"/>
                <a:ext cx="63500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47625">
                    <a:moveTo>
                      <a:pt x="0" y="0"/>
                    </a:moveTo>
                    <a:lnTo>
                      <a:pt x="31750" y="0"/>
                    </a:lnTo>
                    <a:cubicBezTo>
                      <a:pt x="49285" y="0"/>
                      <a:pt x="63500" y="14215"/>
                      <a:pt x="63500" y="31750"/>
                    </a:cubicBezTo>
                    <a:lnTo>
                      <a:pt x="63500" y="47625"/>
                    </a:lnTo>
                  </a:path>
                </a:pathLst>
              </a:custGeom>
              <a:noFill/>
              <a:ln w="19050">
                <a:solidFill>
                  <a:srgbClr val="B8552E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8308975" y="2409825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0" y="31750"/>
                    </a:moveTo>
                    <a:cubicBezTo>
                      <a:pt x="0" y="49285"/>
                      <a:pt x="14215" y="63500"/>
                      <a:pt x="31750" y="63500"/>
                    </a:cubicBezTo>
                    <a:cubicBezTo>
                      <a:pt x="49285" y="63500"/>
                      <a:pt x="63500" y="49285"/>
                      <a:pt x="63500" y="31750"/>
                    </a:cubicBezTo>
                    <a:cubicBezTo>
                      <a:pt x="63500" y="14215"/>
                      <a:pt x="49285" y="0"/>
                      <a:pt x="31750" y="0"/>
                    </a:cubicBezTo>
                    <a:cubicBezTo>
                      <a:pt x="14215" y="0"/>
                      <a:pt x="0" y="14215"/>
                      <a:pt x="0" y="31750"/>
                    </a:cubicBezTo>
                  </a:path>
                </a:pathLst>
              </a:custGeom>
              <a:noFill/>
              <a:ln w="19050">
                <a:solidFill>
                  <a:srgbClr val="B8552E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8277225" y="2520950"/>
                <a:ext cx="63500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47625">
                    <a:moveTo>
                      <a:pt x="0" y="47625"/>
                    </a:moveTo>
                    <a:lnTo>
                      <a:pt x="0" y="31750"/>
                    </a:lnTo>
                    <a:cubicBezTo>
                      <a:pt x="0" y="14215"/>
                      <a:pt x="14215" y="0"/>
                      <a:pt x="31750" y="0"/>
                    </a:cubicBezTo>
                    <a:lnTo>
                      <a:pt x="63500" y="0"/>
                    </a:lnTo>
                  </a:path>
                </a:pathLst>
              </a:custGeom>
              <a:noFill/>
              <a:ln w="19050">
                <a:solidFill>
                  <a:srgbClr val="B8552E"/>
                </a:solidFill>
              </a:ln>
            </p:spPr>
          </p:sp>
        </p:grpSp>
        <p:sp>
          <p:nvSpPr>
            <p:cNvPr id="48" name="TextBox 48"/>
            <p:cNvSpPr txBox="1"/>
            <p:nvPr/>
          </p:nvSpPr>
          <p:spPr>
            <a:xfrm>
              <a:off x="8204835" y="2932748"/>
              <a:ext cx="1141667" cy="396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人才网络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8215312" y="3269456"/>
              <a:ext cx="128873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把上面两块连起来</a:t>
              </a:r>
            </a:p>
          </p:txBody>
        </p:sp>
        <p:sp>
          <p:nvSpPr>
            <p:cNvPr id="50" name="Line 50"/>
            <p:cNvSpPr/>
            <p:nvPr/>
          </p:nvSpPr>
          <p:spPr>
            <a:xfrm>
              <a:off x="8229600" y="3562350"/>
              <a:ext cx="2914650" cy="9525"/>
            </a:xfrm>
            <a:custGeom>
              <a:avLst/>
              <a:gdLst/>
              <a:ahLst/>
              <a:cxnLst/>
              <a:rect l="l" t="t" r="r" b="b"/>
              <a:pathLst>
                <a:path w="2914650" h="9525">
                  <a:moveTo>
                    <a:pt x="0" y="0"/>
                  </a:moveTo>
                  <a:lnTo>
                    <a:pt x="2914650" y="0"/>
                  </a:lnTo>
                </a:path>
              </a:pathLst>
            </a:custGeom>
            <a:noFill/>
            <a:ln w="9525">
              <a:solidFill>
                <a:srgbClr val="D4CDB9"/>
              </a:solidFill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8210550" y="3705225"/>
              <a:ext cx="1743075" cy="8763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 xml:space="preserve">首批 FDE </a:t>
              </a:r>
              <a:r>
                <a:rPr lang="zh-CN" sz="1500" b="1" dirty="0">
                  <a:solidFill>
                    <a:srgbClr val="B8552E"/>
                  </a:solidFill>
                  <a:latin typeface="Arial"/>
                  <a:ea typeface="Microsoft YaHei"/>
                  <a:cs typeface="Arial"/>
                </a:rPr>
                <a:t>20 人计划</a:t>
              </a: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FDE 社群与线下活动</a:t>
              </a:r>
              <a:r>
                <a:rPr lang="zh-CN" sz="1500" b="1" dirty="0">
                  <a:solidFill>
                    <a:srgbClr val="B8552E"/>
                  </a:solidFill>
                  <a:latin typeface="Arial"/>
                  <a:ea typeface="Microsoft YaHei"/>
                  <a:cs typeface="Arial"/>
                </a:rPr>
                <a:t>200㎡</a:t>
              </a: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 xml:space="preserve"> 联合办公室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8229600" y="4686300"/>
              <a:ext cx="2914650" cy="590550"/>
            </a:xfrm>
            <a:prstGeom prst="rect">
              <a:avLst/>
            </a:prstGeom>
            <a:solidFill>
              <a:srgbClr val="EFEBE0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8331518" y="4809649"/>
              <a:ext cx="1337310" cy="4076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650"/>
                </a:lnSpc>
              </a:pPr>
              <a:r>
                <a:rPr lang="zh-CN" sz="975" dirty="0">
                  <a:solidFill>
                    <a:srgbClr val="6A6356"/>
                  </a:solidFill>
                  <a:latin typeface="Consolas"/>
                  <a:ea typeface="Microsoft YaHei"/>
                  <a:cs typeface="Consolas"/>
                </a:rPr>
                <a:t xml:space="preserve">/join /community </a:t>
              </a:r>
              <a:r>
                <a:rPr lang="zh-CN" sz="975" dirty="0">
                  <a:solidFill>
                    <a:srgbClr val="6A6356"/>
                  </a:solidFill>
                  <a:latin typeface="Consolas"/>
                  <a:ea typeface="Microsoft YaHei"/>
                  <a:cs typeface="Consolas"/>
                </a:rPr>
                <a:t>github.com/Open-FDE</a:t>
              </a:r>
            </a:p>
          </p:txBody>
        </p:sp>
      </p:grpSp>
      <p:grpSp>
        <p:nvGrpSpPr>
          <p:cNvPr id="56" name="Group 56"/>
          <p:cNvGrpSpPr/>
          <p:nvPr/>
        </p:nvGrpSpPr>
        <p:grpSpPr>
          <a:xfrm>
            <a:off x="552450" y="5934075"/>
            <a:ext cx="8459152" cy="304800"/>
            <a:chOff x="552450" y="5934075"/>
            <a:chExt cx="8459152" cy="304800"/>
          </a:xfrm>
        </p:grpSpPr>
        <p:sp>
          <p:nvSpPr>
            <p:cNvPr id="55" name="TextBox 55"/>
            <p:cNvSpPr txBox="1"/>
            <p:nvPr/>
          </p:nvSpPr>
          <p:spPr>
            <a:xfrm>
              <a:off x="552450" y="5934075"/>
              <a:ext cx="8459152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左边这块</a:t>
              </a:r>
              <a:r>
                <a:rPr lang="zh-CN" sz="1500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不要钱</a:t>
              </a: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，中间这块</a:t>
              </a:r>
              <a:r>
                <a:rPr lang="zh-CN" sz="1500" b="1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是生意</a:t>
              </a: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，右边这块</a:t>
              </a:r>
              <a:r>
                <a:rPr lang="zh-CN" sz="1500" b="1" dirty="0">
                  <a:solidFill>
                    <a:srgbClr val="B8552E"/>
                  </a:solidFill>
                  <a:latin typeface="Arial"/>
                  <a:ea typeface="Microsoft YaHei"/>
                  <a:cs typeface="Arial"/>
                </a:rPr>
                <a:t>是未来的供给</a:t>
              </a: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——认清你在看哪一块，路就不绕了。</a:t>
              </a:r>
            </a:p>
          </p:txBody>
        </p:sp>
      </p:grpSp>
      <p:grpSp>
        <p:nvGrpSpPr>
          <p:cNvPr id="61" name="Group 61"/>
          <p:cNvGrpSpPr/>
          <p:nvPr/>
        </p:nvGrpSpPr>
        <p:grpSpPr>
          <a:xfrm>
            <a:off x="571500" y="6438900"/>
            <a:ext cx="11060430" cy="304800"/>
            <a:chOff x="571500" y="6438900"/>
            <a:chExt cx="11060430" cy="304800"/>
          </a:xfrm>
        </p:grpSpPr>
        <p:sp>
          <p:nvSpPr>
            <p:cNvPr id="57" name="Line 57"/>
            <p:cNvSpPr/>
            <p:nvPr/>
          </p:nvSpPr>
          <p:spPr>
            <a:xfrm>
              <a:off x="571500" y="64389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ECE7DA"/>
              </a:solidFill>
            </a:ln>
          </p:spPr>
        </p:sp>
        <p:pic>
          <p:nvPicPr>
            <p:cNvPr id="58" name="Image 58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71500" y="6517891"/>
              <a:ext cx="190500" cy="184919"/>
            </a:xfrm>
            <a:prstGeom prst="rect">
              <a:avLst/>
            </a:prstGeom>
          </p:spPr>
        </p:pic>
        <p:sp>
          <p:nvSpPr>
            <p:cNvPr id="59" name="TextBox 59"/>
            <p:cNvSpPr txBox="1"/>
            <p:nvPr/>
          </p:nvSpPr>
          <p:spPr>
            <a:xfrm>
              <a:off x="845820" y="6560820"/>
              <a:ext cx="74895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openfde.net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11207020" y="6560820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04 / 26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1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21" grpId="0"/>
      <p:bldP spid="38" grpId="0"/>
      <p:bldP spid="54" grpId="0"/>
      <p:bldP spid="5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7F5EF"/>
            </a:solidFill>
            <a:ln>
              <a:noFill/>
            </a:ln>
          </p:spPr>
        </p:sp>
        <p:pic>
          <p:nvPicPr>
            <p:cNvPr id="3" name="Image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12192000" cy="6858000"/>
            </a:xfrm>
            <a:prstGeom prst="rect">
              <a:avLst/>
            </a:prstGeom>
          </p:spPr>
        </p:pic>
        <p:sp>
          <p:nvSpPr>
            <p:cNvPr id="4" name="Rectangle 4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7F5EF">
                <a:alpha val="82000"/>
              </a:srgbClr>
            </a:solidFill>
            <a:ln>
              <a:noFill/>
            </a:ln>
          </p:spPr>
        </p:sp>
      </p:grpSp>
      <p:grpSp>
        <p:nvGrpSpPr>
          <p:cNvPr id="11" name="Group 11"/>
          <p:cNvGrpSpPr/>
          <p:nvPr/>
        </p:nvGrpSpPr>
        <p:grpSpPr>
          <a:xfrm>
            <a:off x="539115" y="571500"/>
            <a:ext cx="11095672" cy="909638"/>
            <a:chOff x="539115" y="571500"/>
            <a:chExt cx="11095672" cy="909638"/>
          </a:xfrm>
        </p:grpSpPr>
        <p:sp>
          <p:nvSpPr>
            <p:cNvPr id="6" name="Rectangle 6"/>
            <p:cNvSpPr/>
            <p:nvPr/>
          </p:nvSpPr>
          <p:spPr>
            <a:xfrm>
              <a:off x="571500" y="571500"/>
              <a:ext cx="381000" cy="28575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557212" y="735806"/>
              <a:ext cx="99732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站点地图 · 二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539115" y="962978"/>
              <a:ext cx="4349306" cy="518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六个导航分别回答什么问题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0106025" y="1078706"/>
              <a:ext cx="152876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认准问题，就不会点错</a:t>
              </a:r>
            </a:p>
          </p:txBody>
        </p:sp>
        <p:sp>
          <p:nvSpPr>
            <p:cNvPr id="10" name="Line 10"/>
            <p:cNvSpPr/>
            <p:nvPr/>
          </p:nvSpPr>
          <p:spPr>
            <a:xfrm>
              <a:off x="571500" y="14478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14288">
              <a:solidFill>
                <a:srgbClr val="D4CDB9"/>
              </a:solidFill>
            </a:ln>
          </p:spPr>
        </p:sp>
      </p:grpSp>
      <p:grpSp>
        <p:nvGrpSpPr>
          <p:cNvPr id="18" name="Group 18"/>
          <p:cNvGrpSpPr/>
          <p:nvPr/>
        </p:nvGrpSpPr>
        <p:grpSpPr>
          <a:xfrm>
            <a:off x="4286250" y="2352675"/>
            <a:ext cx="3619500" cy="2647950"/>
            <a:chOff x="4286250" y="2352675"/>
            <a:chExt cx="3619500" cy="2647950"/>
          </a:xfrm>
        </p:grpSpPr>
        <p:sp>
          <p:nvSpPr>
            <p:cNvPr id="12" name="Line 12"/>
            <p:cNvSpPr/>
            <p:nvPr/>
          </p:nvSpPr>
          <p:spPr>
            <a:xfrm>
              <a:off x="6096000" y="2352675"/>
              <a:ext cx="9525" cy="523875"/>
            </a:xfrm>
            <a:custGeom>
              <a:avLst/>
              <a:gdLst/>
              <a:ahLst/>
              <a:cxnLst/>
              <a:rect l="l" t="t" r="r" b="b"/>
              <a:pathLst>
                <a:path w="9525" h="523875">
                  <a:moveTo>
                    <a:pt x="0" y="523875"/>
                  </a:moveTo>
                  <a:lnTo>
                    <a:pt x="0" y="0"/>
                  </a:lnTo>
                </a:path>
              </a:pathLst>
            </a:custGeom>
            <a:noFill/>
            <a:ln w="14288">
              <a:solidFill>
                <a:srgbClr val="D4CDB9"/>
              </a:solidFill>
              <a:prstDash val="dash"/>
            </a:ln>
          </p:spPr>
        </p:sp>
        <p:sp>
          <p:nvSpPr>
            <p:cNvPr id="13" name="Line 13"/>
            <p:cNvSpPr/>
            <p:nvPr/>
          </p:nvSpPr>
          <p:spPr>
            <a:xfrm>
              <a:off x="6864668" y="2800350"/>
              <a:ext cx="1041082" cy="655320"/>
            </a:xfrm>
            <a:custGeom>
              <a:avLst/>
              <a:gdLst/>
              <a:ahLst/>
              <a:cxnLst/>
              <a:rect l="l" t="t" r="r" b="b"/>
              <a:pathLst>
                <a:path w="1041082" h="655320">
                  <a:moveTo>
                    <a:pt x="0" y="655320"/>
                  </a:moveTo>
                  <a:lnTo>
                    <a:pt x="1041082" y="0"/>
                  </a:lnTo>
                </a:path>
              </a:pathLst>
            </a:custGeom>
            <a:noFill/>
            <a:ln w="14288">
              <a:solidFill>
                <a:srgbClr val="D4CDB9"/>
              </a:solidFill>
              <a:prstDash val="dash"/>
            </a:ln>
          </p:spPr>
        </p:sp>
        <p:sp>
          <p:nvSpPr>
            <p:cNvPr id="14" name="Line 14"/>
            <p:cNvSpPr/>
            <p:nvPr/>
          </p:nvSpPr>
          <p:spPr>
            <a:xfrm>
              <a:off x="6864668" y="3897630"/>
              <a:ext cx="1041082" cy="655320"/>
            </a:xfrm>
            <a:custGeom>
              <a:avLst/>
              <a:gdLst/>
              <a:ahLst/>
              <a:cxnLst/>
              <a:rect l="l" t="t" r="r" b="b"/>
              <a:pathLst>
                <a:path w="1041082" h="655320">
                  <a:moveTo>
                    <a:pt x="0" y="0"/>
                  </a:moveTo>
                  <a:lnTo>
                    <a:pt x="1041082" y="655320"/>
                  </a:lnTo>
                </a:path>
              </a:pathLst>
            </a:custGeom>
            <a:noFill/>
            <a:ln w="14288">
              <a:solidFill>
                <a:srgbClr val="D4CDB9"/>
              </a:solidFill>
              <a:prstDash val="dash"/>
            </a:ln>
          </p:spPr>
        </p:sp>
        <p:sp>
          <p:nvSpPr>
            <p:cNvPr id="15" name="Line 15"/>
            <p:cNvSpPr/>
            <p:nvPr/>
          </p:nvSpPr>
          <p:spPr>
            <a:xfrm>
              <a:off x="6096000" y="4476750"/>
              <a:ext cx="9525" cy="523875"/>
            </a:xfrm>
            <a:custGeom>
              <a:avLst/>
              <a:gdLst/>
              <a:ahLst/>
              <a:cxnLst/>
              <a:rect l="l" t="t" r="r" b="b"/>
              <a:pathLst>
                <a:path w="9525" h="523875">
                  <a:moveTo>
                    <a:pt x="0" y="0"/>
                  </a:moveTo>
                  <a:lnTo>
                    <a:pt x="0" y="523875"/>
                  </a:lnTo>
                </a:path>
              </a:pathLst>
            </a:custGeom>
            <a:noFill/>
            <a:ln w="14288">
              <a:solidFill>
                <a:srgbClr val="D4CDB9"/>
              </a:solidFill>
              <a:prstDash val="dash"/>
            </a:ln>
          </p:spPr>
        </p:sp>
        <p:sp>
          <p:nvSpPr>
            <p:cNvPr id="16" name="Line 16"/>
            <p:cNvSpPr/>
            <p:nvPr/>
          </p:nvSpPr>
          <p:spPr>
            <a:xfrm>
              <a:off x="4286250" y="3897630"/>
              <a:ext cx="1041082" cy="655320"/>
            </a:xfrm>
            <a:custGeom>
              <a:avLst/>
              <a:gdLst/>
              <a:ahLst/>
              <a:cxnLst/>
              <a:rect l="l" t="t" r="r" b="b"/>
              <a:pathLst>
                <a:path w="1041082" h="655320">
                  <a:moveTo>
                    <a:pt x="1041082" y="0"/>
                  </a:moveTo>
                  <a:lnTo>
                    <a:pt x="0" y="655320"/>
                  </a:lnTo>
                </a:path>
              </a:pathLst>
            </a:custGeom>
            <a:noFill/>
            <a:ln w="14288">
              <a:solidFill>
                <a:srgbClr val="D4CDB9"/>
              </a:solidFill>
              <a:prstDash val="dash"/>
            </a:ln>
          </p:spPr>
        </p:sp>
        <p:sp>
          <p:nvSpPr>
            <p:cNvPr id="17" name="Line 17"/>
            <p:cNvSpPr/>
            <p:nvPr/>
          </p:nvSpPr>
          <p:spPr>
            <a:xfrm>
              <a:off x="4286250" y="2800350"/>
              <a:ext cx="1041082" cy="655320"/>
            </a:xfrm>
            <a:custGeom>
              <a:avLst/>
              <a:gdLst/>
              <a:ahLst/>
              <a:cxnLst/>
              <a:rect l="l" t="t" r="r" b="b"/>
              <a:pathLst>
                <a:path w="1041082" h="655320">
                  <a:moveTo>
                    <a:pt x="1041082" y="655320"/>
                  </a:moveTo>
                  <a:lnTo>
                    <a:pt x="0" y="0"/>
                  </a:lnTo>
                </a:path>
              </a:pathLst>
            </a:custGeom>
            <a:noFill/>
            <a:ln w="14288">
              <a:solidFill>
                <a:srgbClr val="D4CDB9"/>
              </a:solidFill>
              <a:prstDash val="dash"/>
            </a:ln>
          </p:spPr>
        </p:sp>
      </p:grpSp>
      <p:grpSp>
        <p:nvGrpSpPr>
          <p:cNvPr id="24" name="Group 24"/>
          <p:cNvGrpSpPr/>
          <p:nvPr/>
        </p:nvGrpSpPr>
        <p:grpSpPr>
          <a:xfrm>
            <a:off x="5295900" y="2876550"/>
            <a:ext cx="1600200" cy="1600200"/>
            <a:chOff x="5295900" y="2876550"/>
            <a:chExt cx="1600200" cy="1600200"/>
          </a:xfrm>
        </p:grpSpPr>
        <p:sp>
          <p:nvSpPr>
            <p:cNvPr id="19" name="Ellipse 19"/>
            <p:cNvSpPr/>
            <p:nvPr/>
          </p:nvSpPr>
          <p:spPr>
            <a:xfrm>
              <a:off x="5295900" y="2876550"/>
              <a:ext cx="1600200" cy="1600200"/>
            </a:xfrm>
            <a:prstGeom prst="ellipse">
              <a:avLst/>
            </a:prstGeom>
            <a:solidFill>
              <a:srgbClr val="17140D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5587979" y="3368040"/>
              <a:ext cx="1016041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b="1" dirty="0">
                  <a:solidFill>
                    <a:srgbClr val="F7F5EF"/>
                  </a:solidFill>
                  <a:latin typeface="Georgia"/>
                  <a:ea typeface="KaiTi"/>
                  <a:cs typeface="Georgia"/>
                </a:rPr>
                <a:t>openfde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795905" y="3615690"/>
              <a:ext cx="600189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b="1" dirty="0">
                  <a:solidFill>
                    <a:srgbClr val="F7F5EF"/>
                  </a:solidFill>
                  <a:latin typeface="Georgia"/>
                  <a:ea typeface="KaiTi"/>
                  <a:cs typeface="Georgia"/>
                </a:rPr>
                <a:t>.net</a:t>
              </a:r>
            </a:p>
          </p:txBody>
        </p:sp>
        <p:sp>
          <p:nvSpPr>
            <p:cNvPr id="22" name="Line 22"/>
            <p:cNvSpPr/>
            <p:nvPr/>
          </p:nvSpPr>
          <p:spPr>
            <a:xfrm>
              <a:off x="5715000" y="3943350"/>
              <a:ext cx="762000" cy="9525"/>
            </a:xfrm>
            <a:custGeom>
              <a:avLst/>
              <a:gdLst/>
              <a:ahLst/>
              <a:cxnLst/>
              <a:rect l="l" t="t" r="r" b="b"/>
              <a:pathLst>
                <a:path w="762000" h="9525">
                  <a:moveTo>
                    <a:pt x="0" y="0"/>
                  </a:moveTo>
                  <a:lnTo>
                    <a:pt x="762000" y="0"/>
                  </a:lnTo>
                </a:path>
              </a:pathLst>
            </a:custGeom>
            <a:noFill/>
            <a:ln w="19050">
              <a:solidFill>
                <a:srgbClr val="C4471F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823585" y="4066699"/>
              <a:ext cx="54483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EFEBE0"/>
                  </a:solidFill>
                  <a:latin typeface="Arial"/>
                  <a:ea typeface="Microsoft YaHei"/>
                  <a:cs typeface="Arial"/>
                </a:rPr>
                <a:t>六个导航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4857750" y="1533525"/>
            <a:ext cx="2476500" cy="819150"/>
            <a:chOff x="4857750" y="1533525"/>
            <a:chExt cx="2476500" cy="819150"/>
          </a:xfrm>
        </p:grpSpPr>
        <p:sp>
          <p:nvSpPr>
            <p:cNvPr id="25" name="Rectangle 25"/>
            <p:cNvSpPr/>
            <p:nvPr/>
          </p:nvSpPr>
          <p:spPr>
            <a:xfrm>
              <a:off x="4857750" y="1533525"/>
              <a:ext cx="2476500" cy="81915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4857750" y="1533525"/>
              <a:ext cx="38100" cy="819150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5048250" y="1657350"/>
              <a:ext cx="1928336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解决方案</a:t>
              </a:r>
              <a:r>
                <a:rPr lang="zh-CN" sz="975" b="1" dirty="0">
                  <a:solidFill>
                    <a:srgbClr val="9A9284"/>
                  </a:solidFill>
                  <a:latin typeface="Consolas"/>
                  <a:ea typeface="Microsoft YaHei"/>
                  <a:cs typeface="Consolas"/>
                </a:rPr>
                <a:t>/solutions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053012" y="1926431"/>
              <a:ext cx="18288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我这个行业，你们怎么做？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5055870" y="2150745"/>
              <a:ext cx="1565053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9 个行业方案 + 4 个场景方案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7905750" y="2390775"/>
            <a:ext cx="2476500" cy="819150"/>
            <a:chOff x="7905750" y="2390775"/>
            <a:chExt cx="2476500" cy="819150"/>
          </a:xfrm>
        </p:grpSpPr>
        <p:sp>
          <p:nvSpPr>
            <p:cNvPr id="31" name="Rectangle 31"/>
            <p:cNvSpPr/>
            <p:nvPr/>
          </p:nvSpPr>
          <p:spPr>
            <a:xfrm>
              <a:off x="7905750" y="2390775"/>
              <a:ext cx="2476500" cy="81915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7905750" y="2390775"/>
              <a:ext cx="38100" cy="819150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096250" y="2514600"/>
              <a:ext cx="1151239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案例</a:t>
              </a:r>
              <a:r>
                <a:rPr lang="zh-CN" sz="975" b="1" dirty="0">
                  <a:solidFill>
                    <a:srgbClr val="9A9284"/>
                  </a:solidFill>
                  <a:latin typeface="Consolas"/>
                  <a:ea typeface="Microsoft YaHei"/>
                  <a:cs typeface="Consolas"/>
                </a:rPr>
                <a:t>/cases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101012" y="2783681"/>
              <a:ext cx="122872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你们真做成过吗？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103870" y="3007995"/>
              <a:ext cx="163106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11 个案例，5 个招牌 + 品牌墙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7905750" y="4143375"/>
            <a:ext cx="2476500" cy="819150"/>
            <a:chOff x="7905750" y="4143375"/>
            <a:chExt cx="2476500" cy="819150"/>
          </a:xfrm>
        </p:grpSpPr>
        <p:sp>
          <p:nvSpPr>
            <p:cNvPr id="37" name="Rectangle 37"/>
            <p:cNvSpPr/>
            <p:nvPr/>
          </p:nvSpPr>
          <p:spPr>
            <a:xfrm>
              <a:off x="7905750" y="4143375"/>
              <a:ext cx="2476500" cy="81915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7905750" y="4143375"/>
              <a:ext cx="38100" cy="819150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8096250" y="4267200"/>
              <a:ext cx="1497782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产品</a:t>
              </a:r>
              <a:r>
                <a:rPr lang="zh-CN" sz="975" b="1" dirty="0">
                  <a:solidFill>
                    <a:srgbClr val="9A9284"/>
                  </a:solidFill>
                  <a:latin typeface="Consolas"/>
                  <a:ea typeface="Microsoft YaHei"/>
                  <a:cs typeface="Consolas"/>
                </a:rPr>
                <a:t>/products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8101012" y="4536281"/>
              <a:ext cx="107870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你们拿什么做？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8103870" y="4760595"/>
              <a:ext cx="184708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交付平台 + 4 个专家 Agent + 引擎</a:t>
              </a:r>
            </a:p>
          </p:txBody>
        </p:sp>
      </p:grpSp>
      <p:grpSp>
        <p:nvGrpSpPr>
          <p:cNvPr id="48" name="Group 48"/>
          <p:cNvGrpSpPr/>
          <p:nvPr/>
        </p:nvGrpSpPr>
        <p:grpSpPr>
          <a:xfrm>
            <a:off x="4857750" y="5000625"/>
            <a:ext cx="2476500" cy="819150"/>
            <a:chOff x="4857750" y="5000625"/>
            <a:chExt cx="2476500" cy="819150"/>
          </a:xfrm>
        </p:grpSpPr>
        <p:sp>
          <p:nvSpPr>
            <p:cNvPr id="43" name="Rectangle 43"/>
            <p:cNvSpPr/>
            <p:nvPr/>
          </p:nvSpPr>
          <p:spPr>
            <a:xfrm>
              <a:off x="4857750" y="5000625"/>
              <a:ext cx="2476500" cy="81915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44" name="Rectangle 44"/>
            <p:cNvSpPr/>
            <p:nvPr/>
          </p:nvSpPr>
          <p:spPr>
            <a:xfrm>
              <a:off x="4857750" y="5000625"/>
              <a:ext cx="38100" cy="819150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5048250" y="5124450"/>
              <a:ext cx="1445276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服务</a:t>
              </a:r>
              <a:r>
                <a:rPr lang="zh-CN" sz="975" b="1" dirty="0">
                  <a:solidFill>
                    <a:srgbClr val="9A9284"/>
                  </a:solidFill>
                  <a:latin typeface="Consolas"/>
                  <a:ea typeface="Microsoft YaHei"/>
                  <a:cs typeface="Consolas"/>
                </a:rPr>
                <a:t>/services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5053012" y="5393531"/>
              <a:ext cx="137874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怎么合作，多少钱？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5055870" y="5617845"/>
              <a:ext cx="209911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4 种方式：驻场 / 人机 / 工作坊 / 轻量</a:t>
              </a:r>
            </a:p>
          </p:txBody>
        </p:sp>
      </p:grpSp>
      <p:grpSp>
        <p:nvGrpSpPr>
          <p:cNvPr id="54" name="Group 54"/>
          <p:cNvGrpSpPr/>
          <p:nvPr/>
        </p:nvGrpSpPr>
        <p:grpSpPr>
          <a:xfrm>
            <a:off x="1809750" y="4143375"/>
            <a:ext cx="2476500" cy="819150"/>
            <a:chOff x="1809750" y="4143375"/>
            <a:chExt cx="2476500" cy="819150"/>
          </a:xfrm>
        </p:grpSpPr>
        <p:sp>
          <p:nvSpPr>
            <p:cNvPr id="49" name="Rectangle 49"/>
            <p:cNvSpPr/>
            <p:nvPr/>
          </p:nvSpPr>
          <p:spPr>
            <a:xfrm>
              <a:off x="1809750" y="4143375"/>
              <a:ext cx="2476500" cy="81915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50" name="Rectangle 50"/>
            <p:cNvSpPr/>
            <p:nvPr/>
          </p:nvSpPr>
          <p:spPr>
            <a:xfrm>
              <a:off x="1809750" y="4143375"/>
              <a:ext cx="38100" cy="819150"/>
            </a:xfrm>
            <a:prstGeom prst="rect">
              <a:avLst/>
            </a:prstGeom>
            <a:solidFill>
              <a:srgbClr val="17140D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2000250" y="4267200"/>
              <a:ext cx="1035725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资源</a:t>
              </a:r>
              <a:r>
                <a:rPr lang="zh-CN" sz="975" b="1" dirty="0">
                  <a:solidFill>
                    <a:srgbClr val="9A9284"/>
                  </a:solidFill>
                  <a:latin typeface="Consolas"/>
                  <a:ea typeface="Microsoft YaHei"/>
                  <a:cs typeface="Consolas"/>
                </a:rPr>
                <a:t>/docs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2005012" y="4536281"/>
              <a:ext cx="167128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FDE 是什么，我怎么学？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2007870" y="4760595"/>
              <a:ext cx="187709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白皮书 / 工具地图 / 信号库 / 博客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1809750" y="2390775"/>
            <a:ext cx="2476500" cy="819150"/>
            <a:chOff x="1809750" y="2390775"/>
            <a:chExt cx="2476500" cy="819150"/>
          </a:xfrm>
        </p:grpSpPr>
        <p:sp>
          <p:nvSpPr>
            <p:cNvPr id="55" name="Rectangle 55"/>
            <p:cNvSpPr/>
            <p:nvPr/>
          </p:nvSpPr>
          <p:spPr>
            <a:xfrm>
              <a:off x="1809750" y="2390775"/>
              <a:ext cx="2476500" cy="81915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56" name="Rectangle 56"/>
            <p:cNvSpPr/>
            <p:nvPr/>
          </p:nvSpPr>
          <p:spPr>
            <a:xfrm>
              <a:off x="1809750" y="2390775"/>
              <a:ext cx="38100" cy="819150"/>
            </a:xfrm>
            <a:prstGeom prst="rect">
              <a:avLst/>
            </a:prstGeom>
            <a:solidFill>
              <a:srgbClr val="B8552E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2000250" y="2514600"/>
              <a:ext cx="1644801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社区</a:t>
              </a:r>
              <a:r>
                <a:rPr lang="zh-CN" sz="975" b="1" dirty="0">
                  <a:solidFill>
                    <a:srgbClr val="9A9284"/>
                  </a:solidFill>
                  <a:latin typeface="Consolas"/>
                  <a:ea typeface="Microsoft YaHei"/>
                  <a:cs typeface="Consolas"/>
                </a:rPr>
                <a:t>/community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2005012" y="2783681"/>
              <a:ext cx="122872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我怎么加入你们？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2007870" y="3007995"/>
              <a:ext cx="218913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20 人计划 / 社群 / 贡献 / 宣言 / GitHub</a:t>
              </a:r>
            </a:p>
          </p:txBody>
        </p:sp>
      </p:grpSp>
      <p:grpSp>
        <p:nvGrpSpPr>
          <p:cNvPr id="63" name="Group 63"/>
          <p:cNvGrpSpPr/>
          <p:nvPr/>
        </p:nvGrpSpPr>
        <p:grpSpPr>
          <a:xfrm>
            <a:off x="571500" y="5943600"/>
            <a:ext cx="11049000" cy="381000"/>
            <a:chOff x="571500" y="5943600"/>
            <a:chExt cx="11049000" cy="381000"/>
          </a:xfrm>
        </p:grpSpPr>
        <p:sp>
          <p:nvSpPr>
            <p:cNvPr id="61" name="Rectangle 61"/>
            <p:cNvSpPr/>
            <p:nvPr/>
          </p:nvSpPr>
          <p:spPr>
            <a:xfrm>
              <a:off x="571500" y="5943600"/>
              <a:ext cx="11049000" cy="381000"/>
            </a:xfrm>
            <a:prstGeom prst="rect">
              <a:avLst/>
            </a:prstGeom>
            <a:solidFill>
              <a:srgbClr val="F6E7DD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785812" y="6069806"/>
              <a:ext cx="779204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另有两个常驻按钮：</a:t>
              </a:r>
              <a:r>
                <a:rPr lang="zh-CN" sz="1125" b="1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聘请 FDE 团队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 xml:space="preserve">（主，去 /hirefde 填飞书表单）· </a:t>
              </a:r>
              <a:r>
                <a:rPr lang="zh-CN" sz="1125" b="1" dirty="0">
                  <a:solidFill>
                    <a:srgbClr val="B8552E"/>
                  </a:solidFill>
                  <a:latin typeface="Arial"/>
                  <a:ea typeface="Microsoft YaHei"/>
                  <a:cs typeface="Arial"/>
                </a:rPr>
                <a:t>加入 OpenFDE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（次，去 /join 申请 20 人计划）</a:t>
              </a:r>
            </a:p>
          </p:txBody>
        </p:sp>
      </p:grpSp>
      <p:grpSp>
        <p:nvGrpSpPr>
          <p:cNvPr id="67" name="Group 67"/>
          <p:cNvGrpSpPr/>
          <p:nvPr/>
        </p:nvGrpSpPr>
        <p:grpSpPr>
          <a:xfrm>
            <a:off x="571500" y="6517891"/>
            <a:ext cx="11060430" cy="225809"/>
            <a:chOff x="571500" y="6517891"/>
            <a:chExt cx="11060430" cy="225809"/>
          </a:xfrm>
        </p:grpSpPr>
        <p:pic>
          <p:nvPicPr>
            <p:cNvPr id="64" name="Image 6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71500" y="6517891"/>
              <a:ext cx="190500" cy="184919"/>
            </a:xfrm>
            <a:prstGeom prst="rect">
              <a:avLst/>
            </a:prstGeom>
          </p:spPr>
        </p:pic>
        <p:sp>
          <p:nvSpPr>
            <p:cNvPr id="65" name="TextBox 65"/>
            <p:cNvSpPr txBox="1"/>
            <p:nvPr/>
          </p:nvSpPr>
          <p:spPr>
            <a:xfrm>
              <a:off x="845820" y="6560820"/>
              <a:ext cx="74895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openfde.net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11207020" y="6560820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05 / 26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24" grpId="0"/>
      <p:bldP spid="63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</p:sp>
      <p:grpSp>
        <p:nvGrpSpPr>
          <p:cNvPr id="8" name="Group 8"/>
          <p:cNvGrpSpPr/>
          <p:nvPr/>
        </p:nvGrpSpPr>
        <p:grpSpPr>
          <a:xfrm>
            <a:off x="539115" y="571500"/>
            <a:ext cx="11095673" cy="909638"/>
            <a:chOff x="539115" y="571500"/>
            <a:chExt cx="11095673" cy="909638"/>
          </a:xfrm>
        </p:grpSpPr>
        <p:sp>
          <p:nvSpPr>
            <p:cNvPr id="3" name="Rectangle 3"/>
            <p:cNvSpPr/>
            <p:nvPr/>
          </p:nvSpPr>
          <p:spPr>
            <a:xfrm>
              <a:off x="571500" y="571500"/>
              <a:ext cx="381000" cy="28575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557212" y="735806"/>
              <a:ext cx="99732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站点地图 · 三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39115" y="962978"/>
              <a:ext cx="5063395" cy="518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你是哪一种人，就只走哪一条路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9505950" y="1078706"/>
              <a:ext cx="212883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三条路互不干扰，不必看完全站</a:t>
              </a:r>
            </a:p>
          </p:txBody>
        </p:sp>
        <p:sp>
          <p:nvSpPr>
            <p:cNvPr id="7" name="Line 7"/>
            <p:cNvSpPr/>
            <p:nvPr/>
          </p:nvSpPr>
          <p:spPr>
            <a:xfrm>
              <a:off x="571500" y="14478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14288">
              <a:solidFill>
                <a:srgbClr val="D4CDB9"/>
              </a:solidFill>
            </a:ln>
          </p:spPr>
        </p:sp>
      </p:grpSp>
      <p:grpSp>
        <p:nvGrpSpPr>
          <p:cNvPr id="27" name="Group 27"/>
          <p:cNvGrpSpPr/>
          <p:nvPr/>
        </p:nvGrpSpPr>
        <p:grpSpPr>
          <a:xfrm>
            <a:off x="571500" y="1676400"/>
            <a:ext cx="3524250" cy="4381500"/>
            <a:chOff x="571500" y="1676400"/>
            <a:chExt cx="3524250" cy="4381500"/>
          </a:xfrm>
        </p:grpSpPr>
        <p:sp>
          <p:nvSpPr>
            <p:cNvPr id="9" name="Rectangle 9"/>
            <p:cNvSpPr/>
            <p:nvPr/>
          </p:nvSpPr>
          <p:spPr>
            <a:xfrm>
              <a:off x="571500" y="1676400"/>
              <a:ext cx="3524250" cy="4381500"/>
            </a:xfrm>
            <a:prstGeom prst="rect">
              <a:avLst/>
            </a:prstGeom>
            <a:solidFill>
              <a:srgbClr val="EFEBE0"/>
            </a:solidFill>
            <a:ln>
              <a:noFill/>
            </a:ln>
          </p:spPr>
        </p:sp>
        <p:sp>
          <p:nvSpPr>
            <p:cNvPr id="10" name="Rectangle 10"/>
            <p:cNvSpPr/>
            <p:nvPr/>
          </p:nvSpPr>
          <p:spPr>
            <a:xfrm>
              <a:off x="571500" y="1676400"/>
              <a:ext cx="3524250" cy="476250"/>
            </a:xfrm>
            <a:prstGeom prst="rect">
              <a:avLst/>
            </a:prstGeom>
            <a:solidFill>
              <a:srgbClr val="17140D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2081641" y="1803082"/>
              <a:ext cx="503968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50" b="1" dirty="0">
                  <a:solidFill>
                    <a:srgbClr val="F7F5EF"/>
                  </a:solidFill>
                  <a:latin typeface="Georgia"/>
                  <a:ea typeface="KaiTi"/>
                  <a:cs typeface="Georgia"/>
                </a:rPr>
                <a:t>想学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800100" y="2343150"/>
              <a:ext cx="3067050" cy="3486150"/>
            </a:xfrm>
            <a:prstGeom prst="rect">
              <a:avLst/>
            </a:prstGeom>
            <a:solidFill>
              <a:srgbClr val="FFFDF8"/>
            </a:solidFill>
            <a:ln>
              <a:noFill/>
            </a:ln>
          </p:spPr>
        </p:sp>
        <p:grpSp>
          <p:nvGrpSpPr>
            <p:cNvPr id="16" name="Group 16"/>
            <p:cNvGrpSpPr/>
            <p:nvPr/>
          </p:nvGrpSpPr>
          <p:grpSpPr>
            <a:xfrm>
              <a:off x="1108075" y="2635250"/>
              <a:ext cx="222250" cy="254000"/>
              <a:chOff x="1108075" y="2635250"/>
              <a:chExt cx="222250" cy="254000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1108075" y="2635250"/>
                <a:ext cx="222250" cy="254000"/>
              </a:xfrm>
              <a:custGeom>
                <a:avLst/>
                <a:gdLst/>
                <a:ahLst/>
                <a:cxnLst/>
                <a:rect l="l" t="t" r="r" b="b"/>
                <a:pathLst>
                  <a:path w="222250" h="254000">
                    <a:moveTo>
                      <a:pt x="222250" y="0"/>
                    </a:moveTo>
                    <a:lnTo>
                      <a:pt x="222250" y="254000"/>
                    </a:lnTo>
                    <a:lnTo>
                      <a:pt x="31750" y="254000"/>
                    </a:lnTo>
                    <a:cubicBezTo>
                      <a:pt x="14215" y="254000"/>
                      <a:pt x="0" y="239785"/>
                      <a:pt x="0" y="222250"/>
                    </a:cubicBezTo>
                    <a:lnTo>
                      <a:pt x="0" y="31750"/>
                    </a:lnTo>
                    <a:cubicBezTo>
                      <a:pt x="0" y="14215"/>
                      <a:pt x="14215" y="0"/>
                      <a:pt x="31750" y="0"/>
                    </a:cubicBezTo>
                    <a:lnTo>
                      <a:pt x="222250" y="0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1108075" y="2825750"/>
                <a:ext cx="222250" cy="31750"/>
              </a:xfrm>
              <a:custGeom>
                <a:avLst/>
                <a:gdLst/>
                <a:ahLst/>
                <a:cxnLst/>
                <a:rect l="l" t="t" r="r" b="b"/>
                <a:pathLst>
                  <a:path w="222250" h="31750">
                    <a:moveTo>
                      <a:pt x="222250" y="0"/>
                    </a:moveTo>
                    <a:lnTo>
                      <a:pt x="31750" y="0"/>
                    </a:lnTo>
                    <a:cubicBezTo>
                      <a:pt x="14215" y="0"/>
                      <a:pt x="0" y="14215"/>
                      <a:pt x="0" y="31750"/>
                    </a:cubicBez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15" name="Freeform 15"/>
              <p:cNvSpPr/>
              <p:nvPr/>
            </p:nvSpPr>
            <p:spPr>
              <a:xfrm>
                <a:off x="1171575" y="2698750"/>
                <a:ext cx="952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9525">
                    <a:moveTo>
                      <a:pt x="0" y="0"/>
                    </a:moveTo>
                    <a:lnTo>
                      <a:pt x="95250" y="0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</p:grpSp>
        <p:sp>
          <p:nvSpPr>
            <p:cNvPr id="17" name="TextBox 17"/>
            <p:cNvSpPr txBox="1"/>
            <p:nvPr/>
          </p:nvSpPr>
          <p:spPr>
            <a:xfrm>
              <a:off x="1003935" y="3142298"/>
              <a:ext cx="2029027" cy="396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搞懂 FDE 是什么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014412" y="3479006"/>
              <a:ext cx="202382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工程师 / 求职者 / 想转型的人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1028700" y="3771900"/>
              <a:ext cx="2609850" cy="9525"/>
            </a:xfrm>
            <a:custGeom>
              <a:avLst/>
              <a:gdLst/>
              <a:ahLst/>
              <a:cxnLst/>
              <a:rect l="l" t="t" r="r" b="b"/>
              <a:pathLst>
                <a:path w="2609850" h="9525">
                  <a:moveTo>
                    <a:pt x="0" y="0"/>
                  </a:moveTo>
                  <a:lnTo>
                    <a:pt x="2609850" y="0"/>
                  </a:lnTo>
                </a:path>
              </a:pathLst>
            </a:custGeom>
            <a:noFill/>
            <a:ln w="9525">
              <a:solidFill>
                <a:srgbClr val="D4CDB9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12508" y="3900964"/>
              <a:ext cx="130572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C4471F"/>
                  </a:solidFill>
                  <a:latin typeface="Georgia"/>
                  <a:ea typeface="KaiTi"/>
                  <a:cs typeface="Georgia"/>
                </a:rPr>
                <a:t>①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260158" y="3900964"/>
              <a:ext cx="2129314" cy="50673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950"/>
                </a:lnSpc>
              </a:pP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白皮书前三章：什么是 FDE、</a:t>
              </a: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为什么爆火、Palantir 起源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12508" y="4491514"/>
              <a:ext cx="130572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C4471F"/>
                  </a:solidFill>
                  <a:latin typeface="Georgia"/>
                  <a:ea typeface="KaiTi"/>
                  <a:cs typeface="Georgia"/>
                </a:rPr>
                <a:t>②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260158" y="4491514"/>
              <a:ext cx="1878330" cy="50673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950"/>
                </a:lnSpc>
              </a:pP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90 天学习路线 + 8 维能力</a:t>
              </a: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模型 + 面试六类题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12508" y="5082064"/>
              <a:ext cx="130572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C4471F"/>
                  </a:solidFill>
                  <a:latin typeface="Georgia"/>
                  <a:ea typeface="KaiTi"/>
                  <a:cs typeface="Georgia"/>
                </a:rPr>
                <a:t>③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260158" y="5082064"/>
              <a:ext cx="1926907" cy="50673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950"/>
                </a:lnSpc>
              </a:pP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进信号库，按 13 个领域筛</a:t>
              </a: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一手资料，看得见出处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016318" y="5609749"/>
              <a:ext cx="1175409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6A6356"/>
                  </a:solidFill>
                  <a:latin typeface="Consolas"/>
                  <a:ea typeface="Microsoft YaHei"/>
                  <a:cs typeface="Consolas"/>
                </a:rPr>
                <a:t>/docs → /research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4333875" y="1676400"/>
            <a:ext cx="3524250" cy="4381500"/>
            <a:chOff x="4333875" y="1676400"/>
            <a:chExt cx="3524250" cy="4381500"/>
          </a:xfrm>
        </p:grpSpPr>
        <p:sp>
          <p:nvSpPr>
            <p:cNvPr id="28" name="Rectangle 28"/>
            <p:cNvSpPr/>
            <p:nvPr/>
          </p:nvSpPr>
          <p:spPr>
            <a:xfrm>
              <a:off x="4333875" y="1676400"/>
              <a:ext cx="3524250" cy="4381500"/>
            </a:xfrm>
            <a:prstGeom prst="rect">
              <a:avLst/>
            </a:prstGeom>
            <a:solidFill>
              <a:srgbClr val="EFEBE0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4333875" y="1676400"/>
              <a:ext cx="3524250" cy="476250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5844016" y="1803082"/>
              <a:ext cx="503968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50" b="1" dirty="0">
                  <a:solidFill>
                    <a:srgbClr val="F7F5EF"/>
                  </a:solidFill>
                  <a:latin typeface="Georgia"/>
                  <a:ea typeface="KaiTi"/>
                  <a:cs typeface="Georgia"/>
                </a:rPr>
                <a:t>想买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4562475" y="2343150"/>
              <a:ext cx="3067050" cy="3486150"/>
            </a:xfrm>
            <a:prstGeom prst="rect">
              <a:avLst/>
            </a:prstGeom>
            <a:solidFill>
              <a:srgbClr val="FFFDF8"/>
            </a:solidFill>
            <a:ln>
              <a:noFill/>
            </a:ln>
          </p:spPr>
        </p:sp>
        <p:grpSp>
          <p:nvGrpSpPr>
            <p:cNvPr id="35" name="Group 35"/>
            <p:cNvGrpSpPr/>
            <p:nvPr/>
          </p:nvGrpSpPr>
          <p:grpSpPr>
            <a:xfrm>
              <a:off x="4858787" y="2619375"/>
              <a:ext cx="265663" cy="285750"/>
              <a:chOff x="4858787" y="2619375"/>
              <a:chExt cx="265663" cy="285750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4858787" y="2698749"/>
                <a:ext cx="245593" cy="206376"/>
              </a:xfrm>
              <a:custGeom>
                <a:avLst/>
                <a:gdLst/>
                <a:ahLst/>
                <a:cxnLst/>
                <a:rect l="l" t="t" r="r" b="b"/>
                <a:pathLst>
                  <a:path w="245593" h="206376">
                    <a:moveTo>
                      <a:pt x="114851" y="206376"/>
                    </a:moveTo>
                    <a:lnTo>
                      <a:pt x="68401" y="206376"/>
                    </a:lnTo>
                    <a:cubicBezTo>
                      <a:pt x="44894" y="206375"/>
                      <a:pt x="24904" y="189223"/>
                      <a:pt x="21331" y="165990"/>
                    </a:cubicBezTo>
                    <a:lnTo>
                      <a:pt x="1408" y="36577"/>
                    </a:lnTo>
                    <a:cubicBezTo>
                      <a:pt x="0" y="27421"/>
                      <a:pt x="2661" y="18106"/>
                      <a:pt x="8694" y="11076"/>
                    </a:cubicBezTo>
                    <a:cubicBezTo>
                      <a:pt x="14727" y="4045"/>
                      <a:pt x="23529" y="0"/>
                      <a:pt x="32793" y="1"/>
                    </a:cubicBezTo>
                    <a:lnTo>
                      <a:pt x="212800" y="1"/>
                    </a:lnTo>
                    <a:cubicBezTo>
                      <a:pt x="222064" y="0"/>
                      <a:pt x="230866" y="4045"/>
                      <a:pt x="236899" y="11076"/>
                    </a:cubicBezTo>
                    <a:cubicBezTo>
                      <a:pt x="242931" y="18106"/>
                      <a:pt x="245593" y="27421"/>
                      <a:pt x="244185" y="36577"/>
                    </a:cubicBezTo>
                    <a:lnTo>
                      <a:pt x="236247" y="88139"/>
                    </a:ln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4933950" y="2619375"/>
                <a:ext cx="95250" cy="127000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127000">
                    <a:moveTo>
                      <a:pt x="0" y="127000"/>
                    </a:moveTo>
                    <a:lnTo>
                      <a:pt x="0" y="47625"/>
                    </a:lnTo>
                    <a:cubicBezTo>
                      <a:pt x="0" y="21322"/>
                      <a:pt x="21322" y="0"/>
                      <a:pt x="47625" y="0"/>
                    </a:cubicBezTo>
                    <a:cubicBezTo>
                      <a:pt x="73928" y="0"/>
                      <a:pt x="95250" y="21322"/>
                      <a:pt x="95250" y="47625"/>
                    </a:cubicBezTo>
                    <a:lnTo>
                      <a:pt x="95250" y="127000"/>
                    </a:ln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5029200" y="2841625"/>
                <a:ext cx="9525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63500">
                    <a:moveTo>
                      <a:pt x="0" y="31750"/>
                    </a:moveTo>
                    <a:lnTo>
                      <a:pt x="31750" y="63500"/>
                    </a:lnTo>
                    <a:lnTo>
                      <a:pt x="95250" y="0"/>
                    </a:ln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</p:grpSp>
        <p:sp>
          <p:nvSpPr>
            <p:cNvPr id="36" name="TextBox 36"/>
            <p:cNvSpPr txBox="1"/>
            <p:nvPr/>
          </p:nvSpPr>
          <p:spPr>
            <a:xfrm>
              <a:off x="4766310" y="3142298"/>
              <a:ext cx="2083634" cy="396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我的 AI 落不了地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4776788" y="3479006"/>
              <a:ext cx="232386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老板 / 业务负责人 / 数字化负责人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791075" y="3771900"/>
              <a:ext cx="2609850" cy="9525"/>
            </a:xfrm>
            <a:custGeom>
              <a:avLst/>
              <a:gdLst/>
              <a:ahLst/>
              <a:cxnLst/>
              <a:rect l="l" t="t" r="r" b="b"/>
              <a:pathLst>
                <a:path w="2609850" h="9525">
                  <a:moveTo>
                    <a:pt x="0" y="0"/>
                  </a:moveTo>
                  <a:lnTo>
                    <a:pt x="2609850" y="0"/>
                  </a:lnTo>
                </a:path>
              </a:pathLst>
            </a:custGeom>
            <a:noFill/>
            <a:ln w="9525">
              <a:solidFill>
                <a:srgbClr val="D4CDB9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774882" y="3900964"/>
              <a:ext cx="130572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C4471F"/>
                  </a:solidFill>
                  <a:latin typeface="Georgia"/>
                  <a:ea typeface="KaiTi"/>
                  <a:cs typeface="Georgia"/>
                </a:rPr>
                <a:t>①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5022532" y="3900964"/>
              <a:ext cx="1813560" cy="50673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950"/>
                </a:lnSpc>
              </a:pP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解决方案里找你的行业，</a:t>
              </a: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9 个里对号入座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4774882" y="4491514"/>
              <a:ext cx="130572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C4471F"/>
                  </a:solidFill>
                  <a:latin typeface="Georgia"/>
                  <a:ea typeface="KaiTi"/>
                  <a:cs typeface="Georgia"/>
                </a:rPr>
                <a:t>②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5022532" y="4491514"/>
              <a:ext cx="1813560" cy="50673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950"/>
                </a:lnSpc>
              </a:pP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案例里读同行业那一条，</a:t>
              </a: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只看它验收了什么指标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4774882" y="5082064"/>
              <a:ext cx="130572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C4471F"/>
                  </a:solidFill>
                  <a:latin typeface="Georgia"/>
                  <a:ea typeface="KaiTi"/>
                  <a:cs typeface="Georgia"/>
                </a:rPr>
                <a:t>③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5022532" y="5082064"/>
              <a:ext cx="1651635" cy="50673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950"/>
                </a:lnSpc>
              </a:pP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服务页选合作方式，去</a:t>
              </a: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/hirefde 填飞书表单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4778692" y="5609749"/>
              <a:ext cx="270310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6A6356"/>
                  </a:solidFill>
                  <a:latin typeface="Consolas"/>
                  <a:ea typeface="Microsoft YaHei"/>
                  <a:cs typeface="Consolas"/>
                </a:rPr>
                <a:t>/solutions → /cases → /services → /hirefde</a:t>
              </a:r>
            </a:p>
          </p:txBody>
        </p:sp>
      </p:grpSp>
      <p:grpSp>
        <p:nvGrpSpPr>
          <p:cNvPr id="66" name="Group 66"/>
          <p:cNvGrpSpPr/>
          <p:nvPr/>
        </p:nvGrpSpPr>
        <p:grpSpPr>
          <a:xfrm>
            <a:off x="8096250" y="1676400"/>
            <a:ext cx="3524250" cy="4381500"/>
            <a:chOff x="8096250" y="1676400"/>
            <a:chExt cx="3524250" cy="4381500"/>
          </a:xfrm>
        </p:grpSpPr>
        <p:sp>
          <p:nvSpPr>
            <p:cNvPr id="47" name="Rectangle 47"/>
            <p:cNvSpPr/>
            <p:nvPr/>
          </p:nvSpPr>
          <p:spPr>
            <a:xfrm>
              <a:off x="8096250" y="1676400"/>
              <a:ext cx="3524250" cy="4381500"/>
            </a:xfrm>
            <a:prstGeom prst="rect">
              <a:avLst/>
            </a:prstGeom>
            <a:solidFill>
              <a:srgbClr val="EFEBE0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8096250" y="1676400"/>
              <a:ext cx="3524250" cy="476250"/>
            </a:xfrm>
            <a:prstGeom prst="rect">
              <a:avLst/>
            </a:prstGeom>
            <a:solidFill>
              <a:srgbClr val="B8552E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9606391" y="1803082"/>
              <a:ext cx="503968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50" b="1" dirty="0">
                  <a:solidFill>
                    <a:srgbClr val="F7F5EF"/>
                  </a:solidFill>
                  <a:latin typeface="Georgia"/>
                  <a:ea typeface="KaiTi"/>
                  <a:cs typeface="Georgia"/>
                </a:rPr>
                <a:t>想干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8324850" y="2343150"/>
              <a:ext cx="3067050" cy="3486150"/>
            </a:xfrm>
            <a:prstGeom prst="rect">
              <a:avLst/>
            </a:prstGeom>
            <a:solidFill>
              <a:srgbClr val="FFFDF8"/>
            </a:solidFill>
            <a:ln>
              <a:noFill/>
            </a:ln>
          </p:spPr>
        </p:sp>
        <p:grpSp>
          <p:nvGrpSpPr>
            <p:cNvPr id="55" name="Group 55"/>
            <p:cNvGrpSpPr/>
            <p:nvPr/>
          </p:nvGrpSpPr>
          <p:grpSpPr>
            <a:xfrm>
              <a:off x="8601075" y="2619375"/>
              <a:ext cx="285750" cy="295275"/>
              <a:chOff x="8601075" y="2619375"/>
              <a:chExt cx="285750" cy="295275"/>
            </a:xfrm>
          </p:grpSpPr>
          <p:sp>
            <p:nvSpPr>
              <p:cNvPr id="51" name="Freeform 51"/>
              <p:cNvSpPr/>
              <p:nvPr/>
            </p:nvSpPr>
            <p:spPr>
              <a:xfrm>
                <a:off x="8759825" y="276225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159"/>
                    </a:lnTo>
                  </a:path>
                </a:pathLst>
              </a:custGeom>
              <a:noFill/>
              <a:ln w="19050">
                <a:solidFill>
                  <a:srgbClr val="B8552E"/>
                </a:solidFill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8601075" y="2905125"/>
                <a:ext cx="2857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85750" h="9525">
                    <a:moveTo>
                      <a:pt x="0" y="0"/>
                    </a:moveTo>
                    <a:lnTo>
                      <a:pt x="285750" y="0"/>
                    </a:lnTo>
                  </a:path>
                </a:pathLst>
              </a:custGeom>
              <a:noFill/>
              <a:ln w="19050">
                <a:solidFill>
                  <a:srgbClr val="B8552E"/>
                </a:solidFill>
              </a:ln>
            </p:spPr>
          </p:sp>
          <p:sp>
            <p:nvSpPr>
              <p:cNvPr id="53" name="Freeform 53"/>
              <p:cNvSpPr/>
              <p:nvPr/>
            </p:nvSpPr>
            <p:spPr>
              <a:xfrm>
                <a:off x="8632825" y="2619375"/>
                <a:ext cx="190500" cy="285750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285750">
                    <a:moveTo>
                      <a:pt x="0" y="285750"/>
                    </a:moveTo>
                    <a:lnTo>
                      <a:pt x="0" y="31750"/>
                    </a:lnTo>
                    <a:cubicBezTo>
                      <a:pt x="0" y="14215"/>
                      <a:pt x="14215" y="0"/>
                      <a:pt x="31750" y="0"/>
                    </a:cubicBezTo>
                    <a:lnTo>
                      <a:pt x="127000" y="0"/>
                    </a:lnTo>
                    <a:moveTo>
                      <a:pt x="190500" y="166688"/>
                    </a:moveTo>
                    <a:lnTo>
                      <a:pt x="190500" y="285750"/>
                    </a:lnTo>
                  </a:path>
                </a:pathLst>
              </a:custGeom>
              <a:noFill/>
              <a:ln w="19050">
                <a:solidFill>
                  <a:srgbClr val="B8552E"/>
                </a:solidFill>
              </a:ln>
            </p:spPr>
          </p:sp>
          <p:sp>
            <p:nvSpPr>
              <p:cNvPr id="54" name="Freeform 54"/>
              <p:cNvSpPr/>
              <p:nvPr/>
            </p:nvSpPr>
            <p:spPr>
              <a:xfrm>
                <a:off x="8775700" y="2635250"/>
                <a:ext cx="111125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111125" h="95250">
                    <a:moveTo>
                      <a:pt x="111125" y="47625"/>
                    </a:moveTo>
                    <a:lnTo>
                      <a:pt x="0" y="47625"/>
                    </a:lnTo>
                    <a:moveTo>
                      <a:pt x="47625" y="0"/>
                    </a:moveTo>
                    <a:lnTo>
                      <a:pt x="0" y="47625"/>
                    </a:lnTo>
                    <a:lnTo>
                      <a:pt x="47625" y="95250"/>
                    </a:lnTo>
                  </a:path>
                </a:pathLst>
              </a:custGeom>
              <a:noFill/>
              <a:ln w="19050">
                <a:solidFill>
                  <a:srgbClr val="B8552E"/>
                </a:solidFill>
              </a:ln>
            </p:spPr>
          </p:sp>
        </p:grpSp>
        <p:sp>
          <p:nvSpPr>
            <p:cNvPr id="56" name="TextBox 56"/>
            <p:cNvSpPr txBox="1"/>
            <p:nvPr/>
          </p:nvSpPr>
          <p:spPr>
            <a:xfrm>
              <a:off x="8528685" y="3142298"/>
              <a:ext cx="2302062" cy="396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我想当 FDE 接项目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8539162" y="3479006"/>
              <a:ext cx="215134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有真实项目经验的工程师 / 顾问</a:t>
              </a:r>
            </a:p>
          </p:txBody>
        </p:sp>
        <p:sp>
          <p:nvSpPr>
            <p:cNvPr id="58" name="Line 58"/>
            <p:cNvSpPr/>
            <p:nvPr/>
          </p:nvSpPr>
          <p:spPr>
            <a:xfrm>
              <a:off x="8553450" y="3771900"/>
              <a:ext cx="2609850" cy="9525"/>
            </a:xfrm>
            <a:custGeom>
              <a:avLst/>
              <a:gdLst/>
              <a:ahLst/>
              <a:cxnLst/>
              <a:rect l="l" t="t" r="r" b="b"/>
              <a:pathLst>
                <a:path w="2609850" h="9525">
                  <a:moveTo>
                    <a:pt x="0" y="0"/>
                  </a:moveTo>
                  <a:lnTo>
                    <a:pt x="2609850" y="0"/>
                  </a:lnTo>
                </a:path>
              </a:pathLst>
            </a:custGeom>
            <a:noFill/>
            <a:ln w="9525">
              <a:solidFill>
                <a:srgbClr val="D4CDB9"/>
              </a:solidFill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8537258" y="3900964"/>
              <a:ext cx="130572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C4471F"/>
                  </a:solidFill>
                  <a:latin typeface="Georgia"/>
                  <a:ea typeface="KaiTi"/>
                  <a:cs typeface="Georgia"/>
                </a:rPr>
                <a:t>①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8784908" y="3900964"/>
              <a:ext cx="1764982" cy="50673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950"/>
                </a:lnSpc>
              </a:pP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看首批 20 人计划的四类</a:t>
              </a: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角色，对一下自己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8537258" y="4491514"/>
              <a:ext cx="130572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C4471F"/>
                  </a:solidFill>
                  <a:latin typeface="Georgia"/>
                  <a:ea typeface="KaiTi"/>
                  <a:cs typeface="Georgia"/>
                </a:rPr>
                <a:t>②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8784908" y="4491514"/>
              <a:ext cx="1813560" cy="50673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950"/>
                </a:lnSpc>
              </a:pP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确认规则：加入不收费、</a:t>
              </a: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费率自报、有项目才合作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8537258" y="5082064"/>
              <a:ext cx="130572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C4471F"/>
                  </a:solidFill>
                  <a:latin typeface="Georgia"/>
                  <a:ea typeface="KaiTi"/>
                  <a:cs typeface="Georgia"/>
                </a:rPr>
                <a:t>③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8784908" y="5082064"/>
              <a:ext cx="1813560" cy="50673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950"/>
                </a:lnSpc>
              </a:pP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进社群看线下活动，然后</a:t>
              </a: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提交申请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8541068" y="5609749"/>
              <a:ext cx="120141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6A6356"/>
                  </a:solidFill>
                  <a:latin typeface="Consolas"/>
                  <a:ea typeface="Microsoft YaHei"/>
                  <a:cs typeface="Consolas"/>
                </a:rPr>
                <a:t>/join → /community</a:t>
              </a:r>
            </a:p>
          </p:txBody>
        </p:sp>
      </p:grpSp>
      <p:grpSp>
        <p:nvGrpSpPr>
          <p:cNvPr id="71" name="Group 71"/>
          <p:cNvGrpSpPr/>
          <p:nvPr/>
        </p:nvGrpSpPr>
        <p:grpSpPr>
          <a:xfrm>
            <a:off x="571500" y="6324600"/>
            <a:ext cx="11060430" cy="419100"/>
            <a:chOff x="571500" y="6324600"/>
            <a:chExt cx="11060430" cy="419100"/>
          </a:xfrm>
        </p:grpSpPr>
        <p:sp>
          <p:nvSpPr>
            <p:cNvPr id="67" name="Line 67"/>
            <p:cNvSpPr/>
            <p:nvPr/>
          </p:nvSpPr>
          <p:spPr>
            <a:xfrm>
              <a:off x="571500" y="63246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ECE7DA"/>
              </a:solidFill>
            </a:ln>
          </p:spPr>
        </p:sp>
        <p:pic>
          <p:nvPicPr>
            <p:cNvPr id="68" name="Image 68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71500" y="6517891"/>
              <a:ext cx="190500" cy="184919"/>
            </a:xfrm>
            <a:prstGeom prst="rect">
              <a:avLst/>
            </a:prstGeom>
          </p:spPr>
        </p:pic>
        <p:sp>
          <p:nvSpPr>
            <p:cNvPr id="69" name="TextBox 69"/>
            <p:cNvSpPr txBox="1"/>
            <p:nvPr/>
          </p:nvSpPr>
          <p:spPr>
            <a:xfrm>
              <a:off x="845820" y="6560820"/>
              <a:ext cx="74895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openfde.net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11207020" y="6560820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06 / 26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1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46" grpId="0"/>
      <p:bldP spid="6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</p:sp>
      <p:grpSp>
        <p:nvGrpSpPr>
          <p:cNvPr id="5" name="Group 5"/>
          <p:cNvGrpSpPr/>
          <p:nvPr/>
        </p:nvGrpSpPr>
        <p:grpSpPr>
          <a:xfrm>
            <a:off x="557212" y="571500"/>
            <a:ext cx="1469880" cy="392906"/>
            <a:chOff x="557212" y="571500"/>
            <a:chExt cx="1469880" cy="392906"/>
          </a:xfrm>
        </p:grpSpPr>
        <p:sp>
          <p:nvSpPr>
            <p:cNvPr id="3" name="Rectangle 3"/>
            <p:cNvSpPr/>
            <p:nvPr/>
          </p:nvSpPr>
          <p:spPr>
            <a:xfrm>
              <a:off x="571500" y="571500"/>
              <a:ext cx="381000" cy="28575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557212" y="735806"/>
              <a:ext cx="146988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概念层 · 一句话定义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571500" y="2266950"/>
            <a:ext cx="9592866" cy="2319338"/>
            <a:chOff x="571500" y="2266950"/>
            <a:chExt cx="9592866" cy="2319338"/>
          </a:xfrm>
        </p:grpSpPr>
        <p:sp>
          <p:nvSpPr>
            <p:cNvPr id="6" name="Rectangle 6"/>
            <p:cNvSpPr/>
            <p:nvPr/>
          </p:nvSpPr>
          <p:spPr>
            <a:xfrm>
              <a:off x="571500" y="2266950"/>
              <a:ext cx="47625" cy="2286000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942975" y="2452688"/>
              <a:ext cx="9221391" cy="2133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5400"/>
                </a:lnSpc>
              </a:pPr>
              <a:r>
                <a:rPr lang="zh-CN" sz="37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FDE ＝ 会写生产代码、能进入客户现场、</a:t>
              </a:r>
              <a:r>
                <a:rPr lang="zh-CN" sz="37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能理解业务结果、还能反哺产品路线图的</a:t>
              </a:r>
              <a:r>
                <a:rPr lang="zh-CN" sz="3750" b="1" dirty="0">
                  <a:solidFill>
                    <a:srgbClr val="C4471F"/>
                  </a:solidFill>
                  <a:latin typeface="Georgia"/>
                  <a:ea typeface="KaiTi"/>
                  <a:cs typeface="Georgia"/>
                </a:rPr>
                <a:t>工程型部署负责人。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990600" y="5048250"/>
            <a:ext cx="10629900" cy="885825"/>
            <a:chOff x="990600" y="5048250"/>
            <a:chExt cx="10629900" cy="885825"/>
          </a:xfrm>
        </p:grpSpPr>
        <p:sp>
          <p:nvSpPr>
            <p:cNvPr id="9" name="Line 9"/>
            <p:cNvSpPr/>
            <p:nvPr/>
          </p:nvSpPr>
          <p:spPr>
            <a:xfrm>
              <a:off x="990600" y="5048250"/>
              <a:ext cx="10629900" cy="9525"/>
            </a:xfrm>
            <a:custGeom>
              <a:avLst/>
              <a:gdLst/>
              <a:ahLst/>
              <a:cxnLst/>
              <a:rect l="l" t="t" r="r" b="b"/>
              <a:pathLst>
                <a:path w="10629900" h="9525">
                  <a:moveTo>
                    <a:pt x="0" y="0"/>
                  </a:moveTo>
                  <a:lnTo>
                    <a:pt x="10629900" y="0"/>
                  </a:lnTo>
                </a:path>
              </a:pathLst>
            </a:custGeom>
            <a:noFill/>
            <a:ln w="9525">
              <a:solidFill>
                <a:srgbClr val="D4CDB9"/>
              </a:solidFill>
            </a:ln>
          </p:spPr>
        </p:sp>
        <p:pic>
          <p:nvPicPr>
            <p:cNvPr id="10" name="Image 10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90600" y="5321089"/>
              <a:ext cx="419100" cy="406822"/>
            </a:xfrm>
            <a:prstGeom prst="rect">
              <a:avLst/>
            </a:prstGeom>
          </p:spPr>
        </p:pic>
        <p:sp>
          <p:nvSpPr>
            <p:cNvPr id="11" name="TextBox 11"/>
            <p:cNvSpPr txBox="1"/>
            <p:nvPr/>
          </p:nvSpPr>
          <p:spPr>
            <a:xfrm>
              <a:off x="1581150" y="5343525"/>
              <a:ext cx="4981575" cy="5905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品牌符号是</a:t>
              </a:r>
              <a:r>
                <a:rPr lang="zh-CN" sz="1500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雨燕</a:t>
              </a: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——终生在飞行中，却把巢筑在客户现场。</a:t>
              </a: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这四个动作缺任何一个，就不是 FDE，而是它的相邻岗位。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976312" y="6298406"/>
            <a:ext cx="10655618" cy="228600"/>
            <a:chOff x="976312" y="6298406"/>
            <a:chExt cx="10655618" cy="228600"/>
          </a:xfrm>
        </p:grpSpPr>
        <p:sp>
          <p:nvSpPr>
            <p:cNvPr id="13" name="TextBox 13"/>
            <p:cNvSpPr txBox="1"/>
            <p:nvPr/>
          </p:nvSpPr>
          <p:spPr>
            <a:xfrm>
              <a:off x="976312" y="6298406"/>
              <a:ext cx="379404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来源：站点源码 src/data/site.ts 中的 ONELINER 常量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1207020" y="632269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07 / 26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6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8" grpId="0"/>
      <p:bldP spid="1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</p:sp>
      <p:grpSp>
        <p:nvGrpSpPr>
          <p:cNvPr id="8" name="Group 8"/>
          <p:cNvGrpSpPr/>
          <p:nvPr/>
        </p:nvGrpSpPr>
        <p:grpSpPr>
          <a:xfrm>
            <a:off x="539115" y="571500"/>
            <a:ext cx="11095672" cy="909638"/>
            <a:chOff x="539115" y="571500"/>
            <a:chExt cx="11095672" cy="909638"/>
          </a:xfrm>
        </p:grpSpPr>
        <p:sp>
          <p:nvSpPr>
            <p:cNvPr id="3" name="Rectangle 3"/>
            <p:cNvSpPr/>
            <p:nvPr/>
          </p:nvSpPr>
          <p:spPr>
            <a:xfrm>
              <a:off x="571500" y="571500"/>
              <a:ext cx="381000" cy="28575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557212" y="735806"/>
              <a:ext cx="115484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概念层 · 四个面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39115" y="962978"/>
              <a:ext cx="2992536" cy="518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FDE 的四个面 · 4C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9355931" y="1078706"/>
              <a:ext cx="22788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四个等权的面，不是四个先后步骤</a:t>
              </a:r>
            </a:p>
          </p:txBody>
        </p:sp>
        <p:sp>
          <p:nvSpPr>
            <p:cNvPr id="7" name="Line 7"/>
            <p:cNvSpPr/>
            <p:nvPr/>
          </p:nvSpPr>
          <p:spPr>
            <a:xfrm>
              <a:off x="571500" y="14478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14288">
              <a:solidFill>
                <a:srgbClr val="D4CDB9"/>
              </a:solidFill>
            </a:ln>
          </p:spPr>
        </p:sp>
      </p:grpSp>
      <p:grpSp>
        <p:nvGrpSpPr>
          <p:cNvPr id="13" name="Group 13"/>
          <p:cNvGrpSpPr/>
          <p:nvPr/>
        </p:nvGrpSpPr>
        <p:grpSpPr>
          <a:xfrm>
            <a:off x="4191000" y="2524125"/>
            <a:ext cx="3810000" cy="2484787"/>
            <a:chOff x="4191000" y="2524125"/>
            <a:chExt cx="3810000" cy="2484787"/>
          </a:xfrm>
        </p:grpSpPr>
        <p:sp>
          <p:nvSpPr>
            <p:cNvPr id="9" name="Line 9"/>
            <p:cNvSpPr/>
            <p:nvPr/>
          </p:nvSpPr>
          <p:spPr>
            <a:xfrm>
              <a:off x="4191000" y="2524125"/>
              <a:ext cx="706088" cy="86963"/>
            </a:xfrm>
            <a:custGeom>
              <a:avLst/>
              <a:gdLst/>
              <a:ahLst/>
              <a:cxnLst/>
              <a:rect l="l" t="t" r="r" b="b"/>
              <a:pathLst>
                <a:path w="706088" h="86963">
                  <a:moveTo>
                    <a:pt x="706088" y="86963"/>
                  </a:moveTo>
                  <a:lnTo>
                    <a:pt x="0" y="0"/>
                  </a:lnTo>
                </a:path>
              </a:pathLst>
            </a:custGeom>
            <a:noFill/>
            <a:ln w="14288">
              <a:solidFill>
                <a:srgbClr val="D4CDB9"/>
              </a:solidFill>
              <a:prstDash val="dash"/>
            </a:ln>
          </p:spPr>
        </p:sp>
        <p:sp>
          <p:nvSpPr>
            <p:cNvPr id="10" name="Line 10"/>
            <p:cNvSpPr/>
            <p:nvPr/>
          </p:nvSpPr>
          <p:spPr>
            <a:xfrm>
              <a:off x="7294912" y="2524125"/>
              <a:ext cx="706088" cy="86963"/>
            </a:xfrm>
            <a:custGeom>
              <a:avLst/>
              <a:gdLst/>
              <a:ahLst/>
              <a:cxnLst/>
              <a:rect l="l" t="t" r="r" b="b"/>
              <a:pathLst>
                <a:path w="706088" h="86963">
                  <a:moveTo>
                    <a:pt x="0" y="86963"/>
                  </a:moveTo>
                  <a:lnTo>
                    <a:pt x="706088" y="0"/>
                  </a:lnTo>
                </a:path>
              </a:pathLst>
            </a:custGeom>
            <a:noFill/>
            <a:ln w="14288">
              <a:solidFill>
                <a:srgbClr val="D4CDB9"/>
              </a:solidFill>
              <a:prstDash val="dash"/>
            </a:ln>
          </p:spPr>
        </p:sp>
        <p:sp>
          <p:nvSpPr>
            <p:cNvPr id="11" name="Line 11"/>
            <p:cNvSpPr/>
            <p:nvPr/>
          </p:nvSpPr>
          <p:spPr>
            <a:xfrm>
              <a:off x="7294912" y="4714875"/>
              <a:ext cx="706088" cy="294037"/>
            </a:xfrm>
            <a:custGeom>
              <a:avLst/>
              <a:gdLst/>
              <a:ahLst/>
              <a:cxnLst/>
              <a:rect l="l" t="t" r="r" b="b"/>
              <a:pathLst>
                <a:path w="706088" h="294037">
                  <a:moveTo>
                    <a:pt x="0" y="294037"/>
                  </a:moveTo>
                  <a:lnTo>
                    <a:pt x="706088" y="0"/>
                  </a:lnTo>
                </a:path>
              </a:pathLst>
            </a:custGeom>
            <a:noFill/>
            <a:ln w="14288">
              <a:solidFill>
                <a:srgbClr val="D4CDB9"/>
              </a:solidFill>
              <a:prstDash val="dash"/>
            </a:ln>
          </p:spPr>
        </p:sp>
        <p:sp>
          <p:nvSpPr>
            <p:cNvPr id="12" name="Line 12"/>
            <p:cNvSpPr/>
            <p:nvPr/>
          </p:nvSpPr>
          <p:spPr>
            <a:xfrm>
              <a:off x="4191000" y="4714875"/>
              <a:ext cx="706088" cy="294037"/>
            </a:xfrm>
            <a:custGeom>
              <a:avLst/>
              <a:gdLst/>
              <a:ahLst/>
              <a:cxnLst/>
              <a:rect l="l" t="t" r="r" b="b"/>
              <a:pathLst>
                <a:path w="706088" h="294037">
                  <a:moveTo>
                    <a:pt x="706088" y="294037"/>
                  </a:moveTo>
                  <a:lnTo>
                    <a:pt x="0" y="0"/>
                  </a:lnTo>
                </a:path>
              </a:pathLst>
            </a:custGeom>
            <a:noFill/>
            <a:ln w="14288">
              <a:solidFill>
                <a:srgbClr val="D4CDB9"/>
              </a:solidFill>
              <a:prstDash val="dash"/>
            </a:ln>
          </p:spPr>
        </p:sp>
      </p:grpSp>
      <p:grpSp>
        <p:nvGrpSpPr>
          <p:cNvPr id="30" name="Group 30"/>
          <p:cNvGrpSpPr/>
          <p:nvPr/>
        </p:nvGrpSpPr>
        <p:grpSpPr>
          <a:xfrm>
            <a:off x="4477702" y="2191702"/>
            <a:ext cx="3236596" cy="3236596"/>
            <a:chOff x="4477702" y="2191702"/>
            <a:chExt cx="3236596" cy="3236596"/>
          </a:xfrm>
        </p:grpSpPr>
        <p:sp>
          <p:nvSpPr>
            <p:cNvPr id="14" name="Freeform 14"/>
            <p:cNvSpPr/>
            <p:nvPr/>
          </p:nvSpPr>
          <p:spPr>
            <a:xfrm>
              <a:off x="4477702" y="2191702"/>
              <a:ext cx="1587056" cy="1587056"/>
            </a:xfrm>
            <a:custGeom>
              <a:avLst/>
              <a:gdLst/>
              <a:ahLst/>
              <a:cxnLst/>
              <a:rect l="l" t="t" r="r" b="b"/>
              <a:pathLst>
                <a:path w="1587056" h="1587056">
                  <a:moveTo>
                    <a:pt x="723519" y="1587056"/>
                  </a:moveTo>
                  <a:lnTo>
                    <a:pt x="0" y="1561814"/>
                  </a:lnTo>
                  <a:cubicBezTo>
                    <a:pt x="29651" y="711833"/>
                    <a:pt x="711833" y="29651"/>
                    <a:pt x="1561814" y="0"/>
                  </a:cubicBezTo>
                  <a:lnTo>
                    <a:pt x="1587056" y="723519"/>
                  </a:lnTo>
                  <a:cubicBezTo>
                    <a:pt x="1117107" y="739941"/>
                    <a:pt x="739941" y="1117107"/>
                    <a:pt x="723519" y="1587056"/>
                  </a:cubicBezTo>
                  <a:close/>
                </a:path>
              </a:pathLst>
            </a:custGeom>
            <a:solidFill>
              <a:srgbClr val="17140D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072372" y="2695575"/>
              <a:ext cx="269129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7F5EF"/>
                  </a:solidFill>
                  <a:latin typeface="Georgia"/>
                  <a:ea typeface="KaiTi"/>
                  <a:cs typeface="Georgia"/>
                </a:rPr>
                <a:t>C1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053584" y="2953702"/>
              <a:ext cx="30670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EFEBE0"/>
                  </a:solidFill>
                  <a:latin typeface="Arial"/>
                  <a:ea typeface="Microsoft YaHei"/>
                  <a:cs typeface="Arial"/>
                </a:rPr>
                <a:t>现场</a:t>
              </a:r>
            </a:p>
          </p:txBody>
        </p:sp>
        <p:sp>
          <p:nvSpPr>
            <p:cNvPr id="17" name="Freeform 17"/>
            <p:cNvSpPr/>
            <p:nvPr/>
          </p:nvSpPr>
          <p:spPr>
            <a:xfrm>
              <a:off x="6127242" y="2191702"/>
              <a:ext cx="1587056" cy="1587056"/>
            </a:xfrm>
            <a:custGeom>
              <a:avLst/>
              <a:gdLst/>
              <a:ahLst/>
              <a:cxnLst/>
              <a:rect l="l" t="t" r="r" b="b"/>
              <a:pathLst>
                <a:path w="1587056" h="1587056">
                  <a:moveTo>
                    <a:pt x="0" y="723519"/>
                  </a:moveTo>
                  <a:lnTo>
                    <a:pt x="25241" y="0"/>
                  </a:lnTo>
                  <a:cubicBezTo>
                    <a:pt x="875223" y="29651"/>
                    <a:pt x="1557405" y="711833"/>
                    <a:pt x="1587056" y="1561814"/>
                  </a:cubicBezTo>
                  <a:lnTo>
                    <a:pt x="863537" y="1587056"/>
                  </a:lnTo>
                  <a:cubicBezTo>
                    <a:pt x="847115" y="1117107"/>
                    <a:pt x="469948" y="739941"/>
                    <a:pt x="0" y="723519"/>
                  </a:cubicBezTo>
                  <a:close/>
                </a:path>
              </a:pathLst>
            </a:custGeom>
            <a:solidFill>
              <a:srgbClr val="C4471F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850499" y="2695575"/>
              <a:ext cx="269129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7F5EF"/>
                  </a:solidFill>
                  <a:latin typeface="Georgia"/>
                  <a:ea typeface="KaiTi"/>
                  <a:cs typeface="Georgia"/>
                </a:rPr>
                <a:t>C2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831711" y="2953702"/>
              <a:ext cx="30670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F6E7DD"/>
                  </a:solidFill>
                  <a:latin typeface="Arial"/>
                  <a:ea typeface="Microsoft YaHei"/>
                  <a:cs typeface="Arial"/>
                </a:rPr>
                <a:t>代码</a:t>
              </a:r>
            </a:p>
          </p:txBody>
        </p:sp>
        <p:sp>
          <p:nvSpPr>
            <p:cNvPr id="20" name="Freeform 20"/>
            <p:cNvSpPr/>
            <p:nvPr/>
          </p:nvSpPr>
          <p:spPr>
            <a:xfrm>
              <a:off x="6127242" y="3841242"/>
              <a:ext cx="1587056" cy="1587055"/>
            </a:xfrm>
            <a:custGeom>
              <a:avLst/>
              <a:gdLst/>
              <a:ahLst/>
              <a:cxnLst/>
              <a:rect l="l" t="t" r="r" b="b"/>
              <a:pathLst>
                <a:path w="1587056" h="1587055">
                  <a:moveTo>
                    <a:pt x="863537" y="0"/>
                  </a:moveTo>
                  <a:lnTo>
                    <a:pt x="1587056" y="25241"/>
                  </a:lnTo>
                  <a:cubicBezTo>
                    <a:pt x="1557405" y="875223"/>
                    <a:pt x="875223" y="1557405"/>
                    <a:pt x="25241" y="1587055"/>
                  </a:cubicBezTo>
                  <a:lnTo>
                    <a:pt x="0" y="863537"/>
                  </a:lnTo>
                  <a:cubicBezTo>
                    <a:pt x="469948" y="847115"/>
                    <a:pt x="847115" y="469948"/>
                    <a:pt x="863537" y="0"/>
                  </a:cubicBezTo>
                  <a:close/>
                </a:path>
              </a:pathLst>
            </a:custGeom>
            <a:solidFill>
              <a:srgbClr val="B8552E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850499" y="4476750"/>
              <a:ext cx="269129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7F5EF"/>
                  </a:solidFill>
                  <a:latin typeface="Georgia"/>
                  <a:ea typeface="KaiTi"/>
                  <a:cs typeface="Georgia"/>
                </a:rPr>
                <a:t>C3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831711" y="4734878"/>
              <a:ext cx="30670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F6E7DD"/>
                  </a:solidFill>
                  <a:latin typeface="Arial"/>
                  <a:ea typeface="Microsoft YaHei"/>
                  <a:cs typeface="Arial"/>
                </a:rPr>
                <a:t>校准</a:t>
              </a:r>
            </a:p>
          </p:txBody>
        </p:sp>
        <p:sp>
          <p:nvSpPr>
            <p:cNvPr id="23" name="Freeform 23"/>
            <p:cNvSpPr/>
            <p:nvPr/>
          </p:nvSpPr>
          <p:spPr>
            <a:xfrm>
              <a:off x="4477702" y="3841242"/>
              <a:ext cx="1587056" cy="1587056"/>
            </a:xfrm>
            <a:custGeom>
              <a:avLst/>
              <a:gdLst/>
              <a:ahLst/>
              <a:cxnLst/>
              <a:rect l="l" t="t" r="r" b="b"/>
              <a:pathLst>
                <a:path w="1587056" h="1587056">
                  <a:moveTo>
                    <a:pt x="1587056" y="863537"/>
                  </a:moveTo>
                  <a:lnTo>
                    <a:pt x="1561814" y="1587056"/>
                  </a:lnTo>
                  <a:cubicBezTo>
                    <a:pt x="711833" y="1557405"/>
                    <a:pt x="29651" y="875223"/>
                    <a:pt x="0" y="25241"/>
                  </a:cubicBezTo>
                  <a:lnTo>
                    <a:pt x="723519" y="0"/>
                  </a:lnTo>
                  <a:cubicBezTo>
                    <a:pt x="739941" y="469948"/>
                    <a:pt x="1117107" y="847115"/>
                    <a:pt x="1587056" y="863537"/>
                  </a:cubicBezTo>
                  <a:close/>
                </a:path>
              </a:pathLst>
            </a:custGeom>
            <a:solidFill>
              <a:srgbClr val="2F2B20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5072372" y="4476750"/>
              <a:ext cx="269129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7F5EF"/>
                  </a:solidFill>
                  <a:latin typeface="Georgia"/>
                  <a:ea typeface="KaiTi"/>
                  <a:cs typeface="Georgia"/>
                </a:rPr>
                <a:t>C4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5053584" y="4734878"/>
              <a:ext cx="30670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EFEBE0"/>
                  </a:solidFill>
                  <a:latin typeface="Arial"/>
                  <a:ea typeface="Microsoft YaHei"/>
                  <a:cs typeface="Arial"/>
                </a:rPr>
                <a:t>回流</a:t>
              </a:r>
            </a:p>
          </p:txBody>
        </p:sp>
        <p:sp>
          <p:nvSpPr>
            <p:cNvPr id="26" name="Ellipse 26"/>
            <p:cNvSpPr/>
            <p:nvPr/>
          </p:nvSpPr>
          <p:spPr>
            <a:xfrm>
              <a:off x="5486400" y="3200400"/>
              <a:ext cx="1219200" cy="1219200"/>
            </a:xfrm>
            <a:prstGeom prst="ellipse">
              <a:avLst/>
            </a:prstGeom>
            <a:solidFill>
              <a:srgbClr val="EFEBE0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5894153" y="3490912"/>
              <a:ext cx="403693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2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4C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888593" y="3895249"/>
              <a:ext cx="41481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缺一个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5761827" y="4066699"/>
              <a:ext cx="668345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就不是 FDE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571500" y="1809750"/>
            <a:ext cx="3619500" cy="1428750"/>
            <a:chOff x="571500" y="1809750"/>
            <a:chExt cx="3619500" cy="1428750"/>
          </a:xfrm>
        </p:grpSpPr>
        <p:sp>
          <p:nvSpPr>
            <p:cNvPr id="31" name="Rectangle 31"/>
            <p:cNvSpPr/>
            <p:nvPr/>
          </p:nvSpPr>
          <p:spPr>
            <a:xfrm>
              <a:off x="571500" y="1809750"/>
              <a:ext cx="3619500" cy="400050"/>
            </a:xfrm>
            <a:prstGeom prst="rect">
              <a:avLst/>
            </a:prstGeom>
            <a:solidFill>
              <a:srgbClr val="17140D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762000" y="1914525"/>
              <a:ext cx="1802321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7F5EF"/>
                  </a:solidFill>
                  <a:latin typeface="Georgia"/>
                  <a:ea typeface="KaiTi"/>
                  <a:cs typeface="Georgia"/>
                </a:rPr>
                <a:t>C1 · 现场 Context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571500" y="2209800"/>
              <a:ext cx="3619500" cy="102870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grpSp>
          <p:nvGrpSpPr>
            <p:cNvPr id="36" name="Group 36"/>
            <p:cNvGrpSpPr/>
            <p:nvPr/>
          </p:nvGrpSpPr>
          <p:grpSpPr>
            <a:xfrm>
              <a:off x="824485" y="2449296"/>
              <a:ext cx="236979" cy="262600"/>
              <a:chOff x="824485" y="2449296"/>
              <a:chExt cx="236979" cy="262600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902494" y="2527300"/>
                <a:ext cx="80962" cy="80962"/>
              </a:xfrm>
              <a:custGeom>
                <a:avLst/>
                <a:gdLst/>
                <a:ahLst/>
                <a:cxnLst/>
                <a:rect l="l" t="t" r="r" b="b"/>
                <a:pathLst>
                  <a:path w="80962" h="80962">
                    <a:moveTo>
                      <a:pt x="0" y="40481"/>
                    </a:moveTo>
                    <a:cubicBezTo>
                      <a:pt x="0" y="62838"/>
                      <a:pt x="18124" y="80962"/>
                      <a:pt x="40481" y="80962"/>
                    </a:cubicBezTo>
                    <a:cubicBezTo>
                      <a:pt x="62838" y="80962"/>
                      <a:pt x="80962" y="62838"/>
                      <a:pt x="80962" y="40481"/>
                    </a:cubicBezTo>
                    <a:cubicBezTo>
                      <a:pt x="80962" y="18124"/>
                      <a:pt x="62838" y="0"/>
                      <a:pt x="40481" y="0"/>
                    </a:cubicBezTo>
                    <a:cubicBezTo>
                      <a:pt x="18124" y="0"/>
                      <a:pt x="0" y="18124"/>
                      <a:pt x="0" y="40481"/>
                    </a:cubicBez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824485" y="2449296"/>
                <a:ext cx="236979" cy="262600"/>
              </a:xfrm>
              <a:custGeom>
                <a:avLst/>
                <a:gdLst/>
                <a:ahLst/>
                <a:cxnLst/>
                <a:rect l="l" t="t" r="r" b="b"/>
                <a:pathLst>
                  <a:path w="236979" h="262600">
                    <a:moveTo>
                      <a:pt x="194824" y="194819"/>
                    </a:moveTo>
                    <a:lnTo>
                      <a:pt x="137570" y="252073"/>
                    </a:lnTo>
                    <a:cubicBezTo>
                      <a:pt x="127033" y="262600"/>
                      <a:pt x="109960" y="262600"/>
                      <a:pt x="99423" y="252073"/>
                    </a:cubicBezTo>
                    <a:lnTo>
                      <a:pt x="42155" y="194819"/>
                    </a:lnTo>
                    <a:cubicBezTo>
                      <a:pt x="0" y="152662"/>
                      <a:pt x="1" y="84312"/>
                      <a:pt x="42158" y="42156"/>
                    </a:cubicBezTo>
                    <a:cubicBezTo>
                      <a:pt x="84315" y="0"/>
                      <a:pt x="152664" y="0"/>
                      <a:pt x="194821" y="42156"/>
                    </a:cubicBezTo>
                    <a:cubicBezTo>
                      <a:pt x="236978" y="84312"/>
                      <a:pt x="236979" y="152662"/>
                      <a:pt x="194824" y="194819"/>
                    </a:cubicBez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</p:grpSp>
        <p:sp>
          <p:nvSpPr>
            <p:cNvPr id="37" name="TextBox 37"/>
            <p:cNvSpPr txBox="1"/>
            <p:nvPr/>
          </p:nvSpPr>
          <p:spPr>
            <a:xfrm>
              <a:off x="762000" y="2905125"/>
              <a:ext cx="3038475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读懂客户的</a:t>
              </a:r>
              <a:r>
                <a:rPr lang="zh-CN" sz="1500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真实业务、流程与约束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8001000" y="1809750"/>
            <a:ext cx="3619500" cy="1428750"/>
            <a:chOff x="8001000" y="1809750"/>
            <a:chExt cx="3619500" cy="1428750"/>
          </a:xfrm>
        </p:grpSpPr>
        <p:sp>
          <p:nvSpPr>
            <p:cNvPr id="39" name="Rectangle 39"/>
            <p:cNvSpPr/>
            <p:nvPr/>
          </p:nvSpPr>
          <p:spPr>
            <a:xfrm>
              <a:off x="8001000" y="1809750"/>
              <a:ext cx="3619500" cy="400050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8191500" y="1914525"/>
              <a:ext cx="1455777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7F5EF"/>
                  </a:solidFill>
                  <a:latin typeface="Georgia"/>
                  <a:ea typeface="KaiTi"/>
                  <a:cs typeface="Georgia"/>
                </a:rPr>
                <a:t>C2 · 代码 Code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8001000" y="2209800"/>
              <a:ext cx="3619500" cy="102870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grpSp>
          <p:nvGrpSpPr>
            <p:cNvPr id="45" name="Group 45"/>
            <p:cNvGrpSpPr/>
            <p:nvPr/>
          </p:nvGrpSpPr>
          <p:grpSpPr>
            <a:xfrm>
              <a:off x="8251031" y="2473325"/>
              <a:ext cx="242888" cy="215900"/>
              <a:chOff x="8251031" y="2473325"/>
              <a:chExt cx="242888" cy="215900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8251031" y="2527300"/>
                <a:ext cx="53975" cy="107950"/>
              </a:xfrm>
              <a:custGeom>
                <a:avLst/>
                <a:gdLst/>
                <a:ahLst/>
                <a:cxnLst/>
                <a:rect l="l" t="t" r="r" b="b"/>
                <a:pathLst>
                  <a:path w="53975" h="107950">
                    <a:moveTo>
                      <a:pt x="53975" y="0"/>
                    </a:moveTo>
                    <a:lnTo>
                      <a:pt x="0" y="53975"/>
                    </a:lnTo>
                    <a:lnTo>
                      <a:pt x="53975" y="107950"/>
                    </a:ln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8439944" y="2527300"/>
                <a:ext cx="53975" cy="107950"/>
              </a:xfrm>
              <a:custGeom>
                <a:avLst/>
                <a:gdLst/>
                <a:ahLst/>
                <a:cxnLst/>
                <a:rect l="l" t="t" r="r" b="b"/>
                <a:pathLst>
                  <a:path w="53975" h="107950">
                    <a:moveTo>
                      <a:pt x="0" y="0"/>
                    </a:moveTo>
                    <a:lnTo>
                      <a:pt x="53975" y="53975"/>
                    </a:lnTo>
                    <a:lnTo>
                      <a:pt x="0" y="107950"/>
                    </a:ln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  <p:sp>
            <p:nvSpPr>
              <p:cNvPr id="44" name="Freeform 44"/>
              <p:cNvSpPr/>
              <p:nvPr/>
            </p:nvSpPr>
            <p:spPr>
              <a:xfrm>
                <a:off x="8345488" y="2473325"/>
                <a:ext cx="53975" cy="215900"/>
              </a:xfrm>
              <a:custGeom>
                <a:avLst/>
                <a:gdLst/>
                <a:ahLst/>
                <a:cxnLst/>
                <a:rect l="l" t="t" r="r" b="b"/>
                <a:pathLst>
                  <a:path w="53975" h="215900">
                    <a:moveTo>
                      <a:pt x="53975" y="0"/>
                    </a:moveTo>
                    <a:lnTo>
                      <a:pt x="0" y="215900"/>
                    </a:ln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</p:grpSp>
        <p:sp>
          <p:nvSpPr>
            <p:cNvPr id="46" name="TextBox 46"/>
            <p:cNvSpPr txBox="1"/>
            <p:nvPr/>
          </p:nvSpPr>
          <p:spPr>
            <a:xfrm>
              <a:off x="8191500" y="2905125"/>
              <a:ext cx="3038475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亲手把方案</a:t>
              </a:r>
              <a:r>
                <a:rPr lang="zh-CN" sz="1500" b="1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写到生产</a:t>
              </a: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，不是交报告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8001000" y="4000500"/>
            <a:ext cx="3879056" cy="1428750"/>
            <a:chOff x="8001000" y="4000500"/>
            <a:chExt cx="3879056" cy="1428750"/>
          </a:xfrm>
        </p:grpSpPr>
        <p:sp>
          <p:nvSpPr>
            <p:cNvPr id="48" name="Rectangle 48"/>
            <p:cNvSpPr/>
            <p:nvPr/>
          </p:nvSpPr>
          <p:spPr>
            <a:xfrm>
              <a:off x="8001000" y="4000500"/>
              <a:ext cx="3619500" cy="400050"/>
            </a:xfrm>
            <a:prstGeom prst="rect">
              <a:avLst/>
            </a:prstGeom>
            <a:solidFill>
              <a:srgbClr val="B8552E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8191500" y="4105275"/>
              <a:ext cx="2106859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7F5EF"/>
                  </a:solidFill>
                  <a:latin typeface="Georgia"/>
                  <a:ea typeface="KaiTi"/>
                  <a:cs typeface="Georgia"/>
                </a:rPr>
                <a:t>C3 · 校准 Calibration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8001000" y="4400550"/>
              <a:ext cx="3619500" cy="102870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grpSp>
          <p:nvGrpSpPr>
            <p:cNvPr id="56" name="Group 56"/>
            <p:cNvGrpSpPr/>
            <p:nvPr/>
          </p:nvGrpSpPr>
          <p:grpSpPr>
            <a:xfrm>
              <a:off x="8240626" y="4645571"/>
              <a:ext cx="258223" cy="258245"/>
              <a:chOff x="8240626" y="4645571"/>
              <a:chExt cx="258223" cy="258245"/>
            </a:xfrm>
          </p:grpSpPr>
          <p:sp>
            <p:nvSpPr>
              <p:cNvPr id="51" name="Freeform 51"/>
              <p:cNvSpPr/>
              <p:nvPr/>
            </p:nvSpPr>
            <p:spPr>
              <a:xfrm>
                <a:off x="8358981" y="4758531"/>
                <a:ext cx="26987" cy="26988"/>
              </a:xfrm>
              <a:custGeom>
                <a:avLst/>
                <a:gdLst/>
                <a:ahLst/>
                <a:cxnLst/>
                <a:rect l="l" t="t" r="r" b="b"/>
                <a:pathLst>
                  <a:path w="26987" h="26988">
                    <a:moveTo>
                      <a:pt x="0" y="13494"/>
                    </a:moveTo>
                    <a:cubicBezTo>
                      <a:pt x="0" y="20946"/>
                      <a:pt x="6041" y="26988"/>
                      <a:pt x="13494" y="26988"/>
                    </a:cubicBezTo>
                    <a:cubicBezTo>
                      <a:pt x="20946" y="26988"/>
                      <a:pt x="26987" y="20946"/>
                      <a:pt x="26987" y="13494"/>
                    </a:cubicBezTo>
                    <a:cubicBezTo>
                      <a:pt x="26987" y="6041"/>
                      <a:pt x="20946" y="0"/>
                      <a:pt x="13494" y="0"/>
                    </a:cubicBezTo>
                    <a:cubicBezTo>
                      <a:pt x="6041" y="0"/>
                      <a:pt x="0" y="6041"/>
                      <a:pt x="0" y="13494"/>
                    </a:cubicBezTo>
                  </a:path>
                </a:pathLst>
              </a:custGeom>
              <a:noFill/>
              <a:ln w="19050">
                <a:solidFill>
                  <a:srgbClr val="B8552E"/>
                </a:solidFill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8305006" y="4704556"/>
                <a:ext cx="134938" cy="134937"/>
              </a:xfrm>
              <a:custGeom>
                <a:avLst/>
                <a:gdLst/>
                <a:ahLst/>
                <a:cxnLst/>
                <a:rect l="l" t="t" r="r" b="b"/>
                <a:pathLst>
                  <a:path w="134938" h="134937">
                    <a:moveTo>
                      <a:pt x="67469" y="0"/>
                    </a:moveTo>
                    <a:cubicBezTo>
                      <a:pt x="30207" y="0"/>
                      <a:pt x="0" y="30207"/>
                      <a:pt x="0" y="67469"/>
                    </a:cubicBezTo>
                    <a:cubicBezTo>
                      <a:pt x="0" y="104731"/>
                      <a:pt x="30207" y="134937"/>
                      <a:pt x="67469" y="134937"/>
                    </a:cubicBezTo>
                    <a:cubicBezTo>
                      <a:pt x="104731" y="134937"/>
                      <a:pt x="134938" y="104731"/>
                      <a:pt x="134938" y="67469"/>
                    </a:cubicBezTo>
                  </a:path>
                </a:pathLst>
              </a:custGeom>
              <a:noFill/>
              <a:ln w="19050">
                <a:solidFill>
                  <a:srgbClr val="B8552E"/>
                </a:solidFill>
              </a:ln>
            </p:spPr>
          </p:sp>
          <p:sp>
            <p:nvSpPr>
              <p:cNvPr id="53" name="Freeform 53"/>
              <p:cNvSpPr/>
              <p:nvPr/>
            </p:nvSpPr>
            <p:spPr>
              <a:xfrm>
                <a:off x="8240626" y="4645571"/>
                <a:ext cx="258223" cy="258245"/>
              </a:xfrm>
              <a:custGeom>
                <a:avLst/>
                <a:gdLst/>
                <a:ahLst/>
                <a:cxnLst/>
                <a:rect l="l" t="t" r="r" b="b"/>
                <a:pathLst>
                  <a:path w="258223" h="258245">
                    <a:moveTo>
                      <a:pt x="145343" y="5752"/>
                    </a:moveTo>
                    <a:cubicBezTo>
                      <a:pt x="94071" y="0"/>
                      <a:pt x="44761" y="27272"/>
                      <a:pt x="22380" y="73759"/>
                    </a:cubicBezTo>
                    <a:cubicBezTo>
                      <a:pt x="0" y="120246"/>
                      <a:pt x="9435" y="175799"/>
                      <a:pt x="45908" y="212291"/>
                    </a:cubicBezTo>
                    <a:cubicBezTo>
                      <a:pt x="82381" y="248782"/>
                      <a:pt x="137930" y="258245"/>
                      <a:pt x="184428" y="235888"/>
                    </a:cubicBezTo>
                    <a:cubicBezTo>
                      <a:pt x="230927" y="213531"/>
                      <a:pt x="258223" y="164235"/>
                      <a:pt x="252497" y="112960"/>
                    </a:cubicBezTo>
                  </a:path>
                </a:pathLst>
              </a:custGeom>
              <a:noFill/>
              <a:ln w="19050">
                <a:solidFill>
                  <a:srgbClr val="B8552E"/>
                </a:solidFill>
              </a:ln>
            </p:spPr>
          </p:sp>
          <p:sp>
            <p:nvSpPr>
              <p:cNvPr id="54" name="Freeform 54"/>
              <p:cNvSpPr/>
              <p:nvPr/>
            </p:nvSpPr>
            <p:spPr>
              <a:xfrm>
                <a:off x="8412956" y="4650581"/>
                <a:ext cx="80962" cy="80962"/>
              </a:xfrm>
              <a:custGeom>
                <a:avLst/>
                <a:gdLst/>
                <a:ahLst/>
                <a:cxnLst/>
                <a:rect l="l" t="t" r="r" b="b"/>
                <a:pathLst>
                  <a:path w="80962" h="80962">
                    <a:moveTo>
                      <a:pt x="0" y="40481"/>
                    </a:moveTo>
                    <a:lnTo>
                      <a:pt x="0" y="80962"/>
                    </a:lnTo>
                    <a:lnTo>
                      <a:pt x="40481" y="80962"/>
                    </a:lnTo>
                    <a:lnTo>
                      <a:pt x="80962" y="40481"/>
                    </a:lnTo>
                    <a:lnTo>
                      <a:pt x="40481" y="40481"/>
                    </a:lnTo>
                    <a:lnTo>
                      <a:pt x="40481" y="0"/>
                    </a:lnTo>
                    <a:lnTo>
                      <a:pt x="0" y="40481"/>
                    </a:lnTo>
                  </a:path>
                </a:pathLst>
              </a:custGeom>
              <a:noFill/>
              <a:ln w="19050">
                <a:solidFill>
                  <a:srgbClr val="B8552E"/>
                </a:solidFill>
              </a:ln>
            </p:spPr>
          </p:sp>
          <p:sp>
            <p:nvSpPr>
              <p:cNvPr id="55" name="Freeform 55"/>
              <p:cNvSpPr/>
              <p:nvPr/>
            </p:nvSpPr>
            <p:spPr>
              <a:xfrm>
                <a:off x="8372475" y="4731544"/>
                <a:ext cx="40481" cy="40481"/>
              </a:xfrm>
              <a:custGeom>
                <a:avLst/>
                <a:gdLst/>
                <a:ahLst/>
                <a:cxnLst/>
                <a:rect l="l" t="t" r="r" b="b"/>
                <a:pathLst>
                  <a:path w="40481" h="40481">
                    <a:moveTo>
                      <a:pt x="40481" y="0"/>
                    </a:moveTo>
                    <a:lnTo>
                      <a:pt x="0" y="40481"/>
                    </a:lnTo>
                  </a:path>
                </a:pathLst>
              </a:custGeom>
              <a:noFill/>
              <a:ln w="19050">
                <a:solidFill>
                  <a:srgbClr val="B8552E"/>
                </a:solidFill>
              </a:ln>
            </p:spPr>
          </p:sp>
        </p:grpSp>
        <p:sp>
          <p:nvSpPr>
            <p:cNvPr id="57" name="TextBox 57"/>
            <p:cNvSpPr txBox="1"/>
            <p:nvPr/>
          </p:nvSpPr>
          <p:spPr>
            <a:xfrm>
              <a:off x="8191500" y="5095875"/>
              <a:ext cx="3688556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用真实指标与失败模式 eval，</a:t>
              </a:r>
              <a:r>
                <a:rPr lang="zh-CN" sz="1500" b="1" dirty="0">
                  <a:solidFill>
                    <a:srgbClr val="B8552E"/>
                  </a:solidFill>
                  <a:latin typeface="Arial"/>
                  <a:ea typeface="Microsoft YaHei"/>
                  <a:cs typeface="Arial"/>
                </a:rPr>
                <a:t>调到真有用</a:t>
              </a:r>
            </a:p>
          </p:txBody>
        </p:sp>
      </p:grpSp>
      <p:grpSp>
        <p:nvGrpSpPr>
          <p:cNvPr id="66" name="Group 66"/>
          <p:cNvGrpSpPr/>
          <p:nvPr/>
        </p:nvGrpSpPr>
        <p:grpSpPr>
          <a:xfrm>
            <a:off x="571500" y="4000500"/>
            <a:ext cx="3619500" cy="1428750"/>
            <a:chOff x="571500" y="4000500"/>
            <a:chExt cx="3619500" cy="1428750"/>
          </a:xfrm>
        </p:grpSpPr>
        <p:sp>
          <p:nvSpPr>
            <p:cNvPr id="59" name="Rectangle 59"/>
            <p:cNvSpPr/>
            <p:nvPr/>
          </p:nvSpPr>
          <p:spPr>
            <a:xfrm>
              <a:off x="571500" y="4000500"/>
              <a:ext cx="3619500" cy="400050"/>
            </a:xfrm>
            <a:prstGeom prst="rect">
              <a:avLst/>
            </a:prstGeom>
            <a:solidFill>
              <a:srgbClr val="2F2B20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762000" y="4105275"/>
              <a:ext cx="2253877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7F5EF"/>
                  </a:solidFill>
                  <a:latin typeface="Georgia"/>
                  <a:ea typeface="KaiTi"/>
                  <a:cs typeface="Georgia"/>
                </a:rPr>
                <a:t>C4 · 回流 Compounding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571500" y="4400550"/>
              <a:ext cx="3619500" cy="102870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grpSp>
          <p:nvGrpSpPr>
            <p:cNvPr id="64" name="Group 64"/>
            <p:cNvGrpSpPr/>
            <p:nvPr/>
          </p:nvGrpSpPr>
          <p:grpSpPr>
            <a:xfrm>
              <a:off x="835025" y="4658869"/>
              <a:ext cx="215900" cy="226313"/>
              <a:chOff x="835025" y="4658869"/>
              <a:chExt cx="215900" cy="226313"/>
            </a:xfrm>
          </p:grpSpPr>
          <p:sp>
            <p:nvSpPr>
              <p:cNvPr id="62" name="Freeform 62"/>
              <p:cNvSpPr/>
              <p:nvPr/>
            </p:nvSpPr>
            <p:spPr>
              <a:xfrm>
                <a:off x="835025" y="4658869"/>
                <a:ext cx="215900" cy="99663"/>
              </a:xfrm>
              <a:custGeom>
                <a:avLst/>
                <a:gdLst/>
                <a:ahLst/>
                <a:cxnLst/>
                <a:rect l="l" t="t" r="r" b="b"/>
                <a:pathLst>
                  <a:path w="215900" h="99663">
                    <a:moveTo>
                      <a:pt x="215900" y="99663"/>
                    </a:moveTo>
                    <a:cubicBezTo>
                      <a:pt x="209116" y="50849"/>
                      <a:pt x="170505" y="12613"/>
                      <a:pt x="121628" y="6307"/>
                    </a:cubicBezTo>
                    <a:cubicBezTo>
                      <a:pt x="72751" y="0"/>
                      <a:pt x="25699" y="27183"/>
                      <a:pt x="6747" y="72675"/>
                    </a:cubicBezTo>
                    <a:moveTo>
                      <a:pt x="0" y="18700"/>
                    </a:moveTo>
                    <a:lnTo>
                      <a:pt x="0" y="72675"/>
                    </a:lnTo>
                    <a:lnTo>
                      <a:pt x="53975" y="72675"/>
                    </a:lnTo>
                  </a:path>
                </a:pathLst>
              </a:custGeom>
              <a:noFill/>
              <a:ln w="19050">
                <a:solidFill>
                  <a:srgbClr val="2F2B20"/>
                </a:solidFill>
              </a:ln>
            </p:spPr>
          </p:sp>
          <p:sp>
            <p:nvSpPr>
              <p:cNvPr id="63" name="Freeform 63"/>
              <p:cNvSpPr/>
              <p:nvPr/>
            </p:nvSpPr>
            <p:spPr>
              <a:xfrm>
                <a:off x="835025" y="4785519"/>
                <a:ext cx="215900" cy="99663"/>
              </a:xfrm>
              <a:custGeom>
                <a:avLst/>
                <a:gdLst/>
                <a:ahLst/>
                <a:cxnLst/>
                <a:rect l="l" t="t" r="r" b="b"/>
                <a:pathLst>
                  <a:path w="215900" h="99663">
                    <a:moveTo>
                      <a:pt x="0" y="0"/>
                    </a:moveTo>
                    <a:cubicBezTo>
                      <a:pt x="6784" y="48813"/>
                      <a:pt x="45395" y="87049"/>
                      <a:pt x="94272" y="93356"/>
                    </a:cubicBezTo>
                    <a:cubicBezTo>
                      <a:pt x="143149" y="99663"/>
                      <a:pt x="190201" y="72480"/>
                      <a:pt x="209153" y="26987"/>
                    </a:cubicBezTo>
                    <a:moveTo>
                      <a:pt x="215900" y="80962"/>
                    </a:moveTo>
                    <a:lnTo>
                      <a:pt x="215900" y="26987"/>
                    </a:lnTo>
                    <a:lnTo>
                      <a:pt x="161925" y="26987"/>
                    </a:lnTo>
                  </a:path>
                </a:pathLst>
              </a:custGeom>
              <a:noFill/>
              <a:ln w="19050">
                <a:solidFill>
                  <a:srgbClr val="2F2B20"/>
                </a:solidFill>
              </a:ln>
            </p:spPr>
          </p:sp>
        </p:grpSp>
        <p:sp>
          <p:nvSpPr>
            <p:cNvPr id="65" name="TextBox 65"/>
            <p:cNvSpPr txBox="1"/>
            <p:nvPr/>
          </p:nvSpPr>
          <p:spPr>
            <a:xfrm>
              <a:off x="762000" y="5095875"/>
              <a:ext cx="3238500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把现场摩擦沉淀成</a:t>
              </a:r>
              <a:r>
                <a:rPr lang="zh-CN" sz="1500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可复用的产品能力</a:t>
              </a:r>
            </a:p>
          </p:txBody>
        </p:sp>
      </p:grpSp>
      <p:grpSp>
        <p:nvGrpSpPr>
          <p:cNvPr id="69" name="Group 69"/>
          <p:cNvGrpSpPr/>
          <p:nvPr/>
        </p:nvGrpSpPr>
        <p:grpSpPr>
          <a:xfrm>
            <a:off x="571500" y="5734050"/>
            <a:ext cx="11049000" cy="438150"/>
            <a:chOff x="571500" y="5734050"/>
            <a:chExt cx="11049000" cy="438150"/>
          </a:xfrm>
        </p:grpSpPr>
        <p:sp>
          <p:nvSpPr>
            <p:cNvPr id="67" name="Rectangle 67"/>
            <p:cNvSpPr/>
            <p:nvPr/>
          </p:nvSpPr>
          <p:spPr>
            <a:xfrm>
              <a:off x="571500" y="5734050"/>
              <a:ext cx="11049000" cy="438150"/>
            </a:xfrm>
            <a:prstGeom prst="rect">
              <a:avLst/>
            </a:prstGeom>
            <a:solidFill>
              <a:srgbClr val="F6E7DD"/>
            </a:solidFill>
            <a:ln>
              <a:noFill/>
            </a:ln>
          </p:spPr>
        </p:sp>
        <p:sp>
          <p:nvSpPr>
            <p:cNvPr id="68" name="TextBox 68"/>
            <p:cNvSpPr txBox="1"/>
            <p:nvPr/>
          </p:nvSpPr>
          <p:spPr>
            <a:xfrm>
              <a:off x="781050" y="5857875"/>
              <a:ext cx="8569166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只会 C1+C2 的是外包工程师；只会 C1+C3 的是咨询顾问；四个面同时在一个人身上，才叫 FDE。</a:t>
              </a:r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571500" y="6438900"/>
            <a:ext cx="11060430" cy="304800"/>
            <a:chOff x="571500" y="6438900"/>
            <a:chExt cx="11060430" cy="304800"/>
          </a:xfrm>
        </p:grpSpPr>
        <p:sp>
          <p:nvSpPr>
            <p:cNvPr id="70" name="Line 70"/>
            <p:cNvSpPr/>
            <p:nvPr/>
          </p:nvSpPr>
          <p:spPr>
            <a:xfrm>
              <a:off x="571500" y="64389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ECE7DA"/>
              </a:solidFill>
            </a:ln>
          </p:spPr>
        </p:sp>
        <p:pic>
          <p:nvPicPr>
            <p:cNvPr id="71" name="Image 71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71500" y="6517891"/>
              <a:ext cx="190500" cy="184919"/>
            </a:xfrm>
            <a:prstGeom prst="rect">
              <a:avLst/>
            </a:prstGeom>
          </p:spPr>
        </p:pic>
        <p:sp>
          <p:nvSpPr>
            <p:cNvPr id="72" name="TextBox 72"/>
            <p:cNvSpPr txBox="1"/>
            <p:nvPr/>
          </p:nvSpPr>
          <p:spPr>
            <a:xfrm>
              <a:off x="845820" y="6560820"/>
              <a:ext cx="200310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openfde.net · /docs/what-is-fde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11207020" y="6560820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08 / 26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5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9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23" dur="4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0"/>
                            </p:stCondLst>
                            <p:childTnLst>
                              <p:par>
                                <p:cTn id="2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27" dur="4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4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30" grpId="0"/>
      <p:bldP spid="38" grpId="0"/>
      <p:bldP spid="47" grpId="0"/>
      <p:bldP spid="58" grpId="0"/>
      <p:bldP spid="66" grpId="0"/>
      <p:bldP spid="69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</p:sp>
      <p:grpSp>
        <p:nvGrpSpPr>
          <p:cNvPr id="8" name="Group 8"/>
          <p:cNvGrpSpPr/>
          <p:nvPr/>
        </p:nvGrpSpPr>
        <p:grpSpPr>
          <a:xfrm>
            <a:off x="539115" y="571500"/>
            <a:ext cx="11095673" cy="909638"/>
            <a:chOff x="539115" y="571500"/>
            <a:chExt cx="11095673" cy="909638"/>
          </a:xfrm>
        </p:grpSpPr>
        <p:sp>
          <p:nvSpPr>
            <p:cNvPr id="3" name="Rectangle 3"/>
            <p:cNvSpPr/>
            <p:nvPr/>
          </p:nvSpPr>
          <p:spPr>
            <a:xfrm>
              <a:off x="571500" y="571500"/>
              <a:ext cx="381000" cy="28575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557212" y="735806"/>
              <a:ext cx="131236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概念层 · 四个数字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39115" y="962978"/>
              <a:ext cx="4349306" cy="518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四个数字，每个都标了来源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9903500" y="1078706"/>
              <a:ext cx="173128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首页 STATS 原文，未加工</a:t>
              </a:r>
            </a:p>
          </p:txBody>
        </p:sp>
        <p:sp>
          <p:nvSpPr>
            <p:cNvPr id="7" name="Line 7"/>
            <p:cNvSpPr/>
            <p:nvPr/>
          </p:nvSpPr>
          <p:spPr>
            <a:xfrm>
              <a:off x="571500" y="14478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14288">
              <a:solidFill>
                <a:srgbClr val="D4CDB9"/>
              </a:solidFill>
            </a:ln>
          </p:spPr>
        </p:sp>
      </p:grpSp>
      <p:grpSp>
        <p:nvGrpSpPr>
          <p:cNvPr id="18" name="Group 18"/>
          <p:cNvGrpSpPr/>
          <p:nvPr/>
        </p:nvGrpSpPr>
        <p:grpSpPr>
          <a:xfrm>
            <a:off x="571500" y="1714500"/>
            <a:ext cx="5429250" cy="2000250"/>
            <a:chOff x="571500" y="1714500"/>
            <a:chExt cx="5429250" cy="2000250"/>
          </a:xfrm>
        </p:grpSpPr>
        <p:sp>
          <p:nvSpPr>
            <p:cNvPr id="9" name="Rectangle 9"/>
            <p:cNvSpPr/>
            <p:nvPr/>
          </p:nvSpPr>
          <p:spPr>
            <a:xfrm>
              <a:off x="571500" y="1714500"/>
              <a:ext cx="5429250" cy="200025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71500" y="1714500"/>
              <a:ext cx="47625" cy="2000250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grpSp>
          <p:nvGrpSpPr>
            <p:cNvPr id="13" name="Group 13"/>
            <p:cNvGrpSpPr/>
            <p:nvPr/>
          </p:nvGrpSpPr>
          <p:grpSpPr>
            <a:xfrm>
              <a:off x="5350669" y="2034381"/>
              <a:ext cx="328612" cy="237331"/>
              <a:chOff x="5350669" y="2034381"/>
              <a:chExt cx="328612" cy="237331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5624512" y="2034381"/>
                <a:ext cx="54769" cy="109538"/>
              </a:xfrm>
              <a:custGeom>
                <a:avLst/>
                <a:gdLst/>
                <a:ahLst/>
                <a:cxnLst/>
                <a:rect l="l" t="t" r="r" b="b"/>
                <a:pathLst>
                  <a:path w="54769" h="109538">
                    <a:moveTo>
                      <a:pt x="0" y="0"/>
                    </a:moveTo>
                    <a:lnTo>
                      <a:pt x="54769" y="54769"/>
                    </a:lnTo>
                    <a:lnTo>
                      <a:pt x="0" y="109538"/>
                    </a:ln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  <p:sp>
            <p:nvSpPr>
              <p:cNvPr id="12" name="Freeform 12"/>
              <p:cNvSpPr/>
              <p:nvPr/>
            </p:nvSpPr>
            <p:spPr>
              <a:xfrm>
                <a:off x="5350669" y="2089150"/>
                <a:ext cx="328612" cy="182562"/>
              </a:xfrm>
              <a:custGeom>
                <a:avLst/>
                <a:gdLst/>
                <a:ahLst/>
                <a:cxnLst/>
                <a:rect l="l" t="t" r="r" b="b"/>
                <a:pathLst>
                  <a:path w="328612" h="182562">
                    <a:moveTo>
                      <a:pt x="0" y="182562"/>
                    </a:moveTo>
                    <a:lnTo>
                      <a:pt x="91281" y="182562"/>
                    </a:lnTo>
                    <a:lnTo>
                      <a:pt x="219075" y="0"/>
                    </a:lnTo>
                    <a:lnTo>
                      <a:pt x="328612" y="0"/>
                    </a:ln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</p:grpSp>
        <p:sp>
          <p:nvSpPr>
            <p:cNvPr id="14" name="TextBox 14"/>
            <p:cNvSpPr txBox="1"/>
            <p:nvPr/>
          </p:nvSpPr>
          <p:spPr>
            <a:xfrm>
              <a:off x="895350" y="1990725"/>
              <a:ext cx="1707809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FDE 岗位一年增长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68680" y="2564130"/>
              <a:ext cx="1301191" cy="7315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C4471F"/>
                  </a:solidFill>
                  <a:latin typeface="Georgia"/>
                  <a:ea typeface="KaiTi"/>
                  <a:cs typeface="Georgia"/>
                </a:rPr>
                <a:t>729%</a:t>
              </a:r>
            </a:p>
          </p:txBody>
        </p:sp>
        <p:sp>
          <p:nvSpPr>
            <p:cNvPr id="16" name="Line 16"/>
            <p:cNvSpPr/>
            <p:nvPr/>
          </p:nvSpPr>
          <p:spPr>
            <a:xfrm>
              <a:off x="914400" y="3200400"/>
              <a:ext cx="4743450" cy="9525"/>
            </a:xfrm>
            <a:custGeom>
              <a:avLst/>
              <a:gdLst/>
              <a:ahLst/>
              <a:cxnLst/>
              <a:rect l="l" t="t" r="r" b="b"/>
              <a:pathLst>
                <a:path w="4743450" h="9525">
                  <a:moveTo>
                    <a:pt x="0" y="0"/>
                  </a:moveTo>
                  <a:lnTo>
                    <a:pt x="4743450" y="0"/>
                  </a:lnTo>
                </a:path>
              </a:pathLst>
            </a:custGeom>
            <a:noFill/>
            <a:ln w="9525">
              <a:solidFill>
                <a:srgbClr val="ECE7DA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0112" y="3326606"/>
              <a:ext cx="355401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Business Insider：643 → 5,330（2025.4–2026.4）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6191250" y="1714500"/>
            <a:ext cx="5429250" cy="2000250"/>
            <a:chOff x="6191250" y="1714500"/>
            <a:chExt cx="5429250" cy="2000250"/>
          </a:xfrm>
        </p:grpSpPr>
        <p:sp>
          <p:nvSpPr>
            <p:cNvPr id="19" name="Rectangle 19"/>
            <p:cNvSpPr/>
            <p:nvPr/>
          </p:nvSpPr>
          <p:spPr>
            <a:xfrm>
              <a:off x="6191250" y="1714500"/>
              <a:ext cx="5429250" cy="200025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6191250" y="1714500"/>
              <a:ext cx="47625" cy="2000250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grpSp>
          <p:nvGrpSpPr>
            <p:cNvPr id="24" name="Group 24"/>
            <p:cNvGrpSpPr/>
            <p:nvPr/>
          </p:nvGrpSpPr>
          <p:grpSpPr>
            <a:xfrm>
              <a:off x="10982909" y="2016125"/>
              <a:ext cx="297866" cy="297867"/>
              <a:chOff x="10982909" y="2016125"/>
              <a:chExt cx="297866" cy="297867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10988675" y="2016125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164306"/>
                    </a:moveTo>
                    <a:cubicBezTo>
                      <a:pt x="67004" y="172269"/>
                      <a:pt x="119831" y="225096"/>
                      <a:pt x="127794" y="292100"/>
                    </a:cubicBezTo>
                    <a:cubicBezTo>
                      <a:pt x="160602" y="273186"/>
                      <a:pt x="181313" y="238668"/>
                      <a:pt x="182562" y="200819"/>
                    </a:cubicBezTo>
                    <a:cubicBezTo>
                      <a:pt x="245250" y="178766"/>
                      <a:pt x="288482" y="121124"/>
                      <a:pt x="292100" y="54769"/>
                    </a:cubicBezTo>
                    <a:cubicBezTo>
                      <a:pt x="292100" y="24521"/>
                      <a:pt x="267579" y="0"/>
                      <a:pt x="237331" y="0"/>
                    </a:cubicBezTo>
                    <a:cubicBezTo>
                      <a:pt x="170976" y="3618"/>
                      <a:pt x="113334" y="46850"/>
                      <a:pt x="91281" y="109538"/>
                    </a:cubicBezTo>
                    <a:cubicBezTo>
                      <a:pt x="53432" y="110787"/>
                      <a:pt x="18914" y="131498"/>
                      <a:pt x="0" y="164306"/>
                    </a:cubicBez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10982909" y="2198688"/>
                <a:ext cx="115304" cy="115304"/>
              </a:xfrm>
              <a:custGeom>
                <a:avLst/>
                <a:gdLst/>
                <a:ahLst/>
                <a:cxnLst/>
                <a:rect l="l" t="t" r="r" b="b"/>
                <a:pathLst>
                  <a:path w="115304" h="115304">
                    <a:moveTo>
                      <a:pt x="60535" y="0"/>
                    </a:moveTo>
                    <a:cubicBezTo>
                      <a:pt x="21667" y="21943"/>
                      <a:pt x="0" y="65277"/>
                      <a:pt x="5766" y="109538"/>
                    </a:cubicBezTo>
                    <a:cubicBezTo>
                      <a:pt x="50027" y="115304"/>
                      <a:pt x="93360" y="93637"/>
                      <a:pt x="115304" y="54769"/>
                    </a:cubicBez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11171238" y="2089150"/>
                <a:ext cx="36513" cy="36512"/>
              </a:xfrm>
              <a:custGeom>
                <a:avLst/>
                <a:gdLst/>
                <a:ahLst/>
                <a:cxnLst/>
                <a:rect l="l" t="t" r="r" b="b"/>
                <a:pathLst>
                  <a:path w="36513" h="36512">
                    <a:moveTo>
                      <a:pt x="0" y="18256"/>
                    </a:moveTo>
                    <a:cubicBezTo>
                      <a:pt x="0" y="28339"/>
                      <a:pt x="8174" y="36512"/>
                      <a:pt x="18256" y="36512"/>
                    </a:cubicBezTo>
                    <a:cubicBezTo>
                      <a:pt x="28339" y="36512"/>
                      <a:pt x="36513" y="28339"/>
                      <a:pt x="36513" y="18256"/>
                    </a:cubicBezTo>
                    <a:cubicBezTo>
                      <a:pt x="36513" y="8174"/>
                      <a:pt x="28339" y="0"/>
                      <a:pt x="18256" y="0"/>
                    </a:cubicBezTo>
                    <a:cubicBezTo>
                      <a:pt x="8174" y="0"/>
                      <a:pt x="0" y="8174"/>
                      <a:pt x="0" y="18256"/>
                    </a:cubicBez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</p:grpSp>
        <p:sp>
          <p:nvSpPr>
            <p:cNvPr id="25" name="TextBox 25"/>
            <p:cNvSpPr txBox="1"/>
            <p:nvPr/>
          </p:nvSpPr>
          <p:spPr>
            <a:xfrm>
              <a:off x="6515100" y="1990725"/>
              <a:ext cx="2001845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YC 创业公司在招 FDE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88430" y="2564130"/>
              <a:ext cx="1200379" cy="7315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C4471F"/>
                  </a:solidFill>
                  <a:latin typeface="Georgia"/>
                  <a:ea typeface="KaiTi"/>
                  <a:cs typeface="Georgia"/>
                </a:rPr>
                <a:t>100+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34150" y="3200400"/>
              <a:ext cx="4743450" cy="9525"/>
            </a:xfrm>
            <a:custGeom>
              <a:avLst/>
              <a:gdLst/>
              <a:ahLst/>
              <a:cxnLst/>
              <a:rect l="l" t="t" r="r" b="b"/>
              <a:pathLst>
                <a:path w="4743450" h="9525">
                  <a:moveTo>
                    <a:pt x="0" y="0"/>
                  </a:moveTo>
                  <a:lnTo>
                    <a:pt x="4743450" y="0"/>
                  </a:lnTo>
                </a:path>
              </a:pathLst>
            </a:custGeom>
            <a:noFill/>
            <a:ln w="9525">
              <a:solidFill>
                <a:srgbClr val="ECE7DA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519862" y="3326606"/>
              <a:ext cx="2841427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三年前这个数字是 0（Bob McGrew / YC）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571500" y="3905250"/>
            <a:ext cx="5429250" cy="2000250"/>
            <a:chOff x="571500" y="3905250"/>
            <a:chExt cx="5429250" cy="2000250"/>
          </a:xfrm>
        </p:grpSpPr>
        <p:sp>
          <p:nvSpPr>
            <p:cNvPr id="30" name="Rectangle 30"/>
            <p:cNvSpPr/>
            <p:nvPr/>
          </p:nvSpPr>
          <p:spPr>
            <a:xfrm>
              <a:off x="571500" y="3905250"/>
              <a:ext cx="5429250" cy="200025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571500" y="3905250"/>
              <a:ext cx="47625" cy="2000250"/>
            </a:xfrm>
            <a:prstGeom prst="rect">
              <a:avLst/>
            </a:prstGeom>
            <a:solidFill>
              <a:srgbClr val="17140D"/>
            </a:solidFill>
            <a:ln>
              <a:noFill/>
            </a:ln>
          </p:spPr>
        </p:sp>
        <p:grpSp>
          <p:nvGrpSpPr>
            <p:cNvPr id="38" name="Group 38"/>
            <p:cNvGrpSpPr/>
            <p:nvPr/>
          </p:nvGrpSpPr>
          <p:grpSpPr>
            <a:xfrm>
              <a:off x="5350669" y="4225131"/>
              <a:ext cx="346869" cy="310357"/>
              <a:chOff x="5350669" y="4225131"/>
              <a:chExt cx="346869" cy="310357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5350669" y="4225131"/>
                <a:ext cx="328612" cy="255588"/>
              </a:xfrm>
              <a:custGeom>
                <a:avLst/>
                <a:gdLst/>
                <a:ahLst/>
                <a:cxnLst/>
                <a:rect l="l" t="t" r="r" b="b"/>
                <a:pathLst>
                  <a:path w="328612" h="255588">
                    <a:moveTo>
                      <a:pt x="164306" y="255588"/>
                    </a:moveTo>
                    <a:lnTo>
                      <a:pt x="54769" y="255588"/>
                    </a:lnTo>
                    <a:cubicBezTo>
                      <a:pt x="24521" y="255588"/>
                      <a:pt x="0" y="231067"/>
                      <a:pt x="0" y="200819"/>
                    </a:cubicBezTo>
                    <a:lnTo>
                      <a:pt x="0" y="54769"/>
                    </a:lnTo>
                    <a:cubicBezTo>
                      <a:pt x="0" y="24521"/>
                      <a:pt x="24521" y="0"/>
                      <a:pt x="54769" y="0"/>
                    </a:cubicBezTo>
                    <a:lnTo>
                      <a:pt x="273844" y="0"/>
                    </a:lnTo>
                    <a:cubicBezTo>
                      <a:pt x="304092" y="0"/>
                      <a:pt x="328612" y="24521"/>
                      <a:pt x="328612" y="54769"/>
                    </a:cubicBezTo>
                    <a:lnTo>
                      <a:pt x="328612" y="136922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5350669" y="4316412"/>
                <a:ext cx="32861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28612" h="9525">
                    <a:moveTo>
                      <a:pt x="0" y="0"/>
                    </a:moveTo>
                    <a:lnTo>
                      <a:pt x="328612" y="0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5588000" y="4480719"/>
                <a:ext cx="10953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09538" h="9525">
                    <a:moveTo>
                      <a:pt x="0" y="0"/>
                    </a:moveTo>
                    <a:lnTo>
                      <a:pt x="109538" y="0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5642769" y="4425950"/>
                <a:ext cx="54769" cy="109538"/>
              </a:xfrm>
              <a:custGeom>
                <a:avLst/>
                <a:gdLst/>
                <a:ahLst/>
                <a:cxnLst/>
                <a:rect l="l" t="t" r="r" b="b"/>
                <a:pathLst>
                  <a:path w="54769" h="109538">
                    <a:moveTo>
                      <a:pt x="0" y="0"/>
                    </a:moveTo>
                    <a:lnTo>
                      <a:pt x="54769" y="54769"/>
                    </a:lnTo>
                    <a:lnTo>
                      <a:pt x="0" y="109538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5423785" y="4407694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91" y="0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5496719" y="4407694"/>
                <a:ext cx="3651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6512" h="9525">
                    <a:moveTo>
                      <a:pt x="0" y="0"/>
                    </a:moveTo>
                    <a:lnTo>
                      <a:pt x="36512" y="0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</p:grpSp>
        <p:sp>
          <p:nvSpPr>
            <p:cNvPr id="39" name="TextBox 39"/>
            <p:cNvSpPr txBox="1"/>
            <p:nvPr/>
          </p:nvSpPr>
          <p:spPr>
            <a:xfrm>
              <a:off x="895350" y="4181475"/>
              <a:ext cx="2138362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头部公司现金薪资区间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876300" y="4800600"/>
              <a:ext cx="2386489" cy="609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$135K–325K</a:t>
              </a:r>
            </a:p>
          </p:txBody>
        </p:sp>
        <p:sp>
          <p:nvSpPr>
            <p:cNvPr id="41" name="Line 41"/>
            <p:cNvSpPr/>
            <p:nvPr/>
          </p:nvSpPr>
          <p:spPr>
            <a:xfrm>
              <a:off x="914400" y="5391150"/>
              <a:ext cx="4743450" cy="9525"/>
            </a:xfrm>
            <a:custGeom>
              <a:avLst/>
              <a:gdLst/>
              <a:ahLst/>
              <a:cxnLst/>
              <a:rect l="l" t="t" r="r" b="b"/>
              <a:pathLst>
                <a:path w="4743450" h="9525">
                  <a:moveTo>
                    <a:pt x="0" y="0"/>
                  </a:moveTo>
                  <a:lnTo>
                    <a:pt x="4743450" y="0"/>
                  </a:lnTo>
                </a:path>
              </a:pathLst>
            </a:custGeom>
            <a:noFill/>
            <a:ln w="9525">
              <a:solidFill>
                <a:srgbClr val="ECE7DA"/>
              </a:solidFill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900112" y="5517356"/>
              <a:ext cx="296894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OpenAI / Palantir 官方岗位页（另有股权）</a:t>
              </a:r>
            </a:p>
          </p:txBody>
        </p:sp>
      </p:grpSp>
      <p:grpSp>
        <p:nvGrpSpPr>
          <p:cNvPr id="54" name="Group 54"/>
          <p:cNvGrpSpPr/>
          <p:nvPr/>
        </p:nvGrpSpPr>
        <p:grpSpPr>
          <a:xfrm>
            <a:off x="6191250" y="3905250"/>
            <a:ext cx="5429250" cy="2000250"/>
            <a:chOff x="6191250" y="3905250"/>
            <a:chExt cx="5429250" cy="2000250"/>
          </a:xfrm>
        </p:grpSpPr>
        <p:sp>
          <p:nvSpPr>
            <p:cNvPr id="44" name="Rectangle 44"/>
            <p:cNvSpPr/>
            <p:nvPr/>
          </p:nvSpPr>
          <p:spPr>
            <a:xfrm>
              <a:off x="6191250" y="3905250"/>
              <a:ext cx="5429250" cy="200025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45" name="Rectangle 45"/>
            <p:cNvSpPr/>
            <p:nvPr/>
          </p:nvSpPr>
          <p:spPr>
            <a:xfrm>
              <a:off x="6191250" y="3905250"/>
              <a:ext cx="47625" cy="2000250"/>
            </a:xfrm>
            <a:prstGeom prst="rect">
              <a:avLst/>
            </a:prstGeom>
            <a:solidFill>
              <a:srgbClr val="17140D"/>
            </a:solidFill>
            <a:ln>
              <a:noFill/>
            </a:ln>
          </p:spPr>
        </p:sp>
        <p:grpSp>
          <p:nvGrpSpPr>
            <p:cNvPr id="49" name="Group 49"/>
            <p:cNvGrpSpPr/>
            <p:nvPr/>
          </p:nvGrpSpPr>
          <p:grpSpPr>
            <a:xfrm>
              <a:off x="10988675" y="4188619"/>
              <a:ext cx="292100" cy="328612"/>
              <a:chOff x="10988675" y="4188619"/>
              <a:chExt cx="292100" cy="328612"/>
            </a:xfrm>
          </p:grpSpPr>
          <p:sp>
            <p:nvSpPr>
              <p:cNvPr id="46" name="Freeform 46"/>
              <p:cNvSpPr/>
              <p:nvPr/>
            </p:nvSpPr>
            <p:spPr>
              <a:xfrm>
                <a:off x="10988675" y="4188619"/>
                <a:ext cx="292100" cy="109538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109538">
                    <a:moveTo>
                      <a:pt x="0" y="54769"/>
                    </a:moveTo>
                    <a:cubicBezTo>
                      <a:pt x="0" y="85017"/>
                      <a:pt x="65389" y="109538"/>
                      <a:pt x="146050" y="109538"/>
                    </a:cubicBezTo>
                    <a:cubicBezTo>
                      <a:pt x="226711" y="109538"/>
                      <a:pt x="292100" y="85017"/>
                      <a:pt x="292100" y="54769"/>
                    </a:cubicBezTo>
                    <a:cubicBezTo>
                      <a:pt x="292100" y="24521"/>
                      <a:pt x="226711" y="0"/>
                      <a:pt x="146050" y="0"/>
                    </a:cubicBezTo>
                    <a:cubicBezTo>
                      <a:pt x="65389" y="0"/>
                      <a:pt x="0" y="24521"/>
                      <a:pt x="0" y="54769"/>
                    </a:cubicBez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10988675" y="4243388"/>
                <a:ext cx="292100" cy="164306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164306">
                    <a:moveTo>
                      <a:pt x="0" y="0"/>
                    </a:moveTo>
                    <a:lnTo>
                      <a:pt x="0" y="109538"/>
                    </a:lnTo>
                    <a:cubicBezTo>
                      <a:pt x="0" y="139785"/>
                      <a:pt x="65389" y="164306"/>
                      <a:pt x="146050" y="164306"/>
                    </a:cubicBezTo>
                    <a:cubicBezTo>
                      <a:pt x="226711" y="164306"/>
                      <a:pt x="292100" y="139785"/>
                      <a:pt x="292100" y="109538"/>
                    </a:cubicBezTo>
                    <a:lnTo>
                      <a:pt x="292100" y="0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48" name="Freeform 48"/>
              <p:cNvSpPr/>
              <p:nvPr/>
            </p:nvSpPr>
            <p:spPr>
              <a:xfrm>
                <a:off x="10988675" y="4352925"/>
                <a:ext cx="292100" cy="164306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164306">
                    <a:moveTo>
                      <a:pt x="0" y="0"/>
                    </a:moveTo>
                    <a:lnTo>
                      <a:pt x="0" y="109538"/>
                    </a:lnTo>
                    <a:cubicBezTo>
                      <a:pt x="0" y="139785"/>
                      <a:pt x="65389" y="164306"/>
                      <a:pt x="146050" y="164306"/>
                    </a:cubicBezTo>
                    <a:cubicBezTo>
                      <a:pt x="226711" y="164306"/>
                      <a:pt x="292100" y="139785"/>
                      <a:pt x="292100" y="109538"/>
                    </a:cubicBezTo>
                    <a:lnTo>
                      <a:pt x="292100" y="0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</p:grpSp>
        <p:sp>
          <p:nvSpPr>
            <p:cNvPr id="50" name="TextBox 50"/>
            <p:cNvSpPr txBox="1"/>
            <p:nvPr/>
          </p:nvSpPr>
          <p:spPr>
            <a:xfrm>
              <a:off x="6515100" y="4181475"/>
              <a:ext cx="1718310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本站去重参考资料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6488430" y="4735830"/>
              <a:ext cx="1477613" cy="7315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1,251</a:t>
              </a:r>
            </a:p>
          </p:txBody>
        </p:sp>
        <p:sp>
          <p:nvSpPr>
            <p:cNvPr id="52" name="Line 52"/>
            <p:cNvSpPr/>
            <p:nvPr/>
          </p:nvSpPr>
          <p:spPr>
            <a:xfrm>
              <a:off x="6534150" y="5391150"/>
              <a:ext cx="4743450" cy="9525"/>
            </a:xfrm>
            <a:custGeom>
              <a:avLst/>
              <a:gdLst/>
              <a:ahLst/>
              <a:cxnLst/>
              <a:rect l="l" t="t" r="r" b="b"/>
              <a:pathLst>
                <a:path w="4743450" h="9525">
                  <a:moveTo>
                    <a:pt x="0" y="0"/>
                  </a:moveTo>
                  <a:lnTo>
                    <a:pt x="4743450" y="0"/>
                  </a:lnTo>
                </a:path>
              </a:pathLst>
            </a:custGeom>
            <a:noFill/>
            <a:ln w="9525">
              <a:solidFill>
                <a:srgbClr val="ECE7DA"/>
              </a:solidFill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6519862" y="5517356"/>
              <a:ext cx="273641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来自 1,550 条检索条目，覆盖 13 大领域</a:t>
              </a:r>
            </a:p>
          </p:txBody>
        </p:sp>
      </p:grpSp>
      <p:grpSp>
        <p:nvGrpSpPr>
          <p:cNvPr id="56" name="Group 56"/>
          <p:cNvGrpSpPr/>
          <p:nvPr/>
        </p:nvGrpSpPr>
        <p:grpSpPr>
          <a:xfrm>
            <a:off x="552450" y="6067425"/>
            <a:ext cx="7058978" cy="304800"/>
            <a:chOff x="552450" y="6067425"/>
            <a:chExt cx="7058978" cy="304800"/>
          </a:xfrm>
        </p:grpSpPr>
        <p:sp>
          <p:nvSpPr>
            <p:cNvPr id="55" name="TextBox 55"/>
            <p:cNvSpPr txBox="1"/>
            <p:nvPr/>
          </p:nvSpPr>
          <p:spPr>
            <a:xfrm>
              <a:off x="552450" y="6067425"/>
              <a:ext cx="7058978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每个数字下面都写了出处——这是这个网站少见的克制：</a:t>
              </a:r>
              <a:r>
                <a:rPr lang="zh-CN" sz="1500" b="1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不编数字，也不藏来源</a:t>
              </a: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。</a:t>
              </a:r>
            </a:p>
          </p:txBody>
        </p:sp>
      </p:grpSp>
      <p:grpSp>
        <p:nvGrpSpPr>
          <p:cNvPr id="61" name="Group 61"/>
          <p:cNvGrpSpPr/>
          <p:nvPr/>
        </p:nvGrpSpPr>
        <p:grpSpPr>
          <a:xfrm>
            <a:off x="571500" y="6438900"/>
            <a:ext cx="11060430" cy="304800"/>
            <a:chOff x="571500" y="6438900"/>
            <a:chExt cx="11060430" cy="304800"/>
          </a:xfrm>
        </p:grpSpPr>
        <p:sp>
          <p:nvSpPr>
            <p:cNvPr id="57" name="Line 57"/>
            <p:cNvSpPr/>
            <p:nvPr/>
          </p:nvSpPr>
          <p:spPr>
            <a:xfrm>
              <a:off x="571500" y="64389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ECE7DA"/>
              </a:solidFill>
            </a:ln>
          </p:spPr>
        </p:sp>
        <p:pic>
          <p:nvPicPr>
            <p:cNvPr id="58" name="Image 58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71500" y="6517891"/>
              <a:ext cx="190500" cy="184919"/>
            </a:xfrm>
            <a:prstGeom prst="rect">
              <a:avLst/>
            </a:prstGeom>
          </p:spPr>
        </p:pic>
        <p:sp>
          <p:nvSpPr>
            <p:cNvPr id="59" name="TextBox 59"/>
            <p:cNvSpPr txBox="1"/>
            <p:nvPr/>
          </p:nvSpPr>
          <p:spPr>
            <a:xfrm>
              <a:off x="845820" y="6560820"/>
              <a:ext cx="74895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openfde.net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11207020" y="6560820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09 / 26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4)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1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6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9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29" grpId="0"/>
      <p:bldP spid="43" grpId="0"/>
      <p:bldP spid="54" grpId="0"/>
      <p:bldP spid="5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</p:sp>
      <p:grpSp>
        <p:nvGrpSpPr>
          <p:cNvPr id="8" name="Group 8"/>
          <p:cNvGrpSpPr/>
          <p:nvPr/>
        </p:nvGrpSpPr>
        <p:grpSpPr>
          <a:xfrm>
            <a:off x="539115" y="571500"/>
            <a:ext cx="11081385" cy="1343025"/>
            <a:chOff x="539115" y="571500"/>
            <a:chExt cx="11081385" cy="1343025"/>
          </a:xfrm>
        </p:grpSpPr>
        <p:sp>
          <p:nvSpPr>
            <p:cNvPr id="3" name="Rectangle 3"/>
            <p:cNvSpPr/>
            <p:nvPr/>
          </p:nvSpPr>
          <p:spPr>
            <a:xfrm>
              <a:off x="571500" y="571500"/>
              <a:ext cx="381000" cy="28575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557212" y="735806"/>
              <a:ext cx="16274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概念层 · 为什么是现在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39115" y="962978"/>
              <a:ext cx="4331453" cy="518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FDE 不是「售前换了名字」</a:t>
              </a:r>
            </a:p>
          </p:txBody>
        </p:sp>
        <p:sp>
          <p:nvSpPr>
            <p:cNvPr id="6" name="Line 6"/>
            <p:cNvSpPr/>
            <p:nvPr/>
          </p:nvSpPr>
          <p:spPr>
            <a:xfrm>
              <a:off x="571500" y="14478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14288">
              <a:solidFill>
                <a:srgbClr val="D4CDB9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552450" y="1609725"/>
              <a:ext cx="5548789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它是 AI 落地的</a:t>
              </a:r>
              <a:r>
                <a:rPr lang="zh-CN" sz="1500" b="1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组织能力</a:t>
              </a: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——三股力量同时把这个岗位推了出来。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362075" y="2019300"/>
            <a:ext cx="133350" cy="3886200"/>
            <a:chOff x="1362075" y="2019300"/>
            <a:chExt cx="133350" cy="3886200"/>
          </a:xfrm>
        </p:grpSpPr>
        <p:sp>
          <p:nvSpPr>
            <p:cNvPr id="9" name="Line 9"/>
            <p:cNvSpPr/>
            <p:nvPr/>
          </p:nvSpPr>
          <p:spPr>
            <a:xfrm>
              <a:off x="1428750" y="2019300"/>
              <a:ext cx="9525" cy="3771900"/>
            </a:xfrm>
            <a:custGeom>
              <a:avLst/>
              <a:gdLst/>
              <a:ahLst/>
              <a:cxnLst/>
              <a:rect l="l" t="t" r="r" b="b"/>
              <a:pathLst>
                <a:path w="9525" h="3771900">
                  <a:moveTo>
                    <a:pt x="0" y="0"/>
                  </a:moveTo>
                  <a:lnTo>
                    <a:pt x="0" y="3771900"/>
                  </a:lnTo>
                </a:path>
              </a:pathLst>
            </a:custGeom>
            <a:noFill/>
            <a:ln w="28575">
              <a:solidFill>
                <a:srgbClr val="D4CDB9"/>
              </a:solidFill>
            </a:ln>
          </p:spPr>
        </p:sp>
        <p:sp>
          <p:nvSpPr>
            <p:cNvPr id="10" name="Polygon 10"/>
            <p:cNvSpPr/>
            <p:nvPr/>
          </p:nvSpPr>
          <p:spPr>
            <a:xfrm>
              <a:off x="1362075" y="5772150"/>
              <a:ext cx="133350" cy="133350"/>
            </a:xfrm>
            <a:custGeom>
              <a:avLst/>
              <a:gdLst/>
              <a:ahLst/>
              <a:cxnLst/>
              <a:rect l="l" t="t" r="r" b="b"/>
              <a:pathLst>
                <a:path w="133350" h="133350">
                  <a:moveTo>
                    <a:pt x="66675" y="133350"/>
                  </a:moveTo>
                  <a:lnTo>
                    <a:pt x="1333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4471F"/>
            </a:solidFill>
            <a:ln>
              <a:noFill/>
            </a:ln>
          </p:spPr>
        </p:sp>
      </p:grpSp>
      <p:grpSp>
        <p:nvGrpSpPr>
          <p:cNvPr id="19" name="Group 19"/>
          <p:cNvGrpSpPr/>
          <p:nvPr/>
        </p:nvGrpSpPr>
        <p:grpSpPr>
          <a:xfrm>
            <a:off x="1181100" y="2019300"/>
            <a:ext cx="10439400" cy="1152525"/>
            <a:chOff x="1181100" y="2019300"/>
            <a:chExt cx="10439400" cy="1152525"/>
          </a:xfrm>
        </p:grpSpPr>
        <p:sp>
          <p:nvSpPr>
            <p:cNvPr id="12" name="Ellipse 12"/>
            <p:cNvSpPr/>
            <p:nvPr/>
          </p:nvSpPr>
          <p:spPr>
            <a:xfrm>
              <a:off x="1181100" y="2343150"/>
              <a:ext cx="495300" cy="495300"/>
            </a:xfrm>
            <a:prstGeom prst="ellipse">
              <a:avLst/>
            </a:prstGeom>
            <a:solidFill>
              <a:srgbClr val="17140D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294186" y="2505075"/>
              <a:ext cx="269129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7F5EF"/>
                  </a:solidFill>
                  <a:latin typeface="Georgia"/>
                  <a:ea typeface="KaiTi"/>
                  <a:cs typeface="Georgia"/>
                </a:rPr>
                <a:t>01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2000250" y="2019300"/>
              <a:ext cx="9620250" cy="1143000"/>
            </a:xfrm>
            <a:prstGeom prst="rect">
              <a:avLst/>
            </a:prstGeom>
            <a:solidFill>
              <a:srgbClr val="EFEBE0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2000250" y="2019300"/>
              <a:ext cx="38100" cy="1143000"/>
            </a:xfrm>
            <a:prstGeom prst="rect">
              <a:avLst/>
            </a:prstGeom>
            <a:solidFill>
              <a:srgbClr val="17140D"/>
            </a:solidFill>
            <a:ln>
              <a:noFill/>
            </a:ln>
          </p:spPr>
        </p:sp>
        <p:sp>
          <p:nvSpPr>
            <p:cNvPr id="16" name="Freeform 16"/>
            <p:cNvSpPr/>
            <p:nvPr/>
          </p:nvSpPr>
          <p:spPr>
            <a:xfrm>
              <a:off x="11006138" y="2357438"/>
              <a:ext cx="314325" cy="314325"/>
            </a:xfrm>
            <a:custGeom>
              <a:avLst/>
              <a:gdLst/>
              <a:ahLst/>
              <a:cxnLst/>
              <a:rect l="l" t="t" r="r" b="b"/>
              <a:pathLst>
                <a:path w="314325" h="314325">
                  <a:moveTo>
                    <a:pt x="17462" y="69850"/>
                  </a:moveTo>
                  <a:lnTo>
                    <a:pt x="69850" y="69850"/>
                  </a:lnTo>
                  <a:cubicBezTo>
                    <a:pt x="79494" y="69850"/>
                    <a:pt x="87313" y="62032"/>
                    <a:pt x="87313" y="52388"/>
                  </a:cubicBezTo>
                  <a:lnTo>
                    <a:pt x="87313" y="34925"/>
                  </a:lnTo>
                  <a:cubicBezTo>
                    <a:pt x="87313" y="15636"/>
                    <a:pt x="102949" y="0"/>
                    <a:pt x="122237" y="0"/>
                  </a:cubicBezTo>
                  <a:cubicBezTo>
                    <a:pt x="141526" y="0"/>
                    <a:pt x="157162" y="15636"/>
                    <a:pt x="157162" y="34925"/>
                  </a:cubicBezTo>
                  <a:lnTo>
                    <a:pt x="157162" y="52388"/>
                  </a:lnTo>
                  <a:cubicBezTo>
                    <a:pt x="157162" y="62032"/>
                    <a:pt x="164981" y="69850"/>
                    <a:pt x="174625" y="69850"/>
                  </a:cubicBezTo>
                  <a:lnTo>
                    <a:pt x="227012" y="69850"/>
                  </a:lnTo>
                  <a:cubicBezTo>
                    <a:pt x="236657" y="69850"/>
                    <a:pt x="244475" y="77668"/>
                    <a:pt x="244475" y="87313"/>
                  </a:cubicBezTo>
                  <a:lnTo>
                    <a:pt x="244475" y="139700"/>
                  </a:lnTo>
                  <a:cubicBezTo>
                    <a:pt x="244475" y="149344"/>
                    <a:pt x="252293" y="157162"/>
                    <a:pt x="261938" y="157162"/>
                  </a:cubicBezTo>
                  <a:lnTo>
                    <a:pt x="279400" y="157162"/>
                  </a:lnTo>
                  <a:cubicBezTo>
                    <a:pt x="298689" y="157162"/>
                    <a:pt x="314325" y="172799"/>
                    <a:pt x="314325" y="192088"/>
                  </a:cubicBezTo>
                  <a:cubicBezTo>
                    <a:pt x="314325" y="211376"/>
                    <a:pt x="298689" y="227012"/>
                    <a:pt x="279400" y="227012"/>
                  </a:cubicBezTo>
                  <a:lnTo>
                    <a:pt x="261938" y="227012"/>
                  </a:lnTo>
                  <a:cubicBezTo>
                    <a:pt x="252293" y="227012"/>
                    <a:pt x="244475" y="234831"/>
                    <a:pt x="244475" y="244475"/>
                  </a:cubicBezTo>
                  <a:lnTo>
                    <a:pt x="244475" y="296863"/>
                  </a:lnTo>
                  <a:cubicBezTo>
                    <a:pt x="244475" y="306507"/>
                    <a:pt x="236657" y="314325"/>
                    <a:pt x="227012" y="314325"/>
                  </a:cubicBezTo>
                  <a:lnTo>
                    <a:pt x="174625" y="314325"/>
                  </a:lnTo>
                  <a:cubicBezTo>
                    <a:pt x="164981" y="314325"/>
                    <a:pt x="157162" y="306507"/>
                    <a:pt x="157162" y="296863"/>
                  </a:cubicBezTo>
                  <a:lnTo>
                    <a:pt x="157162" y="279400"/>
                  </a:lnTo>
                  <a:cubicBezTo>
                    <a:pt x="157162" y="260111"/>
                    <a:pt x="141526" y="244475"/>
                    <a:pt x="122237" y="244475"/>
                  </a:cubicBezTo>
                  <a:cubicBezTo>
                    <a:pt x="102949" y="244475"/>
                    <a:pt x="87313" y="260111"/>
                    <a:pt x="87313" y="279400"/>
                  </a:cubicBezTo>
                  <a:lnTo>
                    <a:pt x="87313" y="296863"/>
                  </a:lnTo>
                  <a:cubicBezTo>
                    <a:pt x="87313" y="306507"/>
                    <a:pt x="79494" y="314325"/>
                    <a:pt x="69850" y="314325"/>
                  </a:cubicBezTo>
                  <a:lnTo>
                    <a:pt x="17462" y="314325"/>
                  </a:lnTo>
                  <a:cubicBezTo>
                    <a:pt x="7818" y="314325"/>
                    <a:pt x="0" y="306507"/>
                    <a:pt x="0" y="296863"/>
                  </a:cubicBezTo>
                  <a:lnTo>
                    <a:pt x="0" y="244475"/>
                  </a:lnTo>
                  <a:cubicBezTo>
                    <a:pt x="0" y="234831"/>
                    <a:pt x="7818" y="227012"/>
                    <a:pt x="17462" y="227012"/>
                  </a:cubicBezTo>
                  <a:lnTo>
                    <a:pt x="34925" y="227012"/>
                  </a:lnTo>
                  <a:cubicBezTo>
                    <a:pt x="54214" y="227012"/>
                    <a:pt x="69850" y="211376"/>
                    <a:pt x="69850" y="192088"/>
                  </a:cubicBezTo>
                  <a:cubicBezTo>
                    <a:pt x="69850" y="172799"/>
                    <a:pt x="54214" y="157162"/>
                    <a:pt x="34925" y="157162"/>
                  </a:cubicBezTo>
                  <a:lnTo>
                    <a:pt x="17462" y="157162"/>
                  </a:lnTo>
                  <a:cubicBezTo>
                    <a:pt x="7818" y="157162"/>
                    <a:pt x="0" y="149344"/>
                    <a:pt x="0" y="139700"/>
                  </a:cubicBezTo>
                  <a:lnTo>
                    <a:pt x="0" y="87313"/>
                  </a:lnTo>
                  <a:cubicBezTo>
                    <a:pt x="0" y="77668"/>
                    <a:pt x="7818" y="69850"/>
                    <a:pt x="17462" y="69850"/>
                  </a:cubicBezTo>
                </a:path>
              </a:pathLst>
            </a:custGeom>
            <a:noFill/>
            <a:ln w="19050">
              <a:solidFill>
                <a:srgbClr val="17140D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2242185" y="2189798"/>
              <a:ext cx="4759369" cy="396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落地鸿沟</a:t>
              </a:r>
              <a:r>
                <a:rPr lang="zh-CN" sz="1500" b="1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Demo 很快，Production 很难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247900" y="2581275"/>
              <a:ext cx="6705600" cy="5905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企业数据散落在 CRM、ERP、数仓、票据、邮件、权限系统里；真正的 ROI 来自</a:t>
              </a:r>
              <a:r>
                <a:rPr lang="zh-CN" sz="1500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流程重构</a:t>
              </a: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，而不是单点模型调用。FDE 补上从 demo 到 production 的缺口。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1181100" y="3352800"/>
            <a:ext cx="10439400" cy="1152525"/>
            <a:chOff x="1181100" y="3352800"/>
            <a:chExt cx="10439400" cy="1152525"/>
          </a:xfrm>
        </p:grpSpPr>
        <p:sp>
          <p:nvSpPr>
            <p:cNvPr id="20" name="Ellipse 20"/>
            <p:cNvSpPr/>
            <p:nvPr/>
          </p:nvSpPr>
          <p:spPr>
            <a:xfrm>
              <a:off x="1181100" y="3676650"/>
              <a:ext cx="495300" cy="495300"/>
            </a:xfrm>
            <a:prstGeom prst="ellipse">
              <a:avLst/>
            </a:prstGeom>
            <a:solidFill>
              <a:srgbClr val="C4471F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294186" y="3838575"/>
              <a:ext cx="269129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7F5EF"/>
                  </a:solidFill>
                  <a:latin typeface="Georgia"/>
                  <a:ea typeface="KaiTi"/>
                  <a:cs typeface="Georgia"/>
                </a:rPr>
                <a:t>02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2000250" y="3352800"/>
              <a:ext cx="9620250" cy="1143000"/>
            </a:xfrm>
            <a:prstGeom prst="rect">
              <a:avLst/>
            </a:prstGeom>
            <a:solidFill>
              <a:srgbClr val="EFEBE0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2000250" y="3352800"/>
              <a:ext cx="38100" cy="1143000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grpSp>
          <p:nvGrpSpPr>
            <p:cNvPr id="31" name="Group 31"/>
            <p:cNvGrpSpPr/>
            <p:nvPr/>
          </p:nvGrpSpPr>
          <p:grpSpPr>
            <a:xfrm>
              <a:off x="11006138" y="3690938"/>
              <a:ext cx="314325" cy="323849"/>
              <a:chOff x="11006138" y="3690938"/>
              <a:chExt cx="314325" cy="323849"/>
            </a:xfrm>
          </p:grpSpPr>
          <p:sp>
            <p:nvSpPr>
              <p:cNvPr id="24" name="Freeform 24"/>
              <p:cNvSpPr/>
              <p:nvPr/>
            </p:nvSpPr>
            <p:spPr>
              <a:xfrm>
                <a:off x="11006138" y="4005262"/>
                <a:ext cx="3143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14325" h="9525">
                    <a:moveTo>
                      <a:pt x="0" y="0"/>
                    </a:moveTo>
                    <a:lnTo>
                      <a:pt x="314325" y="0"/>
                    </a:ln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  <p:sp>
            <p:nvSpPr>
              <p:cNvPr id="25" name="Freeform 25"/>
              <p:cNvSpPr/>
              <p:nvPr/>
            </p:nvSpPr>
            <p:spPr>
              <a:xfrm>
                <a:off x="11041062" y="3690938"/>
                <a:ext cx="139700" cy="314325"/>
              </a:xfrm>
              <a:custGeom>
                <a:avLst/>
                <a:gdLst/>
                <a:ahLst/>
                <a:cxnLst/>
                <a:rect l="l" t="t" r="r" b="b"/>
                <a:pathLst>
                  <a:path w="139700" h="314325">
                    <a:moveTo>
                      <a:pt x="0" y="314325"/>
                    </a:moveTo>
                    <a:lnTo>
                      <a:pt x="0" y="69850"/>
                    </a:lnTo>
                    <a:lnTo>
                      <a:pt x="139700" y="0"/>
                    </a:lnTo>
                    <a:lnTo>
                      <a:pt x="139700" y="314325"/>
                    </a:ln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  <p:sp>
            <p:nvSpPr>
              <p:cNvPr id="26" name="Freeform 26"/>
              <p:cNvSpPr/>
              <p:nvPr/>
            </p:nvSpPr>
            <p:spPr>
              <a:xfrm>
                <a:off x="11180762" y="3760788"/>
                <a:ext cx="104775" cy="244475"/>
              </a:xfrm>
              <a:custGeom>
                <a:avLst/>
                <a:gdLst/>
                <a:ahLst/>
                <a:cxnLst/>
                <a:rect l="l" t="t" r="r" b="b"/>
                <a:pathLst>
                  <a:path w="104775" h="244475">
                    <a:moveTo>
                      <a:pt x="104775" y="244475"/>
                    </a:moveTo>
                    <a:lnTo>
                      <a:pt x="104775" y="69850"/>
                    </a:lnTo>
                    <a:lnTo>
                      <a:pt x="0" y="0"/>
                    </a:ln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  <p:sp>
            <p:nvSpPr>
              <p:cNvPr id="27" name="Freeform 27"/>
              <p:cNvSpPr/>
              <p:nvPr/>
            </p:nvSpPr>
            <p:spPr>
              <a:xfrm>
                <a:off x="11110912" y="3795712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175"/>
                    </a:ln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11110912" y="38481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175"/>
                    </a:ln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11110912" y="390048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175"/>
                    </a:ln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11110912" y="395287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175"/>
                    </a:ln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</p:grpSp>
        <p:sp>
          <p:nvSpPr>
            <p:cNvPr id="32" name="TextBox 32"/>
            <p:cNvSpPr txBox="1"/>
            <p:nvPr/>
          </p:nvSpPr>
          <p:spPr>
            <a:xfrm>
              <a:off x="2242185" y="3523298"/>
              <a:ext cx="4418076" cy="396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组织化</a:t>
              </a:r>
              <a:r>
                <a:rPr lang="zh-CN" sz="1500" b="1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模型公司在重新拥抱深度部署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2247900" y="3914775"/>
              <a:ext cx="6772275" cy="5905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OpenAI 成立部署公司并收购 Tomoro，Anthropic 联合 Blackstone 成立企业 AI</a:t>
              </a: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服务公司——</a:t>
              </a:r>
              <a:r>
                <a:rPr lang="zh-CN" sz="1500" b="1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「API + 深度部署 + 产品反馈」</a:t>
              </a: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正在成为新的商业化范式。</a:t>
              </a:r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1181100" y="4686300"/>
            <a:ext cx="10439400" cy="1152525"/>
            <a:chOff x="1181100" y="4686300"/>
            <a:chExt cx="10439400" cy="1152525"/>
          </a:xfrm>
        </p:grpSpPr>
        <p:sp>
          <p:nvSpPr>
            <p:cNvPr id="35" name="Ellipse 35"/>
            <p:cNvSpPr/>
            <p:nvPr/>
          </p:nvSpPr>
          <p:spPr>
            <a:xfrm>
              <a:off x="1181100" y="5010150"/>
              <a:ext cx="495300" cy="495300"/>
            </a:xfrm>
            <a:prstGeom prst="ellipse">
              <a:avLst/>
            </a:prstGeom>
            <a:solidFill>
              <a:srgbClr val="B8552E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1294186" y="5172075"/>
              <a:ext cx="269129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7F5EF"/>
                  </a:solidFill>
                  <a:latin typeface="Georgia"/>
                  <a:ea typeface="KaiTi"/>
                  <a:cs typeface="Georgia"/>
                </a:rPr>
                <a:t>03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2000250" y="4686300"/>
              <a:ext cx="9620250" cy="1143000"/>
            </a:xfrm>
            <a:prstGeom prst="rect">
              <a:avLst/>
            </a:prstGeom>
            <a:solidFill>
              <a:srgbClr val="EFEBE0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2000250" y="4686300"/>
              <a:ext cx="38100" cy="1143000"/>
            </a:xfrm>
            <a:prstGeom prst="rect">
              <a:avLst/>
            </a:prstGeom>
            <a:solidFill>
              <a:srgbClr val="B8552E"/>
            </a:solidFill>
            <a:ln>
              <a:noFill/>
            </a:ln>
          </p:spPr>
        </p:sp>
        <p:grpSp>
          <p:nvGrpSpPr>
            <p:cNvPr id="48" name="Group 48"/>
            <p:cNvGrpSpPr/>
            <p:nvPr/>
          </p:nvGrpSpPr>
          <p:grpSpPr>
            <a:xfrm>
              <a:off x="11041062" y="5006975"/>
              <a:ext cx="244476" cy="331787"/>
              <a:chOff x="11041062" y="5006975"/>
              <a:chExt cx="244476" cy="331787"/>
            </a:xfrm>
          </p:grpSpPr>
          <p:sp>
            <p:nvSpPr>
              <p:cNvPr id="39" name="Freeform 39"/>
              <p:cNvSpPr/>
              <p:nvPr/>
            </p:nvSpPr>
            <p:spPr>
              <a:xfrm>
                <a:off x="11058525" y="5041900"/>
                <a:ext cx="20955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209550" h="139700">
                    <a:moveTo>
                      <a:pt x="0" y="34925"/>
                    </a:moveTo>
                    <a:cubicBezTo>
                      <a:pt x="0" y="15636"/>
                      <a:pt x="15636" y="0"/>
                      <a:pt x="34925" y="0"/>
                    </a:cubicBezTo>
                    <a:lnTo>
                      <a:pt x="174625" y="0"/>
                    </a:lnTo>
                    <a:cubicBezTo>
                      <a:pt x="193914" y="0"/>
                      <a:pt x="209550" y="15636"/>
                      <a:pt x="209550" y="34925"/>
                    </a:cubicBezTo>
                    <a:lnTo>
                      <a:pt x="209550" y="104775"/>
                    </a:lnTo>
                    <a:cubicBezTo>
                      <a:pt x="209550" y="124064"/>
                      <a:pt x="193914" y="139700"/>
                      <a:pt x="174625" y="139700"/>
                    </a:cubicBezTo>
                    <a:lnTo>
                      <a:pt x="34925" y="139700"/>
                    </a:lnTo>
                    <a:cubicBezTo>
                      <a:pt x="15636" y="139700"/>
                      <a:pt x="0" y="124064"/>
                      <a:pt x="0" y="104775"/>
                    </a:cubicBezTo>
                    <a:lnTo>
                      <a:pt x="0" y="34925"/>
                    </a:lnTo>
                  </a:path>
                </a:pathLst>
              </a:custGeom>
              <a:noFill/>
              <a:ln w="19050">
                <a:solidFill>
                  <a:srgbClr val="B8552E"/>
                </a:solidFill>
              </a:ln>
            </p:spPr>
          </p:sp>
          <p:sp>
            <p:nvSpPr>
              <p:cNvPr id="40" name="Freeform 40"/>
              <p:cNvSpPr/>
              <p:nvPr/>
            </p:nvSpPr>
            <p:spPr>
              <a:xfrm>
                <a:off x="11163300" y="5006975"/>
                <a:ext cx="9525" cy="349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4925">
                    <a:moveTo>
                      <a:pt x="0" y="0"/>
                    </a:moveTo>
                    <a:lnTo>
                      <a:pt x="0" y="34925"/>
                    </a:lnTo>
                  </a:path>
                </a:pathLst>
              </a:custGeom>
              <a:noFill/>
              <a:ln w="19050">
                <a:solidFill>
                  <a:srgbClr val="B8552E"/>
                </a:solidFill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11110912" y="5181600"/>
                <a:ext cx="9525" cy="157162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57162">
                    <a:moveTo>
                      <a:pt x="0" y="0"/>
                    </a:moveTo>
                    <a:lnTo>
                      <a:pt x="0" y="157162"/>
                    </a:lnTo>
                  </a:path>
                </a:pathLst>
              </a:custGeom>
              <a:noFill/>
              <a:ln w="19050">
                <a:solidFill>
                  <a:srgbClr val="B8552E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11215688" y="5181600"/>
                <a:ext cx="9525" cy="157162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57162">
                    <a:moveTo>
                      <a:pt x="0" y="0"/>
                    </a:moveTo>
                    <a:lnTo>
                      <a:pt x="0" y="157162"/>
                    </a:lnTo>
                  </a:path>
                </a:pathLst>
              </a:custGeom>
              <a:noFill/>
              <a:ln w="19050">
                <a:solidFill>
                  <a:srgbClr val="B8552E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11041062" y="5216525"/>
                <a:ext cx="69850" cy="34925"/>
              </a:xfrm>
              <a:custGeom>
                <a:avLst/>
                <a:gdLst/>
                <a:ahLst/>
                <a:cxnLst/>
                <a:rect l="l" t="t" r="r" b="b"/>
                <a:pathLst>
                  <a:path w="69850" h="34925">
                    <a:moveTo>
                      <a:pt x="0" y="34925"/>
                    </a:moveTo>
                    <a:lnTo>
                      <a:pt x="69850" y="0"/>
                    </a:lnTo>
                  </a:path>
                </a:pathLst>
              </a:custGeom>
              <a:noFill/>
              <a:ln w="19050">
                <a:solidFill>
                  <a:srgbClr val="B8552E"/>
                </a:solidFill>
              </a:ln>
            </p:spPr>
          </p:sp>
          <p:sp>
            <p:nvSpPr>
              <p:cNvPr id="44" name="Freeform 44"/>
              <p:cNvSpPr/>
              <p:nvPr/>
            </p:nvSpPr>
            <p:spPr>
              <a:xfrm>
                <a:off x="11215688" y="5216525"/>
                <a:ext cx="69850" cy="34925"/>
              </a:xfrm>
              <a:custGeom>
                <a:avLst/>
                <a:gdLst/>
                <a:ahLst/>
                <a:cxnLst/>
                <a:rect l="l" t="t" r="r" b="b"/>
                <a:pathLst>
                  <a:path w="69850" h="34925">
                    <a:moveTo>
                      <a:pt x="0" y="0"/>
                    </a:moveTo>
                    <a:lnTo>
                      <a:pt x="69850" y="34925"/>
                    </a:lnTo>
                  </a:path>
                </a:pathLst>
              </a:custGeom>
              <a:noFill/>
              <a:ln w="19050">
                <a:solidFill>
                  <a:srgbClr val="B8552E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11110912" y="5286375"/>
                <a:ext cx="1047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04775" h="9525">
                    <a:moveTo>
                      <a:pt x="0" y="0"/>
                    </a:moveTo>
                    <a:lnTo>
                      <a:pt x="104775" y="0"/>
                    </a:lnTo>
                  </a:path>
                </a:pathLst>
              </a:custGeom>
              <a:noFill/>
              <a:ln w="19050">
                <a:solidFill>
                  <a:srgbClr val="B8552E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11128375" y="511175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175"/>
                    </a:lnTo>
                  </a:path>
                </a:pathLst>
              </a:custGeom>
              <a:noFill/>
              <a:ln w="19050">
                <a:solidFill>
                  <a:srgbClr val="B8552E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11198225" y="511175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175"/>
                    </a:lnTo>
                  </a:path>
                </a:pathLst>
              </a:custGeom>
              <a:noFill/>
              <a:ln w="19050">
                <a:solidFill>
                  <a:srgbClr val="B8552E"/>
                </a:solidFill>
              </a:ln>
            </p:spPr>
          </p:sp>
        </p:grpSp>
        <p:sp>
          <p:nvSpPr>
            <p:cNvPr id="49" name="TextBox 49"/>
            <p:cNvSpPr txBox="1"/>
            <p:nvPr/>
          </p:nvSpPr>
          <p:spPr>
            <a:xfrm>
              <a:off x="2242185" y="4856798"/>
              <a:ext cx="5523864" cy="396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Agent 时代</a:t>
              </a:r>
              <a:r>
                <a:rPr lang="zh-CN" sz="1500" b="1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没有现成产品，只能从现场长出来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2247900" y="5248275"/>
              <a:ext cx="6715125" cy="5905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Agent 要执行动作、要接权限与审批、是非确定性的、会改变工作流。产品探索</a:t>
              </a: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只能在企业内部完成——</a:t>
              </a:r>
              <a:r>
                <a:rPr lang="zh-CN" sz="1500" b="1" dirty="0">
                  <a:solidFill>
                    <a:srgbClr val="B8552E"/>
                  </a:solidFill>
                  <a:latin typeface="Arial"/>
                  <a:ea typeface="Microsoft YaHei"/>
                  <a:cs typeface="Arial"/>
                </a:rPr>
                <a:t>这正是 FDE 的主场</a:t>
              </a: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。</a:t>
              </a:r>
            </a:p>
          </p:txBody>
        </p:sp>
      </p:grpSp>
      <p:grpSp>
        <p:nvGrpSpPr>
          <p:cNvPr id="56" name="Group 56"/>
          <p:cNvGrpSpPr/>
          <p:nvPr/>
        </p:nvGrpSpPr>
        <p:grpSpPr>
          <a:xfrm>
            <a:off x="571500" y="6438900"/>
            <a:ext cx="11060430" cy="304800"/>
            <a:chOff x="571500" y="6438900"/>
            <a:chExt cx="11060430" cy="304800"/>
          </a:xfrm>
        </p:grpSpPr>
        <p:sp>
          <p:nvSpPr>
            <p:cNvPr id="52" name="Line 52"/>
            <p:cNvSpPr/>
            <p:nvPr/>
          </p:nvSpPr>
          <p:spPr>
            <a:xfrm>
              <a:off x="571500" y="64389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ECE7DA"/>
              </a:solidFill>
            </a:ln>
          </p:spPr>
        </p:sp>
        <p:pic>
          <p:nvPicPr>
            <p:cNvPr id="53" name="Image 5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71500" y="6517891"/>
              <a:ext cx="190500" cy="184919"/>
            </a:xfrm>
            <a:prstGeom prst="rect">
              <a:avLst/>
            </a:prstGeom>
          </p:spPr>
        </p:pic>
        <p:sp>
          <p:nvSpPr>
            <p:cNvPr id="54" name="TextBox 54"/>
            <p:cNvSpPr txBox="1"/>
            <p:nvPr/>
          </p:nvSpPr>
          <p:spPr>
            <a:xfrm>
              <a:off x="845820" y="6560820"/>
              <a:ext cx="179308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openfde.net · /docs/why-now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1207020" y="6560820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10 / 26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5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9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9" grpId="0"/>
      <p:bldP spid="34" grpId="0"/>
      <p:bldP spid="5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</p:sp>
      <p:grpSp>
        <p:nvGrpSpPr>
          <p:cNvPr id="8" name="Group 8"/>
          <p:cNvGrpSpPr/>
          <p:nvPr/>
        </p:nvGrpSpPr>
        <p:grpSpPr>
          <a:xfrm>
            <a:off x="539115" y="571500"/>
            <a:ext cx="11095672" cy="909638"/>
            <a:chOff x="539115" y="571500"/>
            <a:chExt cx="11095672" cy="909638"/>
          </a:xfrm>
        </p:grpSpPr>
        <p:sp>
          <p:nvSpPr>
            <p:cNvPr id="3" name="Rectangle 3"/>
            <p:cNvSpPr/>
            <p:nvPr/>
          </p:nvSpPr>
          <p:spPr>
            <a:xfrm>
              <a:off x="571500" y="571500"/>
              <a:ext cx="381000" cy="28575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557212" y="735806"/>
              <a:ext cx="131236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概念层 · 岗位全景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39115" y="962978"/>
              <a:ext cx="4688498" cy="518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从 Palantir 到每一家 AI 公司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8905875" y="1078706"/>
              <a:ext cx="272891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同一个岗位，十个名字，干的是同一件事</a:t>
              </a:r>
            </a:p>
          </p:txBody>
        </p:sp>
        <p:sp>
          <p:nvSpPr>
            <p:cNvPr id="7" name="Line 7"/>
            <p:cNvSpPr/>
            <p:nvPr/>
          </p:nvSpPr>
          <p:spPr>
            <a:xfrm>
              <a:off x="571500" y="14478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14288">
              <a:solidFill>
                <a:srgbClr val="D4CDB9"/>
              </a:solidFill>
            </a:ln>
          </p:spPr>
        </p:sp>
      </p:grpSp>
      <p:grpSp>
        <p:nvGrpSpPr>
          <p:cNvPr id="13" name="Group 13"/>
          <p:cNvGrpSpPr/>
          <p:nvPr/>
        </p:nvGrpSpPr>
        <p:grpSpPr>
          <a:xfrm>
            <a:off x="571500" y="1714500"/>
            <a:ext cx="11049000" cy="381000"/>
            <a:chOff x="571500" y="1714500"/>
            <a:chExt cx="11049000" cy="381000"/>
          </a:xfrm>
        </p:grpSpPr>
        <p:sp>
          <p:nvSpPr>
            <p:cNvPr id="9" name="Rectangle 9"/>
            <p:cNvSpPr/>
            <p:nvPr/>
          </p:nvSpPr>
          <p:spPr>
            <a:xfrm>
              <a:off x="571500" y="1714500"/>
              <a:ext cx="11049000" cy="381000"/>
            </a:xfrm>
            <a:prstGeom prst="rect">
              <a:avLst/>
            </a:prstGeom>
            <a:solidFill>
              <a:srgbClr val="17140D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223962" y="1840706"/>
              <a:ext cx="34361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7F5EF"/>
                  </a:solidFill>
                  <a:latin typeface="Arial"/>
                  <a:ea typeface="Microsoft YaHei"/>
                  <a:cs typeface="Arial"/>
                </a:rPr>
                <a:t>公司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2938462" y="1840706"/>
              <a:ext cx="50113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7F5EF"/>
                  </a:solidFill>
                  <a:latin typeface="Arial"/>
                  <a:ea typeface="Microsoft YaHei"/>
                  <a:cs typeface="Arial"/>
                </a:rPr>
                <a:t>岗位名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5795962" y="1840706"/>
              <a:ext cx="113121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7F5EF"/>
                  </a:solidFill>
                  <a:latin typeface="Arial"/>
                  <a:ea typeface="Microsoft YaHei"/>
                  <a:cs typeface="Arial"/>
                </a:rPr>
                <a:t>这家公司的特征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571500" y="2095500"/>
            <a:ext cx="11049000" cy="2000250"/>
            <a:chOff x="571500" y="2095500"/>
            <a:chExt cx="11049000" cy="2000250"/>
          </a:xfrm>
        </p:grpSpPr>
        <p:sp>
          <p:nvSpPr>
            <p:cNvPr id="14" name="Rectangle 14"/>
            <p:cNvSpPr/>
            <p:nvPr/>
          </p:nvSpPr>
          <p:spPr>
            <a:xfrm>
              <a:off x="571500" y="2095500"/>
              <a:ext cx="11049000" cy="400050"/>
            </a:xfrm>
            <a:prstGeom prst="rect">
              <a:avLst/>
            </a:prstGeom>
            <a:solidFill>
              <a:srgbClr val="EFEBE0"/>
            </a:solidFill>
            <a:ln>
              <a:noFill/>
            </a:ln>
          </p:spPr>
        </p:sp>
        <p:sp>
          <p:nvSpPr>
            <p:cNvPr id="15" name="Freeform 15"/>
            <p:cNvSpPr/>
            <p:nvPr/>
          </p:nvSpPr>
          <p:spPr>
            <a:xfrm>
              <a:off x="709612" y="2181225"/>
              <a:ext cx="180975" cy="228600"/>
            </a:xfrm>
            <a:custGeom>
              <a:avLst/>
              <a:gdLst/>
              <a:ahLst/>
              <a:cxnLst/>
              <a:rect l="l" t="t" r="r" b="b"/>
              <a:pathLst>
                <a:path w="180975" h="228600">
                  <a:moveTo>
                    <a:pt x="168088" y="171450"/>
                  </a:moveTo>
                  <a:lnTo>
                    <a:pt x="90488" y="201720"/>
                  </a:lnTo>
                  <a:lnTo>
                    <a:pt x="12887" y="171450"/>
                  </a:lnTo>
                  <a:lnTo>
                    <a:pt x="0" y="193767"/>
                  </a:lnTo>
                  <a:lnTo>
                    <a:pt x="90488" y="228600"/>
                  </a:lnTo>
                  <a:lnTo>
                    <a:pt x="180975" y="193767"/>
                  </a:lnTo>
                  <a:lnTo>
                    <a:pt x="168088" y="171450"/>
                  </a:lnTo>
                  <a:close/>
                  <a:moveTo>
                    <a:pt x="90488" y="0"/>
                  </a:moveTo>
                  <a:cubicBezTo>
                    <a:pt x="40513" y="0"/>
                    <a:pt x="0" y="40513"/>
                    <a:pt x="0" y="90488"/>
                  </a:cubicBezTo>
                  <a:cubicBezTo>
                    <a:pt x="0" y="140462"/>
                    <a:pt x="40513" y="180975"/>
                    <a:pt x="90488" y="180975"/>
                  </a:cubicBezTo>
                  <a:cubicBezTo>
                    <a:pt x="140462" y="180975"/>
                    <a:pt x="180975" y="140462"/>
                    <a:pt x="180975" y="90488"/>
                  </a:cubicBezTo>
                  <a:cubicBezTo>
                    <a:pt x="180975" y="40513"/>
                    <a:pt x="140462" y="0"/>
                    <a:pt x="90488" y="0"/>
                  </a:cubicBezTo>
                  <a:close/>
                  <a:moveTo>
                    <a:pt x="90488" y="153143"/>
                  </a:moveTo>
                  <a:cubicBezTo>
                    <a:pt x="55936" y="153143"/>
                    <a:pt x="27927" y="125134"/>
                    <a:pt x="27927" y="90583"/>
                  </a:cubicBezTo>
                  <a:cubicBezTo>
                    <a:pt x="27927" y="56032"/>
                    <a:pt x="55936" y="28023"/>
                    <a:pt x="90488" y="28023"/>
                  </a:cubicBezTo>
                  <a:cubicBezTo>
                    <a:pt x="125039" y="28023"/>
                    <a:pt x="153048" y="56032"/>
                    <a:pt x="153048" y="90583"/>
                  </a:cubicBezTo>
                  <a:cubicBezTo>
                    <a:pt x="153048" y="125134"/>
                    <a:pt x="125039" y="153143"/>
                    <a:pt x="90488" y="153143"/>
                  </a:cubicBezTo>
                  <a:close/>
                </a:path>
              </a:pathLst>
            </a:custGeom>
            <a:solidFill>
              <a:srgbClr val="17140D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222058" y="2215039"/>
              <a:ext cx="728622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Palantir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938462" y="2231231"/>
              <a:ext cx="218134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FDSE · Deployment Strategist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795962" y="2231231"/>
              <a:ext cx="4064079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FDE 的原型：Delta 做落地，Echo 做发现，Ontology 做底座</a:t>
              </a:r>
            </a:p>
          </p:txBody>
        </p:sp>
        <p:sp>
          <p:nvSpPr>
            <p:cNvPr id="19" name="Freeform 19"/>
            <p:cNvSpPr/>
            <p:nvPr/>
          </p:nvSpPr>
          <p:spPr>
            <a:xfrm>
              <a:off x="682557" y="2578258"/>
              <a:ext cx="235051" cy="231709"/>
            </a:xfrm>
            <a:custGeom>
              <a:avLst/>
              <a:gdLst/>
              <a:ahLst/>
              <a:cxnLst/>
              <a:rect l="l" t="t" r="r" b="b"/>
              <a:pathLst>
                <a:path w="235051" h="231709">
                  <a:moveTo>
                    <a:pt x="215478" y="96563"/>
                  </a:moveTo>
                  <a:cubicBezTo>
                    <a:pt x="220649" y="80991"/>
                    <a:pt x="218859" y="63946"/>
                    <a:pt x="210566" y="49788"/>
                  </a:cubicBezTo>
                  <a:cubicBezTo>
                    <a:pt x="198096" y="28083"/>
                    <a:pt x="173035" y="16919"/>
                    <a:pt x="148560" y="22165"/>
                  </a:cubicBezTo>
                  <a:cubicBezTo>
                    <a:pt x="134767" y="6823"/>
                    <a:pt x="113839" y="0"/>
                    <a:pt x="93654" y="4266"/>
                  </a:cubicBezTo>
                  <a:cubicBezTo>
                    <a:pt x="73469" y="8531"/>
                    <a:pt x="57090" y="23238"/>
                    <a:pt x="50684" y="42849"/>
                  </a:cubicBezTo>
                  <a:cubicBezTo>
                    <a:pt x="34607" y="46146"/>
                    <a:pt x="20730" y="56212"/>
                    <a:pt x="12606" y="70471"/>
                  </a:cubicBezTo>
                  <a:cubicBezTo>
                    <a:pt x="0" y="92141"/>
                    <a:pt x="2861" y="119476"/>
                    <a:pt x="19680" y="138066"/>
                  </a:cubicBezTo>
                  <a:cubicBezTo>
                    <a:pt x="14490" y="153631"/>
                    <a:pt x="16264" y="170678"/>
                    <a:pt x="24547" y="184841"/>
                  </a:cubicBezTo>
                  <a:cubicBezTo>
                    <a:pt x="37032" y="206553"/>
                    <a:pt x="62110" y="217717"/>
                    <a:pt x="86599" y="212464"/>
                  </a:cubicBezTo>
                  <a:cubicBezTo>
                    <a:pt x="97491" y="224730"/>
                    <a:pt x="113139" y="231709"/>
                    <a:pt x="129543" y="231617"/>
                  </a:cubicBezTo>
                  <a:cubicBezTo>
                    <a:pt x="154630" y="231640"/>
                    <a:pt x="176856" y="215445"/>
                    <a:pt x="184520" y="191557"/>
                  </a:cubicBezTo>
                  <a:cubicBezTo>
                    <a:pt x="200595" y="188254"/>
                    <a:pt x="214469" y="178189"/>
                    <a:pt x="222598" y="163933"/>
                  </a:cubicBezTo>
                  <a:cubicBezTo>
                    <a:pt x="235051" y="142302"/>
                    <a:pt x="232177" y="115115"/>
                    <a:pt x="215478" y="96564"/>
                  </a:cubicBezTo>
                  <a:close/>
                  <a:moveTo>
                    <a:pt x="129543" y="216655"/>
                  </a:moveTo>
                  <a:cubicBezTo>
                    <a:pt x="119530" y="216671"/>
                    <a:pt x="109830" y="213161"/>
                    <a:pt x="102145" y="206742"/>
                  </a:cubicBezTo>
                  <a:lnTo>
                    <a:pt x="103497" y="205976"/>
                  </a:lnTo>
                  <a:lnTo>
                    <a:pt x="149010" y="179704"/>
                  </a:lnTo>
                  <a:cubicBezTo>
                    <a:pt x="151315" y="178352"/>
                    <a:pt x="152736" y="175886"/>
                    <a:pt x="152751" y="173215"/>
                  </a:cubicBezTo>
                  <a:lnTo>
                    <a:pt x="152751" y="109046"/>
                  </a:lnTo>
                  <a:lnTo>
                    <a:pt x="171991" y="120177"/>
                  </a:lnTo>
                  <a:cubicBezTo>
                    <a:pt x="172184" y="120274"/>
                    <a:pt x="172319" y="120458"/>
                    <a:pt x="172353" y="120672"/>
                  </a:cubicBezTo>
                  <a:lnTo>
                    <a:pt x="172353" y="173846"/>
                  </a:lnTo>
                  <a:cubicBezTo>
                    <a:pt x="172303" y="197468"/>
                    <a:pt x="153166" y="216605"/>
                    <a:pt x="129543" y="216655"/>
                  </a:cubicBezTo>
                  <a:close/>
                  <a:moveTo>
                    <a:pt x="37525" y="177361"/>
                  </a:moveTo>
                  <a:cubicBezTo>
                    <a:pt x="32503" y="168689"/>
                    <a:pt x="30700" y="158525"/>
                    <a:pt x="32433" y="148655"/>
                  </a:cubicBezTo>
                  <a:lnTo>
                    <a:pt x="33785" y="149467"/>
                  </a:lnTo>
                  <a:lnTo>
                    <a:pt x="79344" y="175739"/>
                  </a:lnTo>
                  <a:cubicBezTo>
                    <a:pt x="81639" y="177086"/>
                    <a:pt x="84483" y="177086"/>
                    <a:pt x="86779" y="175739"/>
                  </a:cubicBezTo>
                  <a:lnTo>
                    <a:pt x="142431" y="143654"/>
                  </a:lnTo>
                  <a:lnTo>
                    <a:pt x="142431" y="165870"/>
                  </a:lnTo>
                  <a:cubicBezTo>
                    <a:pt x="142421" y="166103"/>
                    <a:pt x="142304" y="166319"/>
                    <a:pt x="142115" y="166456"/>
                  </a:cubicBezTo>
                  <a:lnTo>
                    <a:pt x="96016" y="193043"/>
                  </a:lnTo>
                  <a:cubicBezTo>
                    <a:pt x="75531" y="204844"/>
                    <a:pt x="49359" y="197827"/>
                    <a:pt x="37525" y="177361"/>
                  </a:cubicBezTo>
                  <a:close/>
                  <a:moveTo>
                    <a:pt x="25539" y="78223"/>
                  </a:moveTo>
                  <a:cubicBezTo>
                    <a:pt x="30595" y="69496"/>
                    <a:pt x="38577" y="62839"/>
                    <a:pt x="48070" y="59432"/>
                  </a:cubicBezTo>
                  <a:lnTo>
                    <a:pt x="48070" y="113507"/>
                  </a:lnTo>
                  <a:cubicBezTo>
                    <a:pt x="48035" y="116168"/>
                    <a:pt x="49451" y="118637"/>
                    <a:pt x="51765" y="119951"/>
                  </a:cubicBezTo>
                  <a:lnTo>
                    <a:pt x="107147" y="151900"/>
                  </a:lnTo>
                  <a:lnTo>
                    <a:pt x="87906" y="163030"/>
                  </a:lnTo>
                  <a:cubicBezTo>
                    <a:pt x="87694" y="163143"/>
                    <a:pt x="87441" y="163143"/>
                    <a:pt x="87229" y="163030"/>
                  </a:cubicBezTo>
                  <a:lnTo>
                    <a:pt x="41221" y="136489"/>
                  </a:lnTo>
                  <a:cubicBezTo>
                    <a:pt x="20776" y="124638"/>
                    <a:pt x="13765" y="98486"/>
                    <a:pt x="25539" y="77998"/>
                  </a:cubicBezTo>
                  <a:close/>
                  <a:moveTo>
                    <a:pt x="183619" y="114949"/>
                  </a:moveTo>
                  <a:lnTo>
                    <a:pt x="128056" y="82684"/>
                  </a:lnTo>
                  <a:lnTo>
                    <a:pt x="147253" y="71597"/>
                  </a:lnTo>
                  <a:cubicBezTo>
                    <a:pt x="147464" y="71485"/>
                    <a:pt x="147718" y="71485"/>
                    <a:pt x="147929" y="71597"/>
                  </a:cubicBezTo>
                  <a:lnTo>
                    <a:pt x="193938" y="98184"/>
                  </a:lnTo>
                  <a:cubicBezTo>
                    <a:pt x="208298" y="106470"/>
                    <a:pt x="216583" y="122303"/>
                    <a:pt x="215203" y="138825"/>
                  </a:cubicBezTo>
                  <a:cubicBezTo>
                    <a:pt x="213824" y="155346"/>
                    <a:pt x="203029" y="169586"/>
                    <a:pt x="187494" y="175377"/>
                  </a:cubicBezTo>
                  <a:lnTo>
                    <a:pt x="187494" y="121301"/>
                  </a:lnTo>
                  <a:cubicBezTo>
                    <a:pt x="187413" y="118648"/>
                    <a:pt x="185940" y="116234"/>
                    <a:pt x="183618" y="114948"/>
                  </a:cubicBezTo>
                  <a:close/>
                  <a:moveTo>
                    <a:pt x="202770" y="86154"/>
                  </a:moveTo>
                  <a:lnTo>
                    <a:pt x="201418" y="85343"/>
                  </a:lnTo>
                  <a:lnTo>
                    <a:pt x="155950" y="58846"/>
                  </a:lnTo>
                  <a:cubicBezTo>
                    <a:pt x="153641" y="57491"/>
                    <a:pt x="150779" y="57491"/>
                    <a:pt x="148469" y="58846"/>
                  </a:cubicBezTo>
                  <a:lnTo>
                    <a:pt x="92863" y="90930"/>
                  </a:lnTo>
                  <a:lnTo>
                    <a:pt x="92863" y="68715"/>
                  </a:lnTo>
                  <a:cubicBezTo>
                    <a:pt x="92839" y="68485"/>
                    <a:pt x="92943" y="68260"/>
                    <a:pt x="93134" y="68129"/>
                  </a:cubicBezTo>
                  <a:lnTo>
                    <a:pt x="139142" y="41587"/>
                  </a:lnTo>
                  <a:cubicBezTo>
                    <a:pt x="153537" y="33294"/>
                    <a:pt x="171428" y="34068"/>
                    <a:pt x="185053" y="43572"/>
                  </a:cubicBezTo>
                  <a:cubicBezTo>
                    <a:pt x="198678" y="53077"/>
                    <a:pt x="205583" y="69600"/>
                    <a:pt x="202771" y="85973"/>
                  </a:cubicBezTo>
                  <a:close/>
                  <a:moveTo>
                    <a:pt x="82362" y="125537"/>
                  </a:moveTo>
                  <a:lnTo>
                    <a:pt x="63122" y="114452"/>
                  </a:lnTo>
                  <a:cubicBezTo>
                    <a:pt x="62927" y="114335"/>
                    <a:pt x="62794" y="114137"/>
                    <a:pt x="62760" y="113912"/>
                  </a:cubicBezTo>
                  <a:lnTo>
                    <a:pt x="62760" y="60874"/>
                  </a:lnTo>
                  <a:cubicBezTo>
                    <a:pt x="62781" y="44264"/>
                    <a:pt x="72399" y="29163"/>
                    <a:pt x="87441" y="22119"/>
                  </a:cubicBezTo>
                  <a:cubicBezTo>
                    <a:pt x="102484" y="15075"/>
                    <a:pt x="120241" y="17358"/>
                    <a:pt x="133013" y="27977"/>
                  </a:cubicBezTo>
                  <a:lnTo>
                    <a:pt x="131661" y="28744"/>
                  </a:lnTo>
                  <a:lnTo>
                    <a:pt x="86148" y="55014"/>
                  </a:lnTo>
                  <a:cubicBezTo>
                    <a:pt x="83844" y="56366"/>
                    <a:pt x="82422" y="58832"/>
                    <a:pt x="82408" y="61503"/>
                  </a:cubicBezTo>
                  <a:close/>
                  <a:moveTo>
                    <a:pt x="92817" y="103007"/>
                  </a:moveTo>
                  <a:lnTo>
                    <a:pt x="117601" y="88721"/>
                  </a:lnTo>
                  <a:lnTo>
                    <a:pt x="142431" y="103007"/>
                  </a:lnTo>
                  <a:lnTo>
                    <a:pt x="142431" y="131576"/>
                  </a:lnTo>
                  <a:lnTo>
                    <a:pt x="117691" y="145861"/>
                  </a:lnTo>
                  <a:lnTo>
                    <a:pt x="92862" y="131576"/>
                  </a:lnTo>
                  <a:close/>
                </a:path>
              </a:pathLst>
            </a:custGeom>
            <a:solidFill>
              <a:srgbClr val="17140D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222058" y="2615089"/>
              <a:ext cx="612583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OpenAI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938462" y="2631281"/>
              <a:ext cx="225635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FDE · FDSWE · Deployment Lead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5795962" y="2631281"/>
              <a:ext cx="509170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Model Deployment for Business 体系，方法论 build / prove / generalize</a:t>
              </a:r>
            </a:p>
          </p:txBody>
        </p:sp>
        <p:sp>
          <p:nvSpPr>
            <p:cNvPr id="23" name="Line 23"/>
            <p:cNvSpPr/>
            <p:nvPr/>
          </p:nvSpPr>
          <p:spPr>
            <a:xfrm>
              <a:off x="571500" y="249555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E2DCCD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571500" y="2895600"/>
              <a:ext cx="11049000" cy="400050"/>
            </a:xfrm>
            <a:prstGeom prst="rect">
              <a:avLst/>
            </a:prstGeom>
            <a:solidFill>
              <a:srgbClr val="EFEBE0"/>
            </a:solidFill>
            <a:ln>
              <a:noFill/>
            </a:ln>
          </p:spPr>
        </p:sp>
        <p:sp>
          <p:nvSpPr>
            <p:cNvPr id="25" name="Freeform 25"/>
            <p:cNvSpPr/>
            <p:nvPr/>
          </p:nvSpPr>
          <p:spPr>
            <a:xfrm>
              <a:off x="685800" y="3015052"/>
              <a:ext cx="228600" cy="161146"/>
            </a:xfrm>
            <a:custGeom>
              <a:avLst/>
              <a:gdLst/>
              <a:ahLst/>
              <a:cxnLst/>
              <a:rect l="l" t="t" r="r" b="b"/>
              <a:pathLst>
                <a:path w="228600" h="161146">
                  <a:moveTo>
                    <a:pt x="164822" y="1"/>
                  </a:moveTo>
                  <a:lnTo>
                    <a:pt x="129848" y="1"/>
                  </a:lnTo>
                  <a:lnTo>
                    <a:pt x="193627" y="161145"/>
                  </a:lnTo>
                  <a:lnTo>
                    <a:pt x="228600" y="161145"/>
                  </a:lnTo>
                  <a:close/>
                  <a:moveTo>
                    <a:pt x="63778" y="1"/>
                  </a:moveTo>
                  <a:lnTo>
                    <a:pt x="0" y="161145"/>
                  </a:lnTo>
                  <a:lnTo>
                    <a:pt x="35664" y="161145"/>
                  </a:lnTo>
                  <a:lnTo>
                    <a:pt x="48706" y="127305"/>
                  </a:lnTo>
                  <a:lnTo>
                    <a:pt x="115431" y="127305"/>
                  </a:lnTo>
                  <a:lnTo>
                    <a:pt x="128473" y="161146"/>
                  </a:lnTo>
                  <a:lnTo>
                    <a:pt x="164137" y="161146"/>
                  </a:lnTo>
                  <a:lnTo>
                    <a:pt x="100358" y="0"/>
                  </a:lnTo>
                  <a:close/>
                  <a:moveTo>
                    <a:pt x="60243" y="97377"/>
                  </a:moveTo>
                  <a:lnTo>
                    <a:pt x="82068" y="40745"/>
                  </a:lnTo>
                  <a:lnTo>
                    <a:pt x="103894" y="97377"/>
                  </a:lnTo>
                  <a:close/>
                </a:path>
              </a:pathLst>
            </a:custGeom>
            <a:solidFill>
              <a:srgbClr val="17140D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1222058" y="3015139"/>
              <a:ext cx="871440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Anthropic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2938462" y="3031331"/>
              <a:ext cx="137124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Applied AI Engineer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795962" y="3031331"/>
              <a:ext cx="437161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与 Blackstone 等成立企业 AI 服务公司，把 Claude 带进核心运营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571500" y="28956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E2DCCD"/>
              </a:solidFill>
            </a:ln>
          </p:spPr>
        </p:sp>
        <p:sp>
          <p:nvSpPr>
            <p:cNvPr id="30" name="Freeform 30"/>
            <p:cNvSpPr/>
            <p:nvPr/>
          </p:nvSpPr>
          <p:spPr>
            <a:xfrm>
              <a:off x="676599" y="3403096"/>
              <a:ext cx="262147" cy="184743"/>
            </a:xfrm>
            <a:custGeom>
              <a:avLst/>
              <a:gdLst/>
              <a:ahLst/>
              <a:cxnLst/>
              <a:rect l="l" t="t" r="r" b="b"/>
              <a:pathLst>
                <a:path w="262147" h="184743">
                  <a:moveTo>
                    <a:pt x="125311" y="949"/>
                  </a:moveTo>
                  <a:cubicBezTo>
                    <a:pt x="84382" y="0"/>
                    <a:pt x="48085" y="27095"/>
                    <a:pt x="37357" y="66604"/>
                  </a:cubicBezTo>
                  <a:cubicBezTo>
                    <a:pt x="37862" y="66414"/>
                    <a:pt x="36833" y="66728"/>
                    <a:pt x="37357" y="66604"/>
                  </a:cubicBezTo>
                  <a:cubicBezTo>
                    <a:pt x="448" y="90903"/>
                    <a:pt x="0" y="143852"/>
                    <a:pt x="35004" y="170817"/>
                  </a:cubicBezTo>
                  <a:lnTo>
                    <a:pt x="35062" y="170751"/>
                  </a:lnTo>
                  <a:lnTo>
                    <a:pt x="34995" y="171037"/>
                  </a:lnTo>
                  <a:cubicBezTo>
                    <a:pt x="46176" y="179477"/>
                    <a:pt x="59819" y="184015"/>
                    <a:pt x="73828" y="183952"/>
                  </a:cubicBezTo>
                  <a:lnTo>
                    <a:pt x="123101" y="183952"/>
                  </a:lnTo>
                  <a:lnTo>
                    <a:pt x="123387" y="184238"/>
                  </a:lnTo>
                  <a:lnTo>
                    <a:pt x="172841" y="184238"/>
                  </a:lnTo>
                  <a:cubicBezTo>
                    <a:pt x="236534" y="184743"/>
                    <a:pt x="262147" y="102276"/>
                    <a:pt x="209369" y="66604"/>
                  </a:cubicBezTo>
                  <a:cubicBezTo>
                    <a:pt x="204824" y="49844"/>
                    <a:pt x="195485" y="34776"/>
                    <a:pt x="182499" y="23247"/>
                  </a:cubicBezTo>
                  <a:lnTo>
                    <a:pt x="182089" y="23656"/>
                  </a:lnTo>
                  <a:lnTo>
                    <a:pt x="182147" y="23180"/>
                  </a:lnTo>
                  <a:cubicBezTo>
                    <a:pt x="166414" y="9303"/>
                    <a:pt x="146284" y="1429"/>
                    <a:pt x="125311" y="949"/>
                  </a:cubicBezTo>
                  <a:close/>
                  <a:moveTo>
                    <a:pt x="121901" y="40439"/>
                  </a:moveTo>
                  <a:cubicBezTo>
                    <a:pt x="133750" y="40058"/>
                    <a:pt x="145885" y="43944"/>
                    <a:pt x="155105" y="51393"/>
                  </a:cubicBezTo>
                  <a:cubicBezTo>
                    <a:pt x="166597" y="60985"/>
                    <a:pt x="173119" y="75270"/>
                    <a:pt x="172841" y="90236"/>
                  </a:cubicBezTo>
                  <a:lnTo>
                    <a:pt x="172841" y="95170"/>
                  </a:lnTo>
                  <a:cubicBezTo>
                    <a:pt x="206464" y="94503"/>
                    <a:pt x="206464" y="145290"/>
                    <a:pt x="172841" y="144633"/>
                  </a:cubicBezTo>
                  <a:lnTo>
                    <a:pt x="123377" y="144633"/>
                  </a:lnTo>
                  <a:lnTo>
                    <a:pt x="123301" y="144719"/>
                  </a:lnTo>
                  <a:lnTo>
                    <a:pt x="123301" y="144338"/>
                  </a:lnTo>
                  <a:lnTo>
                    <a:pt x="73828" y="144338"/>
                  </a:lnTo>
                  <a:cubicBezTo>
                    <a:pt x="70323" y="144338"/>
                    <a:pt x="66859" y="143591"/>
                    <a:pt x="63665" y="142147"/>
                  </a:cubicBezTo>
                  <a:lnTo>
                    <a:pt x="63675" y="142147"/>
                  </a:lnTo>
                  <a:cubicBezTo>
                    <a:pt x="53657" y="137611"/>
                    <a:pt x="47836" y="127006"/>
                    <a:pt x="49390" y="116119"/>
                  </a:cubicBezTo>
                  <a:cubicBezTo>
                    <a:pt x="50943" y="105232"/>
                    <a:pt x="59497" y="96678"/>
                    <a:pt x="70384" y="95125"/>
                  </a:cubicBezTo>
                  <a:cubicBezTo>
                    <a:pt x="81271" y="93571"/>
                    <a:pt x="91876" y="99392"/>
                    <a:pt x="96412" y="109410"/>
                  </a:cubicBezTo>
                  <a:lnTo>
                    <a:pt x="125111" y="80720"/>
                  </a:lnTo>
                  <a:cubicBezTo>
                    <a:pt x="115575" y="68290"/>
                    <a:pt x="101825" y="59770"/>
                    <a:pt x="86449" y="56765"/>
                  </a:cubicBezTo>
                  <a:cubicBezTo>
                    <a:pt x="86620" y="56670"/>
                    <a:pt x="86830" y="56517"/>
                    <a:pt x="86963" y="56546"/>
                  </a:cubicBezTo>
                  <a:cubicBezTo>
                    <a:pt x="95960" y="46675"/>
                    <a:pt x="108571" y="40868"/>
                    <a:pt x="121920" y="40449"/>
                  </a:cubicBezTo>
                  <a:close/>
                </a:path>
              </a:pathLst>
            </a:custGeom>
            <a:solidFill>
              <a:srgbClr val="17140D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1222058" y="3415189"/>
              <a:ext cx="1076741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Google Cloud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2938462" y="3431381"/>
              <a:ext cx="197131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Forward Deployed Engineer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5795962" y="3431381"/>
              <a:ext cx="374904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把 Gemini / Vertex 原型转成生产级 agentic workflow</a:t>
              </a:r>
            </a:p>
          </p:txBody>
        </p:sp>
        <p:sp>
          <p:nvSpPr>
            <p:cNvPr id="34" name="Line 34"/>
            <p:cNvSpPr/>
            <p:nvPr/>
          </p:nvSpPr>
          <p:spPr>
            <a:xfrm>
              <a:off x="571500" y="329565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E2DCCD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571500" y="3695700"/>
              <a:ext cx="11049000" cy="400050"/>
            </a:xfrm>
            <a:prstGeom prst="rect">
              <a:avLst/>
            </a:prstGeom>
            <a:solidFill>
              <a:srgbClr val="EFEBE0"/>
            </a:solidFill>
            <a:ln>
              <a:noFill/>
            </a:ln>
          </p:spPr>
        </p:sp>
        <p:sp>
          <p:nvSpPr>
            <p:cNvPr id="36" name="Freeform 36"/>
            <p:cNvSpPr/>
            <p:nvPr/>
          </p:nvSpPr>
          <p:spPr>
            <a:xfrm>
              <a:off x="685800" y="3814086"/>
              <a:ext cx="228600" cy="163287"/>
            </a:xfrm>
            <a:custGeom>
              <a:avLst/>
              <a:gdLst/>
              <a:ahLst/>
              <a:cxnLst/>
              <a:rect l="l" t="t" r="r" b="b"/>
              <a:pathLst>
                <a:path w="228600" h="163287">
                  <a:moveTo>
                    <a:pt x="163287" y="0"/>
                  </a:moveTo>
                  <a:lnTo>
                    <a:pt x="163287" y="32652"/>
                  </a:lnTo>
                  <a:lnTo>
                    <a:pt x="130626" y="32652"/>
                  </a:lnTo>
                  <a:lnTo>
                    <a:pt x="130626" y="65313"/>
                  </a:lnTo>
                  <a:lnTo>
                    <a:pt x="97974" y="65313"/>
                  </a:lnTo>
                  <a:lnTo>
                    <a:pt x="97974" y="32652"/>
                  </a:lnTo>
                  <a:lnTo>
                    <a:pt x="65313" y="32652"/>
                  </a:lnTo>
                  <a:lnTo>
                    <a:pt x="65313" y="10"/>
                  </a:lnTo>
                  <a:lnTo>
                    <a:pt x="32671" y="10"/>
                  </a:lnTo>
                  <a:lnTo>
                    <a:pt x="32671" y="130635"/>
                  </a:lnTo>
                  <a:lnTo>
                    <a:pt x="0" y="130635"/>
                  </a:lnTo>
                  <a:lnTo>
                    <a:pt x="0" y="163287"/>
                  </a:lnTo>
                  <a:lnTo>
                    <a:pt x="97974" y="163287"/>
                  </a:lnTo>
                  <a:lnTo>
                    <a:pt x="97974" y="130635"/>
                  </a:lnTo>
                  <a:lnTo>
                    <a:pt x="65313" y="130635"/>
                  </a:lnTo>
                  <a:lnTo>
                    <a:pt x="65313" y="97974"/>
                  </a:lnTo>
                  <a:lnTo>
                    <a:pt x="97974" y="97974"/>
                  </a:lnTo>
                  <a:lnTo>
                    <a:pt x="97974" y="130635"/>
                  </a:lnTo>
                  <a:lnTo>
                    <a:pt x="130635" y="130635"/>
                  </a:lnTo>
                  <a:lnTo>
                    <a:pt x="130635" y="97974"/>
                  </a:lnTo>
                  <a:lnTo>
                    <a:pt x="163287" y="97974"/>
                  </a:lnTo>
                  <a:lnTo>
                    <a:pt x="163287" y="130635"/>
                  </a:lnTo>
                  <a:lnTo>
                    <a:pt x="130635" y="130635"/>
                  </a:lnTo>
                  <a:lnTo>
                    <a:pt x="130635" y="163287"/>
                  </a:lnTo>
                  <a:lnTo>
                    <a:pt x="228600" y="163287"/>
                  </a:lnTo>
                  <a:lnTo>
                    <a:pt x="228600" y="130635"/>
                  </a:lnTo>
                  <a:lnTo>
                    <a:pt x="195929" y="130635"/>
                  </a:lnTo>
                  <a:lnTo>
                    <a:pt x="195929" y="0"/>
                  </a:lnTo>
                  <a:close/>
                </a:path>
              </a:pathLst>
            </a:custGeom>
            <a:solidFill>
              <a:srgbClr val="17140D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1222058" y="3815239"/>
              <a:ext cx="666139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Mistral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2938462" y="3831431"/>
              <a:ext cx="221134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Forward Deployed ML Engineer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5795962" y="3831431"/>
              <a:ext cx="4446627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像创业公司 CTO 一样端到端执行，连接 research 与真实企业应用</a:t>
              </a:r>
            </a:p>
          </p:txBody>
        </p:sp>
        <p:sp>
          <p:nvSpPr>
            <p:cNvPr id="40" name="Line 40"/>
            <p:cNvSpPr/>
            <p:nvPr/>
          </p:nvSpPr>
          <p:spPr>
            <a:xfrm>
              <a:off x="571500" y="36957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E2DCCD"/>
              </a:solidFill>
            </a:ln>
          </p:spPr>
        </p:sp>
      </p:grpSp>
      <p:grpSp>
        <p:nvGrpSpPr>
          <p:cNvPr id="84" name="Group 84"/>
          <p:cNvGrpSpPr/>
          <p:nvPr/>
        </p:nvGrpSpPr>
        <p:grpSpPr>
          <a:xfrm>
            <a:off x="571500" y="4095750"/>
            <a:ext cx="11049000" cy="2009775"/>
            <a:chOff x="571500" y="4095750"/>
            <a:chExt cx="11049000" cy="2009775"/>
          </a:xfrm>
        </p:grpSpPr>
        <p:grpSp>
          <p:nvGrpSpPr>
            <p:cNvPr id="49" name="Group 49"/>
            <p:cNvGrpSpPr/>
            <p:nvPr/>
          </p:nvGrpSpPr>
          <p:grpSpPr>
            <a:xfrm>
              <a:off x="714375" y="4210050"/>
              <a:ext cx="171450" cy="180975"/>
              <a:chOff x="714375" y="4210050"/>
              <a:chExt cx="171450" cy="180975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714375" y="4381500"/>
                <a:ext cx="1714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1450" h="9525">
                    <a:moveTo>
                      <a:pt x="0" y="0"/>
                    </a:moveTo>
                    <a:lnTo>
                      <a:pt x="171450" y="0"/>
                    </a:lnTo>
                  </a:path>
                </a:pathLst>
              </a:custGeom>
              <a:noFill/>
              <a:ln w="19050">
                <a:solidFill>
                  <a:srgbClr val="6A6356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733425" y="4210050"/>
                <a:ext cx="76200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76200" h="171450">
                    <a:moveTo>
                      <a:pt x="0" y="171450"/>
                    </a:moveTo>
                    <a:lnTo>
                      <a:pt x="0" y="38100"/>
                    </a:lnTo>
                    <a:lnTo>
                      <a:pt x="76200" y="0"/>
                    </a:lnTo>
                    <a:lnTo>
                      <a:pt x="76200" y="171450"/>
                    </a:lnTo>
                  </a:path>
                </a:pathLst>
              </a:custGeom>
              <a:noFill/>
              <a:ln w="19050">
                <a:solidFill>
                  <a:srgbClr val="6A6356"/>
                </a:solidFill>
              </a:ln>
            </p:spPr>
          </p:sp>
          <p:sp>
            <p:nvSpPr>
              <p:cNvPr id="44" name="Freeform 44"/>
              <p:cNvSpPr/>
              <p:nvPr/>
            </p:nvSpPr>
            <p:spPr>
              <a:xfrm>
                <a:off x="809625" y="4248150"/>
                <a:ext cx="57150" cy="133350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133350">
                    <a:moveTo>
                      <a:pt x="57150" y="133350"/>
                    </a:moveTo>
                    <a:lnTo>
                      <a:pt x="57150" y="38100"/>
                    </a:lnTo>
                    <a:lnTo>
                      <a:pt x="0" y="0"/>
                    </a:lnTo>
                  </a:path>
                </a:pathLst>
              </a:custGeom>
              <a:noFill/>
              <a:ln w="19050">
                <a:solidFill>
                  <a:srgbClr val="6A6356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771525" y="42672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6A6356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771525" y="429577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6A6356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771525" y="432435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6A6356"/>
                </a:solidFill>
              </a:ln>
            </p:spPr>
          </p:sp>
          <p:sp>
            <p:nvSpPr>
              <p:cNvPr id="48" name="Freeform 48"/>
              <p:cNvSpPr/>
              <p:nvPr/>
            </p:nvSpPr>
            <p:spPr>
              <a:xfrm>
                <a:off x="771525" y="435292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6A6356"/>
                </a:solidFill>
              </a:ln>
            </p:spPr>
          </p:sp>
        </p:grpSp>
        <p:sp>
          <p:nvSpPr>
            <p:cNvPr id="50" name="TextBox 50"/>
            <p:cNvSpPr txBox="1"/>
            <p:nvPr/>
          </p:nvSpPr>
          <p:spPr>
            <a:xfrm>
              <a:off x="1222058" y="4215289"/>
              <a:ext cx="683991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Scale AI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2938462" y="4231481"/>
              <a:ext cx="69615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GenAI FDE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5795962" y="4231481"/>
              <a:ext cx="365152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面向顶级 AI lab 与政府机构的数据基础设施与全栈交付</a:t>
              </a:r>
            </a:p>
          </p:txBody>
        </p:sp>
        <p:sp>
          <p:nvSpPr>
            <p:cNvPr id="53" name="Line 53"/>
            <p:cNvSpPr/>
            <p:nvPr/>
          </p:nvSpPr>
          <p:spPr>
            <a:xfrm>
              <a:off x="571500" y="409575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E2DCCD"/>
              </a:solidFill>
            </a:ln>
          </p:spPr>
        </p:sp>
        <p:sp>
          <p:nvSpPr>
            <p:cNvPr id="54" name="Rectangle 54"/>
            <p:cNvSpPr/>
            <p:nvPr/>
          </p:nvSpPr>
          <p:spPr>
            <a:xfrm>
              <a:off x="571500" y="4495800"/>
              <a:ext cx="11049000" cy="400050"/>
            </a:xfrm>
            <a:prstGeom prst="rect">
              <a:avLst/>
            </a:prstGeom>
            <a:solidFill>
              <a:srgbClr val="EFEBE0"/>
            </a:solidFill>
            <a:ln>
              <a:noFill/>
            </a:ln>
          </p:spPr>
        </p:sp>
        <p:sp>
          <p:nvSpPr>
            <p:cNvPr id="55" name="Freeform 55"/>
            <p:cNvSpPr/>
            <p:nvPr/>
          </p:nvSpPr>
          <p:spPr>
            <a:xfrm>
              <a:off x="685800" y="4595512"/>
              <a:ext cx="228600" cy="200625"/>
            </a:xfrm>
            <a:custGeom>
              <a:avLst/>
              <a:gdLst/>
              <a:ahLst/>
              <a:cxnLst/>
              <a:rect l="l" t="t" r="r" b="b"/>
              <a:pathLst>
                <a:path w="228600" h="200625">
                  <a:moveTo>
                    <a:pt x="189330" y="0"/>
                  </a:moveTo>
                  <a:lnTo>
                    <a:pt x="228600" y="10136"/>
                  </a:lnTo>
                  <a:lnTo>
                    <a:pt x="228600" y="190564"/>
                  </a:lnTo>
                  <a:lnTo>
                    <a:pt x="189330" y="200625"/>
                  </a:lnTo>
                  <a:lnTo>
                    <a:pt x="189330" y="0"/>
                  </a:lnTo>
                  <a:close/>
                  <a:moveTo>
                    <a:pt x="62190" y="89802"/>
                  </a:moveTo>
                  <a:lnTo>
                    <a:pt x="101385" y="99937"/>
                  </a:lnTo>
                  <a:lnTo>
                    <a:pt x="101385" y="185458"/>
                  </a:lnTo>
                  <a:lnTo>
                    <a:pt x="62190" y="195595"/>
                  </a:lnTo>
                  <a:lnTo>
                    <a:pt x="62190" y="89801"/>
                  </a:lnTo>
                  <a:close/>
                  <a:moveTo>
                    <a:pt x="0" y="10511"/>
                  </a:moveTo>
                  <a:lnTo>
                    <a:pt x="39195" y="20647"/>
                  </a:lnTo>
                  <a:lnTo>
                    <a:pt x="39195" y="180052"/>
                  </a:lnTo>
                  <a:lnTo>
                    <a:pt x="0" y="190114"/>
                  </a:lnTo>
                  <a:lnTo>
                    <a:pt x="0" y="10511"/>
                  </a:lnTo>
                  <a:close/>
                  <a:moveTo>
                    <a:pt x="166262" y="64046"/>
                  </a:moveTo>
                  <a:lnTo>
                    <a:pt x="166262" y="169840"/>
                  </a:lnTo>
                  <a:lnTo>
                    <a:pt x="126992" y="159704"/>
                  </a:lnTo>
                  <a:lnTo>
                    <a:pt x="126992" y="74184"/>
                  </a:lnTo>
                  <a:lnTo>
                    <a:pt x="166262" y="64047"/>
                  </a:lnTo>
                  <a:close/>
                </a:path>
              </a:pathLst>
            </a:custGeom>
            <a:solidFill>
              <a:srgbClr val="17140D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1222058" y="4615339"/>
              <a:ext cx="1308820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字节 · 火山引擎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2938462" y="4631531"/>
              <a:ext cx="107120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豆包大模型 FDE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5795962" y="4631531"/>
              <a:ext cx="378654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火山方舟 MaaS，面向头部行业客户设计复杂 Agent 架构</a:t>
              </a:r>
            </a:p>
          </p:txBody>
        </p:sp>
        <p:sp>
          <p:nvSpPr>
            <p:cNvPr id="59" name="Line 59"/>
            <p:cNvSpPr/>
            <p:nvPr/>
          </p:nvSpPr>
          <p:spPr>
            <a:xfrm>
              <a:off x="571500" y="44958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E2DCCD"/>
              </a:solidFill>
            </a:ln>
          </p:spPr>
        </p:sp>
        <p:sp>
          <p:nvSpPr>
            <p:cNvPr id="60" name="Freeform 60"/>
            <p:cNvSpPr/>
            <p:nvPr/>
          </p:nvSpPr>
          <p:spPr>
            <a:xfrm>
              <a:off x="694849" y="4981575"/>
              <a:ext cx="210502" cy="228600"/>
            </a:xfrm>
            <a:custGeom>
              <a:avLst/>
              <a:gdLst/>
              <a:ahLst/>
              <a:cxnLst/>
              <a:rect l="l" t="t" r="r" b="b"/>
              <a:pathLst>
                <a:path w="210502" h="228600">
                  <a:moveTo>
                    <a:pt x="0" y="135103"/>
                  </a:moveTo>
                  <a:lnTo>
                    <a:pt x="105251" y="194339"/>
                  </a:lnTo>
                  <a:lnTo>
                    <a:pt x="199730" y="141475"/>
                  </a:lnTo>
                  <a:lnTo>
                    <a:pt x="199730" y="162525"/>
                  </a:lnTo>
                  <a:lnTo>
                    <a:pt x="105251" y="215856"/>
                  </a:lnTo>
                  <a:lnTo>
                    <a:pt x="5391" y="159087"/>
                  </a:lnTo>
                  <a:lnTo>
                    <a:pt x="10" y="162020"/>
                  </a:lnTo>
                  <a:lnTo>
                    <a:pt x="10" y="169354"/>
                  </a:lnTo>
                  <a:lnTo>
                    <a:pt x="105251" y="228600"/>
                  </a:lnTo>
                  <a:lnTo>
                    <a:pt x="210502" y="169374"/>
                  </a:lnTo>
                  <a:lnTo>
                    <a:pt x="210502" y="128254"/>
                  </a:lnTo>
                  <a:lnTo>
                    <a:pt x="205597" y="125311"/>
                  </a:lnTo>
                  <a:lnTo>
                    <a:pt x="105251" y="182099"/>
                  </a:lnTo>
                  <a:lnTo>
                    <a:pt x="11268" y="128254"/>
                  </a:lnTo>
                  <a:lnTo>
                    <a:pt x="11268" y="107204"/>
                  </a:lnTo>
                  <a:lnTo>
                    <a:pt x="105251" y="160068"/>
                  </a:lnTo>
                  <a:lnTo>
                    <a:pt x="210502" y="100841"/>
                  </a:lnTo>
                  <a:lnTo>
                    <a:pt x="210502" y="60198"/>
                  </a:lnTo>
                  <a:lnTo>
                    <a:pt x="205597" y="57264"/>
                  </a:lnTo>
                  <a:lnTo>
                    <a:pt x="105251" y="114052"/>
                  </a:lnTo>
                  <a:lnTo>
                    <a:pt x="16164" y="63637"/>
                  </a:lnTo>
                  <a:lnTo>
                    <a:pt x="105251" y="13221"/>
                  </a:lnTo>
                  <a:lnTo>
                    <a:pt x="179165" y="54826"/>
                  </a:lnTo>
                  <a:lnTo>
                    <a:pt x="185528" y="50911"/>
                  </a:lnTo>
                  <a:lnTo>
                    <a:pt x="185528" y="45520"/>
                  </a:lnTo>
                  <a:lnTo>
                    <a:pt x="105251" y="0"/>
                  </a:lnTo>
                  <a:lnTo>
                    <a:pt x="0" y="59722"/>
                  </a:lnTo>
                  <a:lnTo>
                    <a:pt x="0" y="66580"/>
                  </a:lnTo>
                  <a:lnTo>
                    <a:pt x="105251" y="125797"/>
                  </a:lnTo>
                  <a:lnTo>
                    <a:pt x="199730" y="72933"/>
                  </a:lnTo>
                  <a:lnTo>
                    <a:pt x="199730" y="94459"/>
                  </a:lnTo>
                  <a:lnTo>
                    <a:pt x="105251" y="147828"/>
                  </a:lnTo>
                  <a:lnTo>
                    <a:pt x="5391" y="91059"/>
                  </a:lnTo>
                  <a:lnTo>
                    <a:pt x="10" y="93993"/>
                  </a:lnTo>
                  <a:close/>
                </a:path>
              </a:pathLst>
            </a:custGeom>
            <a:solidFill>
              <a:srgbClr val="17140D"/>
            </a:solidFill>
            <a:ln>
              <a:noFill/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1222058" y="5015389"/>
              <a:ext cx="969627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Databricks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2938462" y="5031581"/>
              <a:ext cx="197131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Forward Deployed Engineer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5795962" y="5031581"/>
              <a:ext cx="419159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在数据与 AI 平台之上，把 lakehouse 能力落地为客户生产系统</a:t>
              </a:r>
            </a:p>
          </p:txBody>
        </p:sp>
        <p:sp>
          <p:nvSpPr>
            <p:cNvPr id="64" name="Line 64"/>
            <p:cNvSpPr/>
            <p:nvPr/>
          </p:nvSpPr>
          <p:spPr>
            <a:xfrm>
              <a:off x="571500" y="489585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E2DCCD"/>
              </a:solidFill>
            </a:ln>
          </p:spPr>
        </p:sp>
        <p:sp>
          <p:nvSpPr>
            <p:cNvPr id="65" name="Rectangle 65"/>
            <p:cNvSpPr/>
            <p:nvPr/>
          </p:nvSpPr>
          <p:spPr>
            <a:xfrm>
              <a:off x="571500" y="5295900"/>
              <a:ext cx="11049000" cy="400050"/>
            </a:xfrm>
            <a:prstGeom prst="rect">
              <a:avLst/>
            </a:prstGeom>
            <a:solidFill>
              <a:srgbClr val="EFEBE0"/>
            </a:solidFill>
            <a:ln>
              <a:noFill/>
            </a:ln>
          </p:spPr>
        </p:sp>
        <p:sp>
          <p:nvSpPr>
            <p:cNvPr id="66" name="Freeform 66"/>
            <p:cNvSpPr/>
            <p:nvPr/>
          </p:nvSpPr>
          <p:spPr>
            <a:xfrm>
              <a:off x="764657" y="5411638"/>
              <a:ext cx="120739" cy="137722"/>
            </a:xfrm>
            <a:custGeom>
              <a:avLst/>
              <a:gdLst/>
              <a:ahLst/>
              <a:cxnLst/>
              <a:rect l="l" t="t" r="r" b="b"/>
              <a:pathLst>
                <a:path w="120739" h="137722">
                  <a:moveTo>
                    <a:pt x="16450" y="21565"/>
                  </a:moveTo>
                  <a:cubicBezTo>
                    <a:pt x="31309" y="21565"/>
                    <a:pt x="44587" y="30137"/>
                    <a:pt x="51597" y="42567"/>
                  </a:cubicBezTo>
                  <a:cubicBezTo>
                    <a:pt x="57598" y="39710"/>
                    <a:pt x="64456" y="38281"/>
                    <a:pt x="71599" y="38281"/>
                  </a:cubicBezTo>
                  <a:cubicBezTo>
                    <a:pt x="98746" y="38281"/>
                    <a:pt x="120739" y="60569"/>
                    <a:pt x="120739" y="88001"/>
                  </a:cubicBezTo>
                  <a:cubicBezTo>
                    <a:pt x="120739" y="115433"/>
                    <a:pt x="98736" y="137722"/>
                    <a:pt x="71438" y="137722"/>
                  </a:cubicBezTo>
                  <a:cubicBezTo>
                    <a:pt x="68151" y="137722"/>
                    <a:pt x="64865" y="137303"/>
                    <a:pt x="61722" y="136731"/>
                  </a:cubicBezTo>
                  <a:cubicBezTo>
                    <a:pt x="56007" y="136731"/>
                    <a:pt x="50721" y="135303"/>
                    <a:pt x="46006" y="133160"/>
                  </a:cubicBezTo>
                  <a:cubicBezTo>
                    <a:pt x="43434" y="133750"/>
                    <a:pt x="40862" y="133883"/>
                    <a:pt x="38148" y="133883"/>
                  </a:cubicBezTo>
                  <a:cubicBezTo>
                    <a:pt x="17155" y="133883"/>
                    <a:pt x="0" y="116738"/>
                    <a:pt x="0" y="95307"/>
                  </a:cubicBezTo>
                  <a:cubicBezTo>
                    <a:pt x="0" y="81020"/>
                    <a:pt x="7725" y="68590"/>
                    <a:pt x="19145" y="61874"/>
                  </a:cubicBezTo>
                  <a:cubicBezTo>
                    <a:pt x="16716" y="56445"/>
                    <a:pt x="15431" y="50444"/>
                    <a:pt x="15431" y="44291"/>
                  </a:cubicBezTo>
                  <a:cubicBezTo>
                    <a:pt x="15431" y="19717"/>
                    <a:pt x="35433" y="0"/>
                    <a:pt x="59722" y="0"/>
                  </a:cubicBezTo>
                  <a:cubicBezTo>
                    <a:pt x="74295" y="0"/>
                    <a:pt x="86868" y="6715"/>
                    <a:pt x="95155" y="17145"/>
                  </a:cubicBezTo>
                </a:path>
              </a:pathLst>
            </a:custGeom>
            <a:solidFill>
              <a:srgbClr val="17140D"/>
            </a:solidFill>
            <a:ln>
              <a:noFill/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1222058" y="5415439"/>
              <a:ext cx="969627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Salesforce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2938462" y="5431631"/>
              <a:ext cx="197131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Forward Deployed Engineer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5795962" y="5431631"/>
              <a:ext cx="401157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Agentforce 时代的现场交付，对 adoption 与业务结果负责</a:t>
              </a:r>
            </a:p>
          </p:txBody>
        </p:sp>
        <p:sp>
          <p:nvSpPr>
            <p:cNvPr id="70" name="Line 70"/>
            <p:cNvSpPr/>
            <p:nvPr/>
          </p:nvSpPr>
          <p:spPr>
            <a:xfrm>
              <a:off x="571500" y="52959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E2DCCD"/>
              </a:solidFill>
            </a:ln>
          </p:spPr>
        </p:sp>
        <p:grpSp>
          <p:nvGrpSpPr>
            <p:cNvPr id="78" name="Group 78"/>
            <p:cNvGrpSpPr/>
            <p:nvPr/>
          </p:nvGrpSpPr>
          <p:grpSpPr>
            <a:xfrm>
              <a:off x="714375" y="5810250"/>
              <a:ext cx="171450" cy="180975"/>
              <a:chOff x="714375" y="5810250"/>
              <a:chExt cx="171450" cy="180975"/>
            </a:xfrm>
          </p:grpSpPr>
          <p:sp>
            <p:nvSpPr>
              <p:cNvPr id="71" name="Freeform 71"/>
              <p:cNvSpPr/>
              <p:nvPr/>
            </p:nvSpPr>
            <p:spPr>
              <a:xfrm>
                <a:off x="714375" y="5981700"/>
                <a:ext cx="1714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1450" h="9525">
                    <a:moveTo>
                      <a:pt x="0" y="0"/>
                    </a:moveTo>
                    <a:lnTo>
                      <a:pt x="171450" y="0"/>
                    </a:lnTo>
                  </a:path>
                </a:pathLst>
              </a:custGeom>
              <a:noFill/>
              <a:ln w="19050">
                <a:solidFill>
                  <a:srgbClr val="6A6356"/>
                </a:solidFill>
              </a:ln>
            </p:spPr>
          </p:sp>
          <p:sp>
            <p:nvSpPr>
              <p:cNvPr id="72" name="Freeform 72"/>
              <p:cNvSpPr/>
              <p:nvPr/>
            </p:nvSpPr>
            <p:spPr>
              <a:xfrm>
                <a:off x="733425" y="5810250"/>
                <a:ext cx="76200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76200" h="171450">
                    <a:moveTo>
                      <a:pt x="0" y="171450"/>
                    </a:moveTo>
                    <a:lnTo>
                      <a:pt x="0" y="38100"/>
                    </a:lnTo>
                    <a:lnTo>
                      <a:pt x="76200" y="0"/>
                    </a:lnTo>
                    <a:lnTo>
                      <a:pt x="76200" y="171450"/>
                    </a:lnTo>
                  </a:path>
                </a:pathLst>
              </a:custGeom>
              <a:noFill/>
              <a:ln w="19050">
                <a:solidFill>
                  <a:srgbClr val="6A6356"/>
                </a:solidFill>
              </a:ln>
            </p:spPr>
          </p:sp>
          <p:sp>
            <p:nvSpPr>
              <p:cNvPr id="73" name="Freeform 73"/>
              <p:cNvSpPr/>
              <p:nvPr/>
            </p:nvSpPr>
            <p:spPr>
              <a:xfrm>
                <a:off x="809625" y="5848350"/>
                <a:ext cx="57150" cy="133350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133350">
                    <a:moveTo>
                      <a:pt x="57150" y="133350"/>
                    </a:moveTo>
                    <a:lnTo>
                      <a:pt x="57150" y="38100"/>
                    </a:lnTo>
                    <a:lnTo>
                      <a:pt x="0" y="0"/>
                    </a:lnTo>
                  </a:path>
                </a:pathLst>
              </a:custGeom>
              <a:noFill/>
              <a:ln w="19050">
                <a:solidFill>
                  <a:srgbClr val="6A6356"/>
                </a:solidFill>
              </a:ln>
            </p:spPr>
          </p:sp>
          <p:sp>
            <p:nvSpPr>
              <p:cNvPr id="74" name="Freeform 74"/>
              <p:cNvSpPr/>
              <p:nvPr/>
            </p:nvSpPr>
            <p:spPr>
              <a:xfrm>
                <a:off x="771525" y="58674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6A6356"/>
                </a:solidFill>
              </a:ln>
            </p:spPr>
          </p:sp>
          <p:sp>
            <p:nvSpPr>
              <p:cNvPr id="75" name="Freeform 75"/>
              <p:cNvSpPr/>
              <p:nvPr/>
            </p:nvSpPr>
            <p:spPr>
              <a:xfrm>
                <a:off x="771525" y="589597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6A6356"/>
                </a:solidFill>
              </a:ln>
            </p:spPr>
          </p:sp>
          <p:sp>
            <p:nvSpPr>
              <p:cNvPr id="76" name="Freeform 76"/>
              <p:cNvSpPr/>
              <p:nvPr/>
            </p:nvSpPr>
            <p:spPr>
              <a:xfrm>
                <a:off x="771525" y="592455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6A6356"/>
                </a:solidFill>
              </a:ln>
            </p:spPr>
          </p:sp>
          <p:sp>
            <p:nvSpPr>
              <p:cNvPr id="77" name="Freeform 77"/>
              <p:cNvSpPr/>
              <p:nvPr/>
            </p:nvSpPr>
            <p:spPr>
              <a:xfrm>
                <a:off x="771525" y="595312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6A6356"/>
                </a:solidFill>
              </a:ln>
            </p:spPr>
          </p:sp>
        </p:grpSp>
        <p:sp>
          <p:nvSpPr>
            <p:cNvPr id="79" name="TextBox 79"/>
            <p:cNvSpPr txBox="1"/>
            <p:nvPr/>
          </p:nvSpPr>
          <p:spPr>
            <a:xfrm>
              <a:off x="1222058" y="5815489"/>
              <a:ext cx="1469490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Sierra · Decagon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2938462" y="5831681"/>
              <a:ext cx="197131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Forward Deployed Engineer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5795962" y="5831681"/>
              <a:ext cx="416909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连同 Harvey 等一批 AI 应用公司，把 FDE 作为商业化核心岗位</a:t>
              </a:r>
            </a:p>
          </p:txBody>
        </p:sp>
        <p:sp>
          <p:nvSpPr>
            <p:cNvPr id="82" name="Line 82"/>
            <p:cNvSpPr/>
            <p:nvPr/>
          </p:nvSpPr>
          <p:spPr>
            <a:xfrm>
              <a:off x="571500" y="569595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E2DCCD"/>
              </a:solidFill>
            </a:ln>
          </p:spPr>
        </p:sp>
        <p:sp>
          <p:nvSpPr>
            <p:cNvPr id="83" name="Line 83"/>
            <p:cNvSpPr/>
            <p:nvPr/>
          </p:nvSpPr>
          <p:spPr>
            <a:xfrm>
              <a:off x="571500" y="60960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19050">
              <a:solidFill>
                <a:srgbClr val="17140D"/>
              </a:solidFill>
            </a:ln>
          </p:spPr>
        </p:sp>
      </p:grpSp>
      <p:grpSp>
        <p:nvGrpSpPr>
          <p:cNvPr id="88" name="Group 88"/>
          <p:cNvGrpSpPr/>
          <p:nvPr/>
        </p:nvGrpSpPr>
        <p:grpSpPr>
          <a:xfrm>
            <a:off x="571500" y="6517891"/>
            <a:ext cx="11060430" cy="225809"/>
            <a:chOff x="571500" y="6517891"/>
            <a:chExt cx="11060430" cy="225809"/>
          </a:xfrm>
        </p:grpSpPr>
        <p:pic>
          <p:nvPicPr>
            <p:cNvPr id="85" name="Image 85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71500" y="6517891"/>
              <a:ext cx="190500" cy="184919"/>
            </a:xfrm>
            <a:prstGeom prst="rect">
              <a:avLst/>
            </a:prstGeom>
          </p:spPr>
        </p:pic>
        <p:sp>
          <p:nvSpPr>
            <p:cNvPr id="86" name="TextBox 86"/>
            <p:cNvSpPr txBox="1"/>
            <p:nvPr/>
          </p:nvSpPr>
          <p:spPr>
            <a:xfrm>
              <a:off x="845820" y="6560820"/>
              <a:ext cx="187109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openfde.net · /docs/companies</a:t>
              </a:r>
            </a:p>
          </p:txBody>
        </p:sp>
        <p:sp>
          <p:nvSpPr>
            <p:cNvPr id="87" name="TextBox 87"/>
            <p:cNvSpPr txBox="1"/>
            <p:nvPr/>
          </p:nvSpPr>
          <p:spPr>
            <a:xfrm>
              <a:off x="11207020" y="6560820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11 / 26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5" dur="4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41" grpId="0"/>
      <p:bldP spid="8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</p:sp>
      <p:grpSp>
        <p:nvGrpSpPr>
          <p:cNvPr id="8" name="Group 8"/>
          <p:cNvGrpSpPr/>
          <p:nvPr/>
        </p:nvGrpSpPr>
        <p:grpSpPr>
          <a:xfrm>
            <a:off x="539115" y="571500"/>
            <a:ext cx="11095672" cy="909638"/>
            <a:chOff x="539115" y="571500"/>
            <a:chExt cx="11095672" cy="909638"/>
          </a:xfrm>
        </p:grpSpPr>
        <p:sp>
          <p:nvSpPr>
            <p:cNvPr id="3" name="Rectangle 3"/>
            <p:cNvSpPr/>
            <p:nvPr/>
          </p:nvSpPr>
          <p:spPr>
            <a:xfrm>
              <a:off x="571500" y="571500"/>
              <a:ext cx="381000" cy="28575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557212" y="735806"/>
              <a:ext cx="131236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概念层 · 工作闭环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39115" y="962978"/>
              <a:ext cx="5563257" cy="518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10 步工作流，最后一步回到第一步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8538329" y="1078706"/>
              <a:ext cx="309645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客户问题 → 生产系统 → 产品能力 → 下一个客户</a:t>
              </a:r>
            </a:p>
          </p:txBody>
        </p:sp>
        <p:sp>
          <p:nvSpPr>
            <p:cNvPr id="7" name="Line 7"/>
            <p:cNvSpPr/>
            <p:nvPr/>
          </p:nvSpPr>
          <p:spPr>
            <a:xfrm>
              <a:off x="571500" y="14478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14288">
              <a:solidFill>
                <a:srgbClr val="D4CDB9"/>
              </a:solidFill>
            </a:ln>
          </p:spPr>
        </p:sp>
      </p:grpSp>
      <p:grpSp>
        <p:nvGrpSpPr>
          <p:cNvPr id="13" name="Group 13"/>
          <p:cNvGrpSpPr/>
          <p:nvPr/>
        </p:nvGrpSpPr>
        <p:grpSpPr>
          <a:xfrm>
            <a:off x="1238250" y="2419350"/>
            <a:ext cx="9715881" cy="3209925"/>
            <a:chOff x="1238250" y="2419350"/>
            <a:chExt cx="9715881" cy="3209925"/>
          </a:xfrm>
        </p:grpSpPr>
        <p:sp>
          <p:nvSpPr>
            <p:cNvPr id="9" name="Freeform 9"/>
            <p:cNvSpPr/>
            <p:nvPr/>
          </p:nvSpPr>
          <p:spPr>
            <a:xfrm>
              <a:off x="1238250" y="2419350"/>
              <a:ext cx="9239250" cy="2857500"/>
            </a:xfrm>
            <a:custGeom>
              <a:avLst/>
              <a:gdLst/>
              <a:ahLst/>
              <a:cxnLst/>
              <a:rect l="l" t="t" r="r" b="b"/>
              <a:pathLst>
                <a:path w="9239250" h="2857500">
                  <a:moveTo>
                    <a:pt x="666750" y="0"/>
                  </a:moveTo>
                  <a:lnTo>
                    <a:pt x="8477250" y="0"/>
                  </a:lnTo>
                  <a:cubicBezTo>
                    <a:pt x="8898091" y="0"/>
                    <a:pt x="9239250" y="341159"/>
                    <a:pt x="9239250" y="762000"/>
                  </a:cubicBezTo>
                  <a:cubicBezTo>
                    <a:pt x="9239250" y="1182841"/>
                    <a:pt x="8898091" y="1524000"/>
                    <a:pt x="8477250" y="1524000"/>
                  </a:cubicBezTo>
                  <a:lnTo>
                    <a:pt x="666750" y="1524000"/>
                  </a:lnTo>
                  <a:cubicBezTo>
                    <a:pt x="298514" y="1524000"/>
                    <a:pt x="0" y="1822514"/>
                    <a:pt x="0" y="2190750"/>
                  </a:cubicBezTo>
                  <a:cubicBezTo>
                    <a:pt x="0" y="2558986"/>
                    <a:pt x="298514" y="2857500"/>
                    <a:pt x="666750" y="2857500"/>
                  </a:cubicBezTo>
                  <a:lnTo>
                    <a:pt x="9048750" y="2857500"/>
                  </a:lnTo>
                </a:path>
              </a:pathLst>
            </a:custGeom>
            <a:noFill/>
            <a:ln w="209550" cap="rnd">
              <a:solidFill>
                <a:srgbClr val="E2DCCD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1238250" y="2419350"/>
              <a:ext cx="9239250" cy="2857500"/>
            </a:xfrm>
            <a:custGeom>
              <a:avLst/>
              <a:gdLst/>
              <a:ahLst/>
              <a:cxnLst/>
              <a:rect l="l" t="t" r="r" b="b"/>
              <a:pathLst>
                <a:path w="9239250" h="2857500">
                  <a:moveTo>
                    <a:pt x="666750" y="0"/>
                  </a:moveTo>
                  <a:lnTo>
                    <a:pt x="8477250" y="0"/>
                  </a:lnTo>
                  <a:cubicBezTo>
                    <a:pt x="8898091" y="0"/>
                    <a:pt x="9239250" y="341159"/>
                    <a:pt x="9239250" y="762000"/>
                  </a:cubicBezTo>
                  <a:cubicBezTo>
                    <a:pt x="9239250" y="1182841"/>
                    <a:pt x="8898091" y="1524000"/>
                    <a:pt x="8477250" y="1524000"/>
                  </a:cubicBezTo>
                  <a:lnTo>
                    <a:pt x="666750" y="1524000"/>
                  </a:lnTo>
                  <a:cubicBezTo>
                    <a:pt x="298514" y="1524000"/>
                    <a:pt x="0" y="1822514"/>
                    <a:pt x="0" y="2190750"/>
                  </a:cubicBezTo>
                  <a:cubicBezTo>
                    <a:pt x="0" y="2558986"/>
                    <a:pt x="298514" y="2857500"/>
                    <a:pt x="666750" y="2857500"/>
                  </a:cubicBezTo>
                  <a:lnTo>
                    <a:pt x="9048750" y="2857500"/>
                  </a:lnTo>
                </a:path>
              </a:pathLst>
            </a:custGeom>
            <a:noFill/>
            <a:ln w="19050">
              <a:solidFill>
                <a:srgbClr val="C4471F">
                  <a:alpha val="50000"/>
                </a:srgbClr>
              </a:solidFill>
              <a:custDash>
                <a:ds d="300000" sp="400000"/>
              </a:custDash>
            </a:ln>
          </p:spPr>
        </p:sp>
        <p:sp>
          <p:nvSpPr>
            <p:cNvPr id="11" name="Polygon 11"/>
            <p:cNvSpPr/>
            <p:nvPr/>
          </p:nvSpPr>
          <p:spPr>
            <a:xfrm>
              <a:off x="10287000" y="5191125"/>
              <a:ext cx="190500" cy="171450"/>
            </a:xfrm>
            <a:custGeom>
              <a:avLst/>
              <a:gdLst/>
              <a:ahLst/>
              <a:cxnLst/>
              <a:rect l="l" t="t" r="r" b="b"/>
              <a:pathLst>
                <a:path w="190500" h="171450">
                  <a:moveTo>
                    <a:pt x="190500" y="85725"/>
                  </a:moveTo>
                  <a:lnTo>
                    <a:pt x="0" y="0"/>
                  </a:lnTo>
                  <a:lnTo>
                    <a:pt x="0" y="171450"/>
                  </a:lnTo>
                  <a:close/>
                </a:path>
              </a:pathLst>
            </a:custGeom>
            <a:solidFill>
              <a:srgbClr val="C4471F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0523220" y="5446395"/>
              <a:ext cx="43091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回到 01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762000" y="1600200"/>
            <a:ext cx="10096500" cy="523875"/>
            <a:chOff x="762000" y="1600200"/>
            <a:chExt cx="10096500" cy="523875"/>
          </a:xfrm>
        </p:grpSpPr>
        <p:sp>
          <p:nvSpPr>
            <p:cNvPr id="14" name="Rectangle 14"/>
            <p:cNvSpPr/>
            <p:nvPr/>
          </p:nvSpPr>
          <p:spPr>
            <a:xfrm>
              <a:off x="762000" y="1600200"/>
              <a:ext cx="2286000" cy="51435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762000" y="1600200"/>
              <a:ext cx="2286000" cy="38100"/>
            </a:xfrm>
            <a:prstGeom prst="rect">
              <a:avLst/>
            </a:prstGeom>
            <a:solidFill>
              <a:srgbClr val="17140D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289085" y="1718310"/>
              <a:ext cx="123183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账户 / 场景选择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99458" y="1941195"/>
              <a:ext cx="1811084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优先高 ROI、能成行业模板的场景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3362325" y="1600200"/>
              <a:ext cx="2286000" cy="51435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3362325" y="1600200"/>
              <a:ext cx="2286000" cy="38100"/>
            </a:xfrm>
            <a:prstGeom prst="rect">
              <a:avLst/>
            </a:prstGeom>
            <a:solidFill>
              <a:srgbClr val="17140D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3733990" y="1718310"/>
              <a:ext cx="1542669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Discovery 业务发现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533775" y="1941195"/>
              <a:ext cx="194310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问真实目标、流程、数据与成功度量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5972175" y="1600200"/>
              <a:ext cx="2286000" cy="51435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5972175" y="1600200"/>
              <a:ext cx="2286000" cy="38100"/>
            </a:xfrm>
            <a:prstGeom prst="rect">
              <a:avLst/>
            </a:prstGeom>
            <a:solidFill>
              <a:srgbClr val="17140D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398447" y="1718310"/>
              <a:ext cx="1433455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Technical scoping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134624" y="1941195"/>
              <a:ext cx="196110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定界：哪些用 LLM，哪些用规则检索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572500" y="1600200"/>
              <a:ext cx="2286000" cy="51435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8572500" y="1600200"/>
              <a:ext cx="2286000" cy="38100"/>
            </a:xfrm>
            <a:prstGeom prst="rect">
              <a:avLst/>
            </a:prstGeom>
            <a:solidFill>
              <a:srgbClr val="17140D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8805548" y="1718310"/>
              <a:ext cx="1819904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Architecture 系统设计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638937" y="1941195"/>
              <a:ext cx="215312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入口、权限、数据、Agent、评估、部署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3362325" y="4305300"/>
            <a:ext cx="4895850" cy="523875"/>
            <a:chOff x="3362325" y="4305300"/>
            <a:chExt cx="4895850" cy="523875"/>
          </a:xfrm>
        </p:grpSpPr>
        <p:sp>
          <p:nvSpPr>
            <p:cNvPr id="31" name="Rectangle 31"/>
            <p:cNvSpPr/>
            <p:nvPr/>
          </p:nvSpPr>
          <p:spPr>
            <a:xfrm>
              <a:off x="5972175" y="4305300"/>
              <a:ext cx="2286000" cy="51435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5972175" y="4305300"/>
              <a:ext cx="2286000" cy="38100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322838" y="4423410"/>
              <a:ext cx="1584674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Prototype 快速原型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263640" y="4646295"/>
              <a:ext cx="170307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常是全栈，验需求、成本与延迟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3362325" y="4305300"/>
              <a:ext cx="2286000" cy="51435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3362325" y="4305300"/>
              <a:ext cx="2286000" cy="38100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3965019" y="4423410"/>
              <a:ext cx="1080611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Eval 评估体系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3455765" y="4646295"/>
              <a:ext cx="209912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golden set + 离线在线评估 + 人工复核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8477250" y="4152900"/>
            <a:ext cx="3143250" cy="1009650"/>
            <a:chOff x="8477250" y="4152900"/>
            <a:chExt cx="3143250" cy="1009650"/>
          </a:xfrm>
        </p:grpSpPr>
        <p:sp>
          <p:nvSpPr>
            <p:cNvPr id="40" name="Rectangle 40"/>
            <p:cNvSpPr/>
            <p:nvPr/>
          </p:nvSpPr>
          <p:spPr>
            <a:xfrm>
              <a:off x="8477250" y="4152900"/>
              <a:ext cx="3143250" cy="1009650"/>
            </a:xfrm>
            <a:prstGeom prst="rect">
              <a:avLst/>
            </a:prstGeom>
            <a:solidFill>
              <a:srgbClr val="F6E7DD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8477250" y="4152900"/>
              <a:ext cx="38100" cy="1009650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8667750" y="4276725"/>
              <a:ext cx="1928336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它为什么是「闭环」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8672512" y="4583906"/>
              <a:ext cx="2478881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800"/>
                </a:lnSpc>
              </a:pP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第 9 步的沉淀让下一个客户更快落地：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 xml:space="preserve">同行业第二家，交付人天 </a:t>
              </a:r>
              <a:r>
                <a:rPr lang="zh-CN" sz="1125" b="1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20 → 10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。</a:t>
              </a:r>
            </a:p>
          </p:txBody>
        </p:sp>
      </p:grpSp>
      <p:grpSp>
        <p:nvGrpSpPr>
          <p:cNvPr id="61" name="Group 61"/>
          <p:cNvGrpSpPr/>
          <p:nvPr/>
        </p:nvGrpSpPr>
        <p:grpSpPr>
          <a:xfrm>
            <a:off x="762000" y="5600700"/>
            <a:ext cx="10096500" cy="523875"/>
            <a:chOff x="762000" y="5600700"/>
            <a:chExt cx="10096500" cy="523875"/>
          </a:xfrm>
        </p:grpSpPr>
        <p:sp>
          <p:nvSpPr>
            <p:cNvPr id="45" name="Rectangle 45"/>
            <p:cNvSpPr/>
            <p:nvPr/>
          </p:nvSpPr>
          <p:spPr>
            <a:xfrm>
              <a:off x="762000" y="5600700"/>
              <a:ext cx="2286000" cy="51435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46" name="Rectangle 46"/>
            <p:cNvSpPr/>
            <p:nvPr/>
          </p:nvSpPr>
          <p:spPr>
            <a:xfrm>
              <a:off x="762000" y="5600700"/>
              <a:ext cx="2286000" cy="38100"/>
            </a:xfrm>
            <a:prstGeom prst="rect">
              <a:avLst/>
            </a:prstGeom>
            <a:solidFill>
              <a:srgbClr val="B8552E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1167270" y="5718810"/>
              <a:ext cx="1475461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Productionization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894445" y="5941695"/>
              <a:ext cx="20211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鉴权、审计、合规、SLA、成本与响应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3362325" y="5600700"/>
              <a:ext cx="2286000" cy="51435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50" name="Rectangle 50"/>
            <p:cNvSpPr/>
            <p:nvPr/>
          </p:nvSpPr>
          <p:spPr>
            <a:xfrm>
              <a:off x="3362325" y="5600700"/>
              <a:ext cx="2286000" cy="38100"/>
            </a:xfrm>
            <a:prstGeom prst="rect">
              <a:avLst/>
            </a:prstGeom>
            <a:solidFill>
              <a:srgbClr val="B8552E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3780196" y="5718810"/>
              <a:ext cx="1450257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Adoption 用户采用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3533775" y="5941695"/>
              <a:ext cx="194310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上线不等于价值：试点、培训、复盘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5972175" y="5600700"/>
              <a:ext cx="2286000" cy="51435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54" name="Rectangle 54"/>
            <p:cNvSpPr/>
            <p:nvPr/>
          </p:nvSpPr>
          <p:spPr>
            <a:xfrm>
              <a:off x="5972175" y="5600700"/>
              <a:ext cx="2286000" cy="38100"/>
            </a:xfrm>
            <a:prstGeom prst="rect">
              <a:avLst/>
            </a:prstGeom>
            <a:solidFill>
              <a:srgbClr val="B8552E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6322838" y="5718810"/>
              <a:ext cx="1584674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Generalization 沉淀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5948601" y="5941695"/>
              <a:ext cx="233314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变连接器、模板、eval harness、playbook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8572500" y="5600700"/>
              <a:ext cx="2286000" cy="51435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58" name="Rectangle 58"/>
            <p:cNvSpPr/>
            <p:nvPr/>
          </p:nvSpPr>
          <p:spPr>
            <a:xfrm>
              <a:off x="8572500" y="5600700"/>
              <a:ext cx="2286000" cy="38100"/>
            </a:xfrm>
            <a:prstGeom prst="rect">
              <a:avLst/>
            </a:prstGeom>
            <a:solidFill>
              <a:srgbClr val="B8552E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9053379" y="5718810"/>
              <a:ext cx="132424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Commercial 扩展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8743950" y="5941695"/>
              <a:ext cx="194310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同客户扩科、同行业复制、打包方案</a:t>
              </a:r>
            </a:p>
          </p:txBody>
        </p:sp>
      </p:grpSp>
      <p:grpSp>
        <p:nvGrpSpPr>
          <p:cNvPr id="82" name="Group 82"/>
          <p:cNvGrpSpPr/>
          <p:nvPr/>
        </p:nvGrpSpPr>
        <p:grpSpPr>
          <a:xfrm>
            <a:off x="1619250" y="2133600"/>
            <a:ext cx="8382000" cy="3429000"/>
            <a:chOff x="1619250" y="2133600"/>
            <a:chExt cx="8382000" cy="3429000"/>
          </a:xfrm>
        </p:grpSpPr>
        <p:sp>
          <p:nvSpPr>
            <p:cNvPr id="62" name="Ellipse 62"/>
            <p:cNvSpPr/>
            <p:nvPr/>
          </p:nvSpPr>
          <p:spPr>
            <a:xfrm>
              <a:off x="1619250" y="2133600"/>
              <a:ext cx="571500" cy="571500"/>
            </a:xfrm>
            <a:prstGeom prst="ellipse">
              <a:avLst/>
            </a:prstGeom>
            <a:solidFill>
              <a:srgbClr val="17140D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1783892" y="2349818"/>
              <a:ext cx="24221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7F5EF"/>
                  </a:solidFill>
                  <a:latin typeface="Georgia"/>
                  <a:ea typeface="KaiTi"/>
                  <a:cs typeface="Georgia"/>
                </a:rPr>
                <a:t>01</a:t>
              </a:r>
            </a:p>
          </p:txBody>
        </p:sp>
        <p:sp>
          <p:nvSpPr>
            <p:cNvPr id="64" name="Ellipse 64"/>
            <p:cNvSpPr/>
            <p:nvPr/>
          </p:nvSpPr>
          <p:spPr>
            <a:xfrm>
              <a:off x="4219575" y="2133600"/>
              <a:ext cx="571500" cy="571500"/>
            </a:xfrm>
            <a:prstGeom prst="ellipse">
              <a:avLst/>
            </a:prstGeom>
            <a:solidFill>
              <a:srgbClr val="17140D"/>
            </a:solidFill>
            <a:ln>
              <a:noFill/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4384217" y="2349818"/>
              <a:ext cx="24221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7F5EF"/>
                  </a:solidFill>
                  <a:latin typeface="Georgia"/>
                  <a:ea typeface="KaiTi"/>
                  <a:cs typeface="Georgia"/>
                </a:rPr>
                <a:t>02</a:t>
              </a:r>
            </a:p>
          </p:txBody>
        </p:sp>
        <p:sp>
          <p:nvSpPr>
            <p:cNvPr id="66" name="Ellipse 66"/>
            <p:cNvSpPr/>
            <p:nvPr/>
          </p:nvSpPr>
          <p:spPr>
            <a:xfrm>
              <a:off x="6829425" y="2133600"/>
              <a:ext cx="571500" cy="571500"/>
            </a:xfrm>
            <a:prstGeom prst="ellipse">
              <a:avLst/>
            </a:prstGeom>
            <a:solidFill>
              <a:srgbClr val="17140D"/>
            </a:solidFill>
            <a:ln>
              <a:noFill/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6994067" y="2349818"/>
              <a:ext cx="24221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7F5EF"/>
                  </a:solidFill>
                  <a:latin typeface="Georgia"/>
                  <a:ea typeface="KaiTi"/>
                  <a:cs typeface="Georgia"/>
                </a:rPr>
                <a:t>03</a:t>
              </a:r>
            </a:p>
          </p:txBody>
        </p:sp>
        <p:sp>
          <p:nvSpPr>
            <p:cNvPr id="68" name="Ellipse 68"/>
            <p:cNvSpPr/>
            <p:nvPr/>
          </p:nvSpPr>
          <p:spPr>
            <a:xfrm>
              <a:off x="9429750" y="2133600"/>
              <a:ext cx="571500" cy="571500"/>
            </a:xfrm>
            <a:prstGeom prst="ellipse">
              <a:avLst/>
            </a:prstGeom>
            <a:solidFill>
              <a:srgbClr val="17140D"/>
            </a:solidFill>
            <a:ln>
              <a:noFill/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9594392" y="2349818"/>
              <a:ext cx="24221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7F5EF"/>
                  </a:solidFill>
                  <a:latin typeface="Georgia"/>
                  <a:ea typeface="KaiTi"/>
                  <a:cs typeface="Georgia"/>
                </a:rPr>
                <a:t>04</a:t>
              </a:r>
            </a:p>
          </p:txBody>
        </p:sp>
        <p:sp>
          <p:nvSpPr>
            <p:cNvPr id="70" name="Ellipse 70"/>
            <p:cNvSpPr/>
            <p:nvPr/>
          </p:nvSpPr>
          <p:spPr>
            <a:xfrm>
              <a:off x="6829425" y="3657600"/>
              <a:ext cx="571500" cy="571500"/>
            </a:xfrm>
            <a:prstGeom prst="ellipse">
              <a:avLst/>
            </a:prstGeom>
            <a:solidFill>
              <a:srgbClr val="C4471F"/>
            </a:solidFill>
            <a:ln>
              <a:noFill/>
            </a:ln>
          </p:spPr>
        </p:sp>
        <p:sp>
          <p:nvSpPr>
            <p:cNvPr id="71" name="TextBox 71"/>
            <p:cNvSpPr txBox="1"/>
            <p:nvPr/>
          </p:nvSpPr>
          <p:spPr>
            <a:xfrm>
              <a:off x="6994067" y="3873818"/>
              <a:ext cx="24221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7F5EF"/>
                  </a:solidFill>
                  <a:latin typeface="Georgia"/>
                  <a:ea typeface="KaiTi"/>
                  <a:cs typeface="Georgia"/>
                </a:rPr>
                <a:t>05</a:t>
              </a:r>
            </a:p>
          </p:txBody>
        </p:sp>
        <p:sp>
          <p:nvSpPr>
            <p:cNvPr id="72" name="Ellipse 72"/>
            <p:cNvSpPr/>
            <p:nvPr/>
          </p:nvSpPr>
          <p:spPr>
            <a:xfrm>
              <a:off x="4219575" y="3657600"/>
              <a:ext cx="571500" cy="571500"/>
            </a:xfrm>
            <a:prstGeom prst="ellipse">
              <a:avLst/>
            </a:prstGeom>
            <a:solidFill>
              <a:srgbClr val="C4471F"/>
            </a:solidFill>
            <a:ln>
              <a:noFill/>
            </a:ln>
          </p:spPr>
        </p:sp>
        <p:sp>
          <p:nvSpPr>
            <p:cNvPr id="73" name="TextBox 73"/>
            <p:cNvSpPr txBox="1"/>
            <p:nvPr/>
          </p:nvSpPr>
          <p:spPr>
            <a:xfrm>
              <a:off x="4384217" y="3873818"/>
              <a:ext cx="24221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7F5EF"/>
                  </a:solidFill>
                  <a:latin typeface="Georgia"/>
                  <a:ea typeface="KaiTi"/>
                  <a:cs typeface="Georgia"/>
                </a:rPr>
                <a:t>06</a:t>
              </a:r>
            </a:p>
          </p:txBody>
        </p:sp>
        <p:sp>
          <p:nvSpPr>
            <p:cNvPr id="74" name="Ellipse 74"/>
            <p:cNvSpPr/>
            <p:nvPr/>
          </p:nvSpPr>
          <p:spPr>
            <a:xfrm>
              <a:off x="1619250" y="4991100"/>
              <a:ext cx="571500" cy="571500"/>
            </a:xfrm>
            <a:prstGeom prst="ellipse">
              <a:avLst/>
            </a:prstGeom>
            <a:solidFill>
              <a:srgbClr val="B8552E"/>
            </a:solidFill>
            <a:ln>
              <a:noFill/>
            </a:ln>
          </p:spPr>
        </p:sp>
        <p:sp>
          <p:nvSpPr>
            <p:cNvPr id="75" name="TextBox 75"/>
            <p:cNvSpPr txBox="1"/>
            <p:nvPr/>
          </p:nvSpPr>
          <p:spPr>
            <a:xfrm>
              <a:off x="1783892" y="5207318"/>
              <a:ext cx="24221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7F5EF"/>
                  </a:solidFill>
                  <a:latin typeface="Georgia"/>
                  <a:ea typeface="KaiTi"/>
                  <a:cs typeface="Georgia"/>
                </a:rPr>
                <a:t>07</a:t>
              </a:r>
            </a:p>
          </p:txBody>
        </p:sp>
        <p:sp>
          <p:nvSpPr>
            <p:cNvPr id="76" name="Ellipse 76"/>
            <p:cNvSpPr/>
            <p:nvPr/>
          </p:nvSpPr>
          <p:spPr>
            <a:xfrm>
              <a:off x="4219575" y="4991100"/>
              <a:ext cx="571500" cy="571500"/>
            </a:xfrm>
            <a:prstGeom prst="ellipse">
              <a:avLst/>
            </a:prstGeom>
            <a:solidFill>
              <a:srgbClr val="B8552E"/>
            </a:solidFill>
            <a:ln>
              <a:noFill/>
            </a:ln>
          </p:spPr>
        </p:sp>
        <p:sp>
          <p:nvSpPr>
            <p:cNvPr id="77" name="TextBox 77"/>
            <p:cNvSpPr txBox="1"/>
            <p:nvPr/>
          </p:nvSpPr>
          <p:spPr>
            <a:xfrm>
              <a:off x="4384217" y="5207318"/>
              <a:ext cx="24221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7F5EF"/>
                  </a:solidFill>
                  <a:latin typeface="Georgia"/>
                  <a:ea typeface="KaiTi"/>
                  <a:cs typeface="Georgia"/>
                </a:rPr>
                <a:t>08</a:t>
              </a:r>
            </a:p>
          </p:txBody>
        </p:sp>
        <p:sp>
          <p:nvSpPr>
            <p:cNvPr id="78" name="Ellipse 78"/>
            <p:cNvSpPr/>
            <p:nvPr/>
          </p:nvSpPr>
          <p:spPr>
            <a:xfrm>
              <a:off x="6829425" y="4991100"/>
              <a:ext cx="571500" cy="571500"/>
            </a:xfrm>
            <a:prstGeom prst="ellipse">
              <a:avLst/>
            </a:prstGeom>
            <a:solidFill>
              <a:srgbClr val="B8552E"/>
            </a:solidFill>
            <a:ln>
              <a:noFill/>
            </a:ln>
          </p:spPr>
        </p:sp>
        <p:sp>
          <p:nvSpPr>
            <p:cNvPr id="79" name="TextBox 79"/>
            <p:cNvSpPr txBox="1"/>
            <p:nvPr/>
          </p:nvSpPr>
          <p:spPr>
            <a:xfrm>
              <a:off x="6994067" y="5207318"/>
              <a:ext cx="24221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7F5EF"/>
                  </a:solidFill>
                  <a:latin typeface="Georgia"/>
                  <a:ea typeface="KaiTi"/>
                  <a:cs typeface="Georgia"/>
                </a:rPr>
                <a:t>09</a:t>
              </a:r>
            </a:p>
          </p:txBody>
        </p:sp>
        <p:sp>
          <p:nvSpPr>
            <p:cNvPr id="80" name="Ellipse 80"/>
            <p:cNvSpPr/>
            <p:nvPr/>
          </p:nvSpPr>
          <p:spPr>
            <a:xfrm>
              <a:off x="9429750" y="4991100"/>
              <a:ext cx="571500" cy="571500"/>
            </a:xfrm>
            <a:prstGeom prst="ellipse">
              <a:avLst/>
            </a:prstGeom>
            <a:solidFill>
              <a:srgbClr val="B8552E"/>
            </a:solidFill>
            <a:ln>
              <a:noFill/>
            </a:ln>
          </p:spPr>
        </p:sp>
        <p:sp>
          <p:nvSpPr>
            <p:cNvPr id="81" name="TextBox 81"/>
            <p:cNvSpPr txBox="1"/>
            <p:nvPr/>
          </p:nvSpPr>
          <p:spPr>
            <a:xfrm>
              <a:off x="9594392" y="5207318"/>
              <a:ext cx="24221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7F5EF"/>
                  </a:solidFill>
                  <a:latin typeface="Georgia"/>
                  <a:ea typeface="KaiTi"/>
                  <a:cs typeface="Georgia"/>
                </a:rPr>
                <a:t>10</a:t>
              </a:r>
            </a:p>
          </p:txBody>
        </p:sp>
      </p:grpSp>
      <p:grpSp>
        <p:nvGrpSpPr>
          <p:cNvPr id="86" name="Group 86"/>
          <p:cNvGrpSpPr/>
          <p:nvPr/>
        </p:nvGrpSpPr>
        <p:grpSpPr>
          <a:xfrm>
            <a:off x="571500" y="6517891"/>
            <a:ext cx="11060430" cy="225809"/>
            <a:chOff x="571500" y="6517891"/>
            <a:chExt cx="11060430" cy="225809"/>
          </a:xfrm>
        </p:grpSpPr>
        <p:pic>
          <p:nvPicPr>
            <p:cNvPr id="83" name="Image 8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71500" y="6517891"/>
              <a:ext cx="190500" cy="184919"/>
            </a:xfrm>
            <a:prstGeom prst="rect">
              <a:avLst/>
            </a:prstGeom>
          </p:spPr>
        </p:pic>
        <p:sp>
          <p:nvSpPr>
            <p:cNvPr id="84" name="TextBox 84"/>
            <p:cNvSpPr txBox="1"/>
            <p:nvPr/>
          </p:nvSpPr>
          <p:spPr>
            <a:xfrm>
              <a:off x="845820" y="6560820"/>
              <a:ext cx="182908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openfde.net · /docs/workflow</a:t>
              </a:r>
            </a:p>
          </p:txBody>
        </p:sp>
        <p:sp>
          <p:nvSpPr>
            <p:cNvPr id="85" name="TextBox 85"/>
            <p:cNvSpPr txBox="1"/>
            <p:nvPr/>
          </p:nvSpPr>
          <p:spPr>
            <a:xfrm>
              <a:off x="11207020" y="6560820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12 / 26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23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30" grpId="0"/>
      <p:bldP spid="39" grpId="0"/>
      <p:bldP spid="44" grpId="0"/>
      <p:bldP spid="61" grpId="0"/>
      <p:bldP spid="8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</p:sp>
      <p:grpSp>
        <p:nvGrpSpPr>
          <p:cNvPr id="7" name="Group 7"/>
          <p:cNvGrpSpPr/>
          <p:nvPr/>
        </p:nvGrpSpPr>
        <p:grpSpPr>
          <a:xfrm>
            <a:off x="539115" y="571500"/>
            <a:ext cx="11081385" cy="909638"/>
            <a:chOff x="539115" y="571500"/>
            <a:chExt cx="11081385" cy="909638"/>
          </a:xfrm>
        </p:grpSpPr>
        <p:sp>
          <p:nvSpPr>
            <p:cNvPr id="3" name="Rectangle 3"/>
            <p:cNvSpPr/>
            <p:nvPr/>
          </p:nvSpPr>
          <p:spPr>
            <a:xfrm>
              <a:off x="571500" y="571500"/>
              <a:ext cx="381000" cy="28575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557212" y="735806"/>
              <a:ext cx="131236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概念层 · 能力模型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39115" y="962978"/>
              <a:ext cx="4349306" cy="518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稀缺的不是某一项，是组合</a:t>
              </a:r>
            </a:p>
          </p:txBody>
        </p:sp>
        <p:sp>
          <p:nvSpPr>
            <p:cNvPr id="6" name="Line 6"/>
            <p:cNvSpPr/>
            <p:nvPr/>
          </p:nvSpPr>
          <p:spPr>
            <a:xfrm>
              <a:off x="571500" y="14478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14288">
              <a:solidFill>
                <a:srgbClr val="D4CDB9"/>
              </a:solidFill>
            </a:ln>
          </p:spPr>
        </p:sp>
      </p:grpSp>
      <p:grpSp>
        <p:nvGrpSpPr>
          <p:cNvPr id="38" name="Group 38"/>
          <p:cNvGrpSpPr/>
          <p:nvPr/>
        </p:nvGrpSpPr>
        <p:grpSpPr>
          <a:xfrm>
            <a:off x="562035" y="1554956"/>
            <a:ext cx="6495930" cy="4686300"/>
            <a:chOff x="562035" y="1554956"/>
            <a:chExt cx="6495930" cy="4686300"/>
          </a:xfrm>
        </p:grpSpPr>
        <p:sp>
          <p:nvSpPr>
            <p:cNvPr id="8" name="Line 8"/>
            <p:cNvSpPr/>
            <p:nvPr/>
          </p:nvSpPr>
          <p:spPr>
            <a:xfrm>
              <a:off x="3810000" y="1905000"/>
              <a:ext cx="9525" cy="1905000"/>
            </a:xfrm>
            <a:custGeom>
              <a:avLst/>
              <a:gdLst/>
              <a:ahLst/>
              <a:cxnLst/>
              <a:rect l="l" t="t" r="r" b="b"/>
              <a:pathLst>
                <a:path w="9525" h="1905000">
                  <a:moveTo>
                    <a:pt x="0" y="1905000"/>
                  </a:moveTo>
                  <a:lnTo>
                    <a:pt x="0" y="0"/>
                  </a:lnTo>
                </a:path>
              </a:pathLst>
            </a:custGeom>
            <a:noFill/>
            <a:ln w="9525">
              <a:solidFill>
                <a:srgbClr val="E2DCCD"/>
              </a:solidFill>
            </a:ln>
          </p:spPr>
        </p:sp>
        <p:sp>
          <p:nvSpPr>
            <p:cNvPr id="9" name="Line 9"/>
            <p:cNvSpPr/>
            <p:nvPr/>
          </p:nvSpPr>
          <p:spPr>
            <a:xfrm>
              <a:off x="3810000" y="2462974"/>
              <a:ext cx="1347025" cy="1347026"/>
            </a:xfrm>
            <a:custGeom>
              <a:avLst/>
              <a:gdLst/>
              <a:ahLst/>
              <a:cxnLst/>
              <a:rect l="l" t="t" r="r" b="b"/>
              <a:pathLst>
                <a:path w="1347025" h="1347026">
                  <a:moveTo>
                    <a:pt x="0" y="1347026"/>
                  </a:moveTo>
                  <a:lnTo>
                    <a:pt x="1347025" y="0"/>
                  </a:lnTo>
                </a:path>
              </a:pathLst>
            </a:custGeom>
            <a:noFill/>
            <a:ln w="9525">
              <a:solidFill>
                <a:srgbClr val="E2DCCD"/>
              </a:solidFill>
            </a:ln>
          </p:spPr>
        </p:sp>
        <p:sp>
          <p:nvSpPr>
            <p:cNvPr id="10" name="Line 10"/>
            <p:cNvSpPr/>
            <p:nvPr/>
          </p:nvSpPr>
          <p:spPr>
            <a:xfrm>
              <a:off x="3810000" y="3810000"/>
              <a:ext cx="1905000" cy="9525"/>
            </a:xfrm>
            <a:custGeom>
              <a:avLst/>
              <a:gdLst/>
              <a:ahLst/>
              <a:cxnLst/>
              <a:rect l="l" t="t" r="r" b="b"/>
              <a:pathLst>
                <a:path w="1905000" h="9525">
                  <a:moveTo>
                    <a:pt x="0" y="0"/>
                  </a:moveTo>
                  <a:lnTo>
                    <a:pt x="1905000" y="0"/>
                  </a:lnTo>
                </a:path>
              </a:pathLst>
            </a:custGeom>
            <a:noFill/>
            <a:ln w="9525">
              <a:solidFill>
                <a:srgbClr val="E2DCCD"/>
              </a:solidFill>
            </a:ln>
          </p:spPr>
        </p:sp>
        <p:sp>
          <p:nvSpPr>
            <p:cNvPr id="11" name="Line 11"/>
            <p:cNvSpPr/>
            <p:nvPr/>
          </p:nvSpPr>
          <p:spPr>
            <a:xfrm>
              <a:off x="3810000" y="3810000"/>
              <a:ext cx="1347025" cy="1347025"/>
            </a:xfrm>
            <a:custGeom>
              <a:avLst/>
              <a:gdLst/>
              <a:ahLst/>
              <a:cxnLst/>
              <a:rect l="l" t="t" r="r" b="b"/>
              <a:pathLst>
                <a:path w="1347025" h="1347025">
                  <a:moveTo>
                    <a:pt x="0" y="0"/>
                  </a:moveTo>
                  <a:lnTo>
                    <a:pt x="1347025" y="1347025"/>
                  </a:lnTo>
                </a:path>
              </a:pathLst>
            </a:custGeom>
            <a:noFill/>
            <a:ln w="9525">
              <a:solidFill>
                <a:srgbClr val="E2DCCD"/>
              </a:solidFill>
            </a:ln>
          </p:spPr>
        </p:sp>
        <p:sp>
          <p:nvSpPr>
            <p:cNvPr id="12" name="Line 12"/>
            <p:cNvSpPr/>
            <p:nvPr/>
          </p:nvSpPr>
          <p:spPr>
            <a:xfrm>
              <a:off x="3810000" y="3810000"/>
              <a:ext cx="9525" cy="1905000"/>
            </a:xfrm>
            <a:custGeom>
              <a:avLst/>
              <a:gdLst/>
              <a:ahLst/>
              <a:cxnLst/>
              <a:rect l="l" t="t" r="r" b="b"/>
              <a:pathLst>
                <a:path w="9525" h="1905000">
                  <a:moveTo>
                    <a:pt x="0" y="0"/>
                  </a:moveTo>
                  <a:lnTo>
                    <a:pt x="0" y="1905000"/>
                  </a:lnTo>
                </a:path>
              </a:pathLst>
            </a:custGeom>
            <a:noFill/>
            <a:ln w="9525">
              <a:solidFill>
                <a:srgbClr val="E2DCCD"/>
              </a:solidFill>
            </a:ln>
          </p:spPr>
        </p:sp>
        <p:sp>
          <p:nvSpPr>
            <p:cNvPr id="13" name="Line 13"/>
            <p:cNvSpPr/>
            <p:nvPr/>
          </p:nvSpPr>
          <p:spPr>
            <a:xfrm>
              <a:off x="2462974" y="3810000"/>
              <a:ext cx="1347026" cy="1347025"/>
            </a:xfrm>
            <a:custGeom>
              <a:avLst/>
              <a:gdLst/>
              <a:ahLst/>
              <a:cxnLst/>
              <a:rect l="l" t="t" r="r" b="b"/>
              <a:pathLst>
                <a:path w="1347026" h="1347025">
                  <a:moveTo>
                    <a:pt x="1347026" y="0"/>
                  </a:moveTo>
                  <a:lnTo>
                    <a:pt x="0" y="1347025"/>
                  </a:lnTo>
                </a:path>
              </a:pathLst>
            </a:custGeom>
            <a:noFill/>
            <a:ln w="9525">
              <a:solidFill>
                <a:srgbClr val="E2DCCD"/>
              </a:solidFill>
            </a:ln>
          </p:spPr>
        </p:sp>
        <p:sp>
          <p:nvSpPr>
            <p:cNvPr id="14" name="Line 14"/>
            <p:cNvSpPr/>
            <p:nvPr/>
          </p:nvSpPr>
          <p:spPr>
            <a:xfrm>
              <a:off x="1905000" y="3810000"/>
              <a:ext cx="1905000" cy="9525"/>
            </a:xfrm>
            <a:custGeom>
              <a:avLst/>
              <a:gdLst/>
              <a:ahLst/>
              <a:cxnLst/>
              <a:rect l="l" t="t" r="r" b="b"/>
              <a:pathLst>
                <a:path w="1905000" h="9525">
                  <a:moveTo>
                    <a:pt x="1905000" y="0"/>
                  </a:moveTo>
                  <a:lnTo>
                    <a:pt x="0" y="0"/>
                  </a:lnTo>
                </a:path>
              </a:pathLst>
            </a:custGeom>
            <a:noFill/>
            <a:ln w="9525">
              <a:solidFill>
                <a:srgbClr val="E2DCCD"/>
              </a:solidFill>
            </a:ln>
          </p:spPr>
        </p:sp>
        <p:sp>
          <p:nvSpPr>
            <p:cNvPr id="15" name="Line 15"/>
            <p:cNvSpPr/>
            <p:nvPr/>
          </p:nvSpPr>
          <p:spPr>
            <a:xfrm>
              <a:off x="2462974" y="2462974"/>
              <a:ext cx="1347026" cy="1347026"/>
            </a:xfrm>
            <a:custGeom>
              <a:avLst/>
              <a:gdLst/>
              <a:ahLst/>
              <a:cxnLst/>
              <a:rect l="l" t="t" r="r" b="b"/>
              <a:pathLst>
                <a:path w="1347026" h="1347026">
                  <a:moveTo>
                    <a:pt x="1347026" y="1347026"/>
                  </a:moveTo>
                  <a:lnTo>
                    <a:pt x="0" y="0"/>
                  </a:lnTo>
                </a:path>
              </a:pathLst>
            </a:custGeom>
            <a:noFill/>
            <a:ln w="9525">
              <a:solidFill>
                <a:srgbClr val="E2DCCD"/>
              </a:solidFill>
            </a:ln>
          </p:spPr>
        </p:sp>
        <p:sp>
          <p:nvSpPr>
            <p:cNvPr id="16" name="Polygon 16"/>
            <p:cNvSpPr/>
            <p:nvPr/>
          </p:nvSpPr>
          <p:spPr>
            <a:xfrm>
              <a:off x="1905000" y="1905000"/>
              <a:ext cx="3810000" cy="3810000"/>
            </a:xfrm>
            <a:custGeom>
              <a:avLst/>
              <a:gdLst/>
              <a:ahLst/>
              <a:cxnLst/>
              <a:rect l="l" t="t" r="r" b="b"/>
              <a:pathLst>
                <a:path w="3810000" h="3810000">
                  <a:moveTo>
                    <a:pt x="1905000" y="0"/>
                  </a:moveTo>
                  <a:lnTo>
                    <a:pt x="3252025" y="557974"/>
                  </a:lnTo>
                  <a:lnTo>
                    <a:pt x="3810000" y="1905000"/>
                  </a:lnTo>
                  <a:lnTo>
                    <a:pt x="3252025" y="3252025"/>
                  </a:lnTo>
                  <a:lnTo>
                    <a:pt x="1905000" y="3810000"/>
                  </a:lnTo>
                  <a:lnTo>
                    <a:pt x="557974" y="3252025"/>
                  </a:lnTo>
                  <a:lnTo>
                    <a:pt x="0" y="1905000"/>
                  </a:lnTo>
                  <a:lnTo>
                    <a:pt x="557974" y="557974"/>
                  </a:lnTo>
                  <a:close/>
                </a:path>
              </a:pathLst>
            </a:custGeom>
            <a:solidFill>
              <a:srgbClr val="FFFDF8"/>
            </a:solidFill>
            <a:ln w="14288">
              <a:solidFill>
                <a:srgbClr val="D4CDB9"/>
              </a:solidFill>
            </a:ln>
          </p:spPr>
        </p:sp>
        <p:sp>
          <p:nvSpPr>
            <p:cNvPr id="17" name="Polygon 17"/>
            <p:cNvSpPr/>
            <p:nvPr/>
          </p:nvSpPr>
          <p:spPr>
            <a:xfrm>
              <a:off x="2286000" y="2286000"/>
              <a:ext cx="3048000" cy="3048000"/>
            </a:xfrm>
            <a:custGeom>
              <a:avLst/>
              <a:gdLst/>
              <a:ahLst/>
              <a:cxnLst/>
              <a:rect l="l" t="t" r="r" b="b"/>
              <a:pathLst>
                <a:path w="3048000" h="3048000">
                  <a:moveTo>
                    <a:pt x="1524000" y="0"/>
                  </a:moveTo>
                  <a:lnTo>
                    <a:pt x="2601658" y="446342"/>
                  </a:lnTo>
                  <a:lnTo>
                    <a:pt x="3048000" y="1524000"/>
                  </a:lnTo>
                  <a:lnTo>
                    <a:pt x="2601658" y="2601658"/>
                  </a:lnTo>
                  <a:lnTo>
                    <a:pt x="1524000" y="3048000"/>
                  </a:lnTo>
                  <a:lnTo>
                    <a:pt x="446342" y="2601658"/>
                  </a:lnTo>
                  <a:lnTo>
                    <a:pt x="0" y="1524000"/>
                  </a:lnTo>
                  <a:lnTo>
                    <a:pt x="446342" y="446342"/>
                  </a:lnTo>
                  <a:close/>
                </a:path>
              </a:pathLst>
            </a:custGeom>
            <a:noFill/>
            <a:ln w="9525">
              <a:solidFill>
                <a:srgbClr val="ECE7DA"/>
              </a:solidFill>
            </a:ln>
          </p:spPr>
        </p:sp>
        <p:sp>
          <p:nvSpPr>
            <p:cNvPr id="18" name="Polygon 18"/>
            <p:cNvSpPr/>
            <p:nvPr/>
          </p:nvSpPr>
          <p:spPr>
            <a:xfrm>
              <a:off x="2667000" y="2667000"/>
              <a:ext cx="2286000" cy="2286000"/>
            </a:xfrm>
            <a:custGeom>
              <a:avLst/>
              <a:gdLst/>
              <a:ahLst/>
              <a:cxnLst/>
              <a:rect l="l" t="t" r="r" b="b"/>
              <a:pathLst>
                <a:path w="2286000" h="2286000">
                  <a:moveTo>
                    <a:pt x="1143000" y="0"/>
                  </a:moveTo>
                  <a:lnTo>
                    <a:pt x="1951196" y="334804"/>
                  </a:lnTo>
                  <a:lnTo>
                    <a:pt x="2286000" y="1143000"/>
                  </a:lnTo>
                  <a:lnTo>
                    <a:pt x="1951196" y="1951196"/>
                  </a:lnTo>
                  <a:lnTo>
                    <a:pt x="1143000" y="2286000"/>
                  </a:lnTo>
                  <a:lnTo>
                    <a:pt x="334804" y="1951196"/>
                  </a:lnTo>
                  <a:lnTo>
                    <a:pt x="0" y="1143000"/>
                  </a:lnTo>
                  <a:lnTo>
                    <a:pt x="334804" y="334804"/>
                  </a:lnTo>
                  <a:close/>
                </a:path>
              </a:pathLst>
            </a:custGeom>
            <a:noFill/>
            <a:ln w="9525">
              <a:solidFill>
                <a:srgbClr val="ECE7DA"/>
              </a:solidFill>
            </a:ln>
          </p:spPr>
        </p:sp>
        <p:sp>
          <p:nvSpPr>
            <p:cNvPr id="19" name="Polygon 19"/>
            <p:cNvSpPr/>
            <p:nvPr/>
          </p:nvSpPr>
          <p:spPr>
            <a:xfrm>
              <a:off x="3048000" y="3048000"/>
              <a:ext cx="1524000" cy="1524000"/>
            </a:xfrm>
            <a:custGeom>
              <a:avLst/>
              <a:gdLst/>
              <a:ahLst/>
              <a:cxnLst/>
              <a:rect l="l" t="t" r="r" b="b"/>
              <a:pathLst>
                <a:path w="1524000" h="1524000">
                  <a:moveTo>
                    <a:pt x="762000" y="0"/>
                  </a:moveTo>
                  <a:lnTo>
                    <a:pt x="1300829" y="223171"/>
                  </a:lnTo>
                  <a:lnTo>
                    <a:pt x="1524000" y="762000"/>
                  </a:lnTo>
                  <a:lnTo>
                    <a:pt x="1300829" y="1300829"/>
                  </a:lnTo>
                  <a:lnTo>
                    <a:pt x="762000" y="1524000"/>
                  </a:lnTo>
                  <a:lnTo>
                    <a:pt x="223171" y="1300829"/>
                  </a:lnTo>
                  <a:lnTo>
                    <a:pt x="0" y="762000"/>
                  </a:lnTo>
                  <a:lnTo>
                    <a:pt x="223171" y="223171"/>
                  </a:lnTo>
                  <a:close/>
                </a:path>
              </a:pathLst>
            </a:custGeom>
            <a:noFill/>
            <a:ln w="9525">
              <a:solidFill>
                <a:srgbClr val="ECE7DA"/>
              </a:solidFill>
            </a:ln>
          </p:spPr>
        </p:sp>
        <p:sp>
          <p:nvSpPr>
            <p:cNvPr id="20" name="Polygon 20"/>
            <p:cNvSpPr/>
            <p:nvPr/>
          </p:nvSpPr>
          <p:spPr>
            <a:xfrm>
              <a:off x="3429000" y="3429000"/>
              <a:ext cx="762000" cy="762000"/>
            </a:xfrm>
            <a:custGeom>
              <a:avLst/>
              <a:gdLst/>
              <a:ahLst/>
              <a:cxnLst/>
              <a:rect l="l" t="t" r="r" b="b"/>
              <a:pathLst>
                <a:path w="762000" h="762000">
                  <a:moveTo>
                    <a:pt x="381000" y="0"/>
                  </a:moveTo>
                  <a:lnTo>
                    <a:pt x="650367" y="111633"/>
                  </a:lnTo>
                  <a:lnTo>
                    <a:pt x="762000" y="381000"/>
                  </a:lnTo>
                  <a:lnTo>
                    <a:pt x="650367" y="650367"/>
                  </a:lnTo>
                  <a:lnTo>
                    <a:pt x="381000" y="762000"/>
                  </a:lnTo>
                  <a:lnTo>
                    <a:pt x="111633" y="650367"/>
                  </a:lnTo>
                  <a:lnTo>
                    <a:pt x="0" y="381000"/>
                  </a:lnTo>
                  <a:lnTo>
                    <a:pt x="111633" y="111633"/>
                  </a:lnTo>
                  <a:close/>
                </a:path>
              </a:pathLst>
            </a:custGeom>
            <a:noFill/>
            <a:ln w="9525">
              <a:solidFill>
                <a:srgbClr val="ECE7DA"/>
              </a:solidFill>
            </a:ln>
          </p:spPr>
        </p:sp>
        <p:sp>
          <p:nvSpPr>
            <p:cNvPr id="21" name="Polygon 21"/>
            <p:cNvSpPr/>
            <p:nvPr/>
          </p:nvSpPr>
          <p:spPr>
            <a:xfrm>
              <a:off x="2171700" y="2000250"/>
              <a:ext cx="3257550" cy="3486150"/>
            </a:xfrm>
            <a:custGeom>
              <a:avLst/>
              <a:gdLst/>
              <a:ahLst/>
              <a:cxnLst/>
              <a:rect l="l" t="t" r="r" b="b"/>
              <a:pathLst>
                <a:path w="3257550" h="3486150">
                  <a:moveTo>
                    <a:pt x="1638300" y="0"/>
                  </a:moveTo>
                  <a:lnTo>
                    <a:pt x="2850642" y="597408"/>
                  </a:lnTo>
                  <a:lnTo>
                    <a:pt x="3257550" y="1809750"/>
                  </a:lnTo>
                  <a:lnTo>
                    <a:pt x="2715958" y="2887408"/>
                  </a:lnTo>
                  <a:lnTo>
                    <a:pt x="1638300" y="3486150"/>
                  </a:lnTo>
                  <a:lnTo>
                    <a:pt x="533686" y="2914364"/>
                  </a:lnTo>
                  <a:lnTo>
                    <a:pt x="0" y="1809750"/>
                  </a:lnTo>
                  <a:lnTo>
                    <a:pt x="627983" y="799433"/>
                  </a:lnTo>
                  <a:close/>
                </a:path>
              </a:pathLst>
            </a:custGeom>
            <a:solidFill>
              <a:srgbClr val="C4471F">
                <a:alpha val="18000"/>
              </a:srgbClr>
            </a:solidFill>
            <a:ln w="23812">
              <a:solidFill>
                <a:srgbClr val="C4471F"/>
              </a:solidFill>
            </a:ln>
          </p:spPr>
        </p:sp>
        <p:sp>
          <p:nvSpPr>
            <p:cNvPr id="22" name="Ellipse 22"/>
            <p:cNvSpPr/>
            <p:nvPr/>
          </p:nvSpPr>
          <p:spPr>
            <a:xfrm>
              <a:off x="3762375" y="1952625"/>
              <a:ext cx="95250" cy="95250"/>
            </a:xfrm>
            <a:prstGeom prst="ellipse">
              <a:avLst/>
            </a:prstGeom>
            <a:solidFill>
              <a:srgbClr val="FFFDF8"/>
            </a:solidFill>
            <a:ln w="23812">
              <a:solidFill>
                <a:srgbClr val="C4471F"/>
              </a:solidFill>
            </a:ln>
          </p:spPr>
        </p:sp>
        <p:sp>
          <p:nvSpPr>
            <p:cNvPr id="23" name="Ellipse 23"/>
            <p:cNvSpPr/>
            <p:nvPr/>
          </p:nvSpPr>
          <p:spPr>
            <a:xfrm>
              <a:off x="4974717" y="2550033"/>
              <a:ext cx="95250" cy="95250"/>
            </a:xfrm>
            <a:prstGeom prst="ellipse">
              <a:avLst/>
            </a:prstGeom>
            <a:solidFill>
              <a:srgbClr val="FFFDF8"/>
            </a:solidFill>
            <a:ln w="23812">
              <a:solidFill>
                <a:srgbClr val="C4471F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5381625" y="3762375"/>
              <a:ext cx="95250" cy="95250"/>
            </a:xfrm>
            <a:prstGeom prst="ellipse">
              <a:avLst/>
            </a:prstGeom>
            <a:solidFill>
              <a:srgbClr val="FFFDF8"/>
            </a:solidFill>
            <a:ln w="23812">
              <a:solidFill>
                <a:srgbClr val="C4471F"/>
              </a:solidFill>
            </a:ln>
          </p:spPr>
        </p:sp>
        <p:sp>
          <p:nvSpPr>
            <p:cNvPr id="25" name="Ellipse 25"/>
            <p:cNvSpPr/>
            <p:nvPr/>
          </p:nvSpPr>
          <p:spPr>
            <a:xfrm>
              <a:off x="4840034" y="4840034"/>
              <a:ext cx="95250" cy="95250"/>
            </a:xfrm>
            <a:prstGeom prst="ellipse">
              <a:avLst/>
            </a:prstGeom>
            <a:solidFill>
              <a:srgbClr val="FFFDF8"/>
            </a:solidFill>
            <a:ln w="23812">
              <a:solidFill>
                <a:srgbClr val="C4471F"/>
              </a:solidFill>
            </a:ln>
          </p:spPr>
        </p:sp>
        <p:sp>
          <p:nvSpPr>
            <p:cNvPr id="26" name="Ellipse 26"/>
            <p:cNvSpPr/>
            <p:nvPr/>
          </p:nvSpPr>
          <p:spPr>
            <a:xfrm>
              <a:off x="3762375" y="5438775"/>
              <a:ext cx="95250" cy="95250"/>
            </a:xfrm>
            <a:prstGeom prst="ellipse">
              <a:avLst/>
            </a:prstGeom>
            <a:solidFill>
              <a:srgbClr val="FFFDF8"/>
            </a:solidFill>
            <a:ln w="23812">
              <a:solidFill>
                <a:srgbClr val="C4471F"/>
              </a:solidFill>
            </a:ln>
          </p:spPr>
        </p:sp>
        <p:sp>
          <p:nvSpPr>
            <p:cNvPr id="27" name="Ellipse 27"/>
            <p:cNvSpPr/>
            <p:nvPr/>
          </p:nvSpPr>
          <p:spPr>
            <a:xfrm>
              <a:off x="2657761" y="4866989"/>
              <a:ext cx="95250" cy="95250"/>
            </a:xfrm>
            <a:prstGeom prst="ellipse">
              <a:avLst/>
            </a:prstGeom>
            <a:solidFill>
              <a:srgbClr val="FFFDF8"/>
            </a:solidFill>
            <a:ln w="23812">
              <a:solidFill>
                <a:srgbClr val="C4471F"/>
              </a:solidFill>
            </a:ln>
          </p:spPr>
        </p:sp>
        <p:sp>
          <p:nvSpPr>
            <p:cNvPr id="28" name="Ellipse 28"/>
            <p:cNvSpPr/>
            <p:nvPr/>
          </p:nvSpPr>
          <p:spPr>
            <a:xfrm>
              <a:off x="2124075" y="3762375"/>
              <a:ext cx="95250" cy="95250"/>
            </a:xfrm>
            <a:prstGeom prst="ellipse">
              <a:avLst/>
            </a:prstGeom>
            <a:solidFill>
              <a:srgbClr val="FFFDF8"/>
            </a:solidFill>
            <a:ln w="23812">
              <a:solidFill>
                <a:srgbClr val="C4471F"/>
              </a:solidFill>
            </a:ln>
          </p:spPr>
        </p:sp>
        <p:sp>
          <p:nvSpPr>
            <p:cNvPr id="29" name="Ellipse 29"/>
            <p:cNvSpPr/>
            <p:nvPr/>
          </p:nvSpPr>
          <p:spPr>
            <a:xfrm>
              <a:off x="2752058" y="2752058"/>
              <a:ext cx="95250" cy="95250"/>
            </a:xfrm>
            <a:prstGeom prst="ellipse">
              <a:avLst/>
            </a:prstGeom>
            <a:solidFill>
              <a:srgbClr val="FFFDF8"/>
            </a:solidFill>
            <a:ln w="23812">
              <a:solidFill>
                <a:srgbClr val="C4471F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3283774" y="1554956"/>
              <a:ext cx="105245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基础工程 0.95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5376862" y="2164556"/>
              <a:ext cx="91856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AI 应用 0.90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005512" y="3745706"/>
              <a:ext cx="105245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企业集成 0.85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5376862" y="5326856"/>
              <a:ext cx="73741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评估 0.80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3047494" y="6012656"/>
              <a:ext cx="152501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客户 Discovery 0.88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190685" y="5326856"/>
              <a:ext cx="105245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5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产品判断 0.82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562035" y="3745706"/>
              <a:ext cx="105245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5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沟通协作 0.86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167057" y="2164556"/>
              <a:ext cx="107608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5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云 / 安全 0.75</a:t>
              </a:r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7181850" y="1745456"/>
            <a:ext cx="4438650" cy="4338638"/>
            <a:chOff x="7181850" y="1745456"/>
            <a:chExt cx="4438650" cy="4338638"/>
          </a:xfrm>
        </p:grpSpPr>
        <p:sp>
          <p:nvSpPr>
            <p:cNvPr id="39" name="TextBox 39"/>
            <p:cNvSpPr txBox="1"/>
            <p:nvPr/>
          </p:nvSpPr>
          <p:spPr>
            <a:xfrm>
              <a:off x="7186612" y="1745456"/>
              <a:ext cx="215509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八个维度，没有一项低于 0.75</a:t>
              </a:r>
            </a:p>
          </p:txBody>
        </p:sp>
        <p:sp>
          <p:nvSpPr>
            <p:cNvPr id="40" name="Line 40"/>
            <p:cNvSpPr/>
            <p:nvPr/>
          </p:nvSpPr>
          <p:spPr>
            <a:xfrm>
              <a:off x="7200900" y="2000250"/>
              <a:ext cx="4419600" cy="9525"/>
            </a:xfrm>
            <a:custGeom>
              <a:avLst/>
              <a:gdLst/>
              <a:ahLst/>
              <a:cxnLst/>
              <a:rect l="l" t="t" r="r" b="b"/>
              <a:pathLst>
                <a:path w="4419600" h="9525">
                  <a:moveTo>
                    <a:pt x="0" y="0"/>
                  </a:moveTo>
                  <a:lnTo>
                    <a:pt x="4419600" y="0"/>
                  </a:lnTo>
                </a:path>
              </a:pathLst>
            </a:custGeom>
            <a:noFill/>
            <a:ln w="9525">
              <a:solidFill>
                <a:srgbClr val="D4CDB9"/>
              </a:solidFill>
            </a:ln>
          </p:spPr>
        </p:sp>
        <p:grpSp>
          <p:nvGrpSpPr>
            <p:cNvPr id="46" name="Group 46"/>
            <p:cNvGrpSpPr/>
            <p:nvPr/>
          </p:nvGrpSpPr>
          <p:grpSpPr>
            <a:xfrm>
              <a:off x="7244556" y="2281238"/>
              <a:ext cx="331787" cy="314325"/>
              <a:chOff x="7244556" y="2281238"/>
              <a:chExt cx="331787" cy="314325"/>
            </a:xfrm>
          </p:grpSpPr>
          <p:sp>
            <p:nvSpPr>
              <p:cNvPr id="41" name="Freeform 41"/>
              <p:cNvSpPr/>
              <p:nvPr/>
            </p:nvSpPr>
            <p:spPr>
              <a:xfrm>
                <a:off x="7244556" y="2281238"/>
                <a:ext cx="331787" cy="314325"/>
              </a:xfrm>
              <a:custGeom>
                <a:avLst/>
                <a:gdLst/>
                <a:ahLst/>
                <a:cxnLst/>
                <a:rect l="l" t="t" r="r" b="b"/>
                <a:pathLst>
                  <a:path w="331787" h="314325">
                    <a:moveTo>
                      <a:pt x="165894" y="0"/>
                    </a:moveTo>
                    <a:lnTo>
                      <a:pt x="331787" y="122238"/>
                    </a:lnTo>
                    <a:lnTo>
                      <a:pt x="270669" y="314325"/>
                    </a:lnTo>
                    <a:lnTo>
                      <a:pt x="61119" y="314325"/>
                    </a:lnTo>
                    <a:lnTo>
                      <a:pt x="0" y="122238"/>
                    </a:lnTo>
                    <a:lnTo>
                      <a:pt x="165894" y="0"/>
                    </a:ln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7314406" y="2359819"/>
                <a:ext cx="192088" cy="165894"/>
              </a:xfrm>
              <a:custGeom>
                <a:avLst/>
                <a:gdLst/>
                <a:ahLst/>
                <a:cxnLst/>
                <a:rect l="l" t="t" r="r" b="b"/>
                <a:pathLst>
                  <a:path w="192088" h="165894">
                    <a:moveTo>
                      <a:pt x="96044" y="0"/>
                    </a:moveTo>
                    <a:lnTo>
                      <a:pt x="192088" y="69850"/>
                    </a:lnTo>
                    <a:lnTo>
                      <a:pt x="148431" y="165894"/>
                    </a:lnTo>
                    <a:lnTo>
                      <a:pt x="34925" y="165894"/>
                    </a:lnTo>
                    <a:lnTo>
                      <a:pt x="0" y="69850"/>
                    </a:lnTo>
                    <a:lnTo>
                      <a:pt x="96044" y="0"/>
                    </a:ln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7244556" y="2403475"/>
                <a:ext cx="331787" cy="52387"/>
              </a:xfrm>
              <a:custGeom>
                <a:avLst/>
                <a:gdLst/>
                <a:ahLst/>
                <a:cxnLst/>
                <a:rect l="l" t="t" r="r" b="b"/>
                <a:pathLst>
                  <a:path w="331787" h="52387">
                    <a:moveTo>
                      <a:pt x="0" y="0"/>
                    </a:moveTo>
                    <a:lnTo>
                      <a:pt x="165894" y="52387"/>
                    </a:lnTo>
                    <a:lnTo>
                      <a:pt x="331787" y="0"/>
                    </a:ln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  <p:sp>
            <p:nvSpPr>
              <p:cNvPr id="44" name="Freeform 44"/>
              <p:cNvSpPr/>
              <p:nvPr/>
            </p:nvSpPr>
            <p:spPr>
              <a:xfrm>
                <a:off x="7410450" y="2281238"/>
                <a:ext cx="104775" cy="314325"/>
              </a:xfrm>
              <a:custGeom>
                <a:avLst/>
                <a:gdLst/>
                <a:ahLst/>
                <a:cxnLst/>
                <a:rect l="l" t="t" r="r" b="b"/>
                <a:pathLst>
                  <a:path w="104775" h="314325">
                    <a:moveTo>
                      <a:pt x="0" y="0"/>
                    </a:moveTo>
                    <a:lnTo>
                      <a:pt x="0" y="174625"/>
                    </a:lnTo>
                    <a:lnTo>
                      <a:pt x="104775" y="314325"/>
                    </a:ln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7305675" y="2455862"/>
                <a:ext cx="104775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04775" h="139700">
                    <a:moveTo>
                      <a:pt x="0" y="139700"/>
                    </a:moveTo>
                    <a:lnTo>
                      <a:pt x="104775" y="0"/>
                    </a:ln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</p:grpSp>
        <p:sp>
          <p:nvSpPr>
            <p:cNvPr id="47" name="TextBox 47"/>
            <p:cNvSpPr txBox="1"/>
            <p:nvPr/>
          </p:nvSpPr>
          <p:spPr>
            <a:xfrm>
              <a:off x="7181850" y="2981325"/>
              <a:ext cx="3848100" cy="1219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2400"/>
                </a:lnSpc>
              </a:pP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单独会写代码的人很多，单独会客户沟通的人</a:t>
              </a: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也不少。但能在客户现场把 AI 系统从模糊需</a:t>
              </a: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求推进到 production、</a:t>
              </a:r>
              <a:r>
                <a:rPr lang="zh-CN" sz="1500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用真实指标验证它真</a:t>
              </a:r>
              <a:r>
                <a:rPr lang="zh-CN" sz="1500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的有用</a:t>
              </a: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、再把现场经验产品化的人，</a:t>
              </a:r>
              <a:r>
                <a:rPr lang="zh-CN" sz="1500" b="1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很少</a:t>
              </a: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。</a:t>
              </a:r>
            </a:p>
          </p:txBody>
        </p:sp>
        <p:sp>
          <p:nvSpPr>
            <p:cNvPr id="48" name="Line 48"/>
            <p:cNvSpPr/>
            <p:nvPr/>
          </p:nvSpPr>
          <p:spPr>
            <a:xfrm>
              <a:off x="7200900" y="4572000"/>
              <a:ext cx="4419600" cy="9525"/>
            </a:xfrm>
            <a:custGeom>
              <a:avLst/>
              <a:gdLst/>
              <a:ahLst/>
              <a:cxnLst/>
              <a:rect l="l" t="t" r="r" b="b"/>
              <a:pathLst>
                <a:path w="4419600" h="9525">
                  <a:moveTo>
                    <a:pt x="0" y="0"/>
                  </a:moveTo>
                  <a:lnTo>
                    <a:pt x="4419600" y="0"/>
                  </a:lnTo>
                </a:path>
              </a:pathLst>
            </a:custGeom>
            <a:noFill/>
            <a:ln w="9525">
              <a:solidFill>
                <a:srgbClr val="ECE7DA"/>
              </a:solidFill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7181850" y="4752975"/>
              <a:ext cx="1298258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怎么读这张图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7184708" y="5082064"/>
              <a:ext cx="3619024" cy="100203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950"/>
                </a:lnSpc>
              </a:pP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最高的两项（基础工程 0.95、AI 应用 0.90）说明</a:t>
              </a: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它首先是个</a:t>
              </a:r>
              <a:r>
                <a:rPr lang="zh-CN" sz="1275" b="1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工程岗</a:t>
              </a: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；客户 Discovery 0.88 紧随其</a:t>
              </a: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后，说明它同时要能面客。最低的云 / 安全 0.75</a:t>
              </a: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是门槛，不是卖点。</a:t>
              </a:r>
            </a:p>
          </p:txBody>
        </p:sp>
      </p:grpSp>
      <p:grpSp>
        <p:nvGrpSpPr>
          <p:cNvPr id="56" name="Group 56"/>
          <p:cNvGrpSpPr/>
          <p:nvPr/>
        </p:nvGrpSpPr>
        <p:grpSpPr>
          <a:xfrm>
            <a:off x="571500" y="6438900"/>
            <a:ext cx="11060430" cy="304800"/>
            <a:chOff x="571500" y="6438900"/>
            <a:chExt cx="11060430" cy="304800"/>
          </a:xfrm>
        </p:grpSpPr>
        <p:sp>
          <p:nvSpPr>
            <p:cNvPr id="52" name="Line 52"/>
            <p:cNvSpPr/>
            <p:nvPr/>
          </p:nvSpPr>
          <p:spPr>
            <a:xfrm>
              <a:off x="571500" y="64389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ECE7DA"/>
              </a:solidFill>
            </a:ln>
          </p:spPr>
        </p:sp>
        <p:pic>
          <p:nvPicPr>
            <p:cNvPr id="53" name="Image 5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71500" y="6517891"/>
              <a:ext cx="190500" cy="184919"/>
            </a:xfrm>
            <a:prstGeom prst="rect">
              <a:avLst/>
            </a:prstGeom>
          </p:spPr>
        </p:pic>
        <p:sp>
          <p:nvSpPr>
            <p:cNvPr id="54" name="TextBox 54"/>
            <p:cNvSpPr txBox="1"/>
            <p:nvPr/>
          </p:nvSpPr>
          <p:spPr>
            <a:xfrm>
              <a:off x="845820" y="6560820"/>
              <a:ext cx="19551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openfde.net · /docs/capabilities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1207020" y="6560820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13 / 26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/>
      <p:bldP spid="5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7F5EF"/>
            </a:solidFill>
            <a:ln>
              <a:noFill/>
            </a:ln>
          </p:spPr>
        </p:sp>
        <p:pic>
          <p:nvPicPr>
            <p:cNvPr id="3" name="Image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12192000" cy="6858000"/>
            </a:xfrm>
            <a:prstGeom prst="rect">
              <a:avLst/>
            </a:prstGeom>
          </p:spPr>
        </p:pic>
        <p:sp>
          <p:nvSpPr>
            <p:cNvPr id="4" name="Rectangle 4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F7F5EF">
                    <a:alpha val="40000"/>
                  </a:srgbClr>
                </a:gs>
                <a:gs pos="55000">
                  <a:srgbClr val="F7F5EF">
                    <a:alpha val="68000"/>
                  </a:srgbClr>
                </a:gs>
                <a:gs pos="100000">
                  <a:srgbClr val="F7F5EF">
                    <a:alpha val="94000"/>
                  </a:srgbClr>
                </a:gs>
              </a:gsLst>
              <a:lin ang="5400000" scaled="1"/>
            </a:gradFill>
            <a:ln>
              <a:noFill/>
            </a:ln>
          </p:spPr>
        </p:sp>
      </p:grpSp>
      <p:grpSp>
        <p:nvGrpSpPr>
          <p:cNvPr id="8" name="Group 8"/>
          <p:cNvGrpSpPr/>
          <p:nvPr/>
        </p:nvGrpSpPr>
        <p:grpSpPr>
          <a:xfrm>
            <a:off x="557212" y="571500"/>
            <a:ext cx="1312360" cy="392906"/>
            <a:chOff x="557212" y="571500"/>
            <a:chExt cx="1312360" cy="392906"/>
          </a:xfrm>
        </p:grpSpPr>
        <p:sp>
          <p:nvSpPr>
            <p:cNvPr id="6" name="Rectangle 6"/>
            <p:cNvSpPr/>
            <p:nvPr/>
          </p:nvSpPr>
          <p:spPr>
            <a:xfrm>
              <a:off x="571500" y="571500"/>
              <a:ext cx="381000" cy="28575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557212" y="735806"/>
              <a:ext cx="131236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第三部分 · 商业层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514350" y="3952875"/>
            <a:ext cx="11106150" cy="1890713"/>
            <a:chOff x="514350" y="3952875"/>
            <a:chExt cx="11106150" cy="1890713"/>
          </a:xfrm>
        </p:grpSpPr>
        <p:sp>
          <p:nvSpPr>
            <p:cNvPr id="9" name="TextBox 9"/>
            <p:cNvSpPr txBox="1"/>
            <p:nvPr/>
          </p:nvSpPr>
          <p:spPr>
            <a:xfrm>
              <a:off x="514350" y="3952875"/>
              <a:ext cx="4524851" cy="914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50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讲完岗位，说钱</a:t>
              </a:r>
            </a:p>
          </p:txBody>
        </p:sp>
        <p:sp>
          <p:nvSpPr>
            <p:cNvPr id="10" name="Line 10"/>
            <p:cNvSpPr/>
            <p:nvPr/>
          </p:nvSpPr>
          <p:spPr>
            <a:xfrm>
              <a:off x="571500" y="48006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19050">
              <a:solidFill>
                <a:srgbClr val="17140D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46735" y="5047298"/>
              <a:ext cx="8110538" cy="79629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3150"/>
                </a:lnSpc>
              </a:pPr>
              <a:r>
                <a:rPr lang="zh-CN" sz="1950" b="1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前面在免费讲一个岗位；从这一页开始，它在卖一支队伍。</a:t>
              </a:r>
              <a:r>
                <a:rPr lang="zh-CN" sz="1950" b="1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核心承诺先说：</a:t>
              </a:r>
              <a:r>
                <a:rPr lang="zh-CN" sz="1950" b="1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不卖人天，不卖标准软件，收入和你的结果绑在一起。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557212" y="6279356"/>
            <a:ext cx="11074718" cy="228600"/>
            <a:chOff x="557212" y="6279356"/>
            <a:chExt cx="11074718" cy="228600"/>
          </a:xfrm>
        </p:grpSpPr>
        <p:sp>
          <p:nvSpPr>
            <p:cNvPr id="13" name="TextBox 13"/>
            <p:cNvSpPr txBox="1"/>
            <p:nvPr/>
          </p:nvSpPr>
          <p:spPr>
            <a:xfrm>
              <a:off x="557212" y="6279356"/>
              <a:ext cx="760452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接下来 9 页：9 个行业 · 4 个场景 · 5 个招牌案例 · 交付平台 · 4 个专家 Agent · 蒸馏引擎 · 信任边界 · 4 种服务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1207020" y="63036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14 / 26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6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1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</p:sp>
      <p:grpSp>
        <p:nvGrpSpPr>
          <p:cNvPr id="8" name="Group 8"/>
          <p:cNvGrpSpPr/>
          <p:nvPr/>
        </p:nvGrpSpPr>
        <p:grpSpPr>
          <a:xfrm>
            <a:off x="539115" y="571500"/>
            <a:ext cx="11095672" cy="909638"/>
            <a:chOff x="539115" y="571500"/>
            <a:chExt cx="11095672" cy="909638"/>
          </a:xfrm>
        </p:grpSpPr>
        <p:sp>
          <p:nvSpPr>
            <p:cNvPr id="3" name="Rectangle 3"/>
            <p:cNvSpPr/>
            <p:nvPr/>
          </p:nvSpPr>
          <p:spPr>
            <a:xfrm>
              <a:off x="571500" y="571500"/>
              <a:ext cx="381000" cy="28575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557212" y="735806"/>
              <a:ext cx="131236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商业层 · 行业方案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39115" y="962978"/>
              <a:ext cx="5063395" cy="518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九个行业，每个都带一条硬数字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9108400" y="1078706"/>
              <a:ext cx="2526387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同行业第二家客户，交付人天 20 → 10</a:t>
              </a:r>
            </a:p>
          </p:txBody>
        </p:sp>
        <p:sp>
          <p:nvSpPr>
            <p:cNvPr id="7" name="Line 7"/>
            <p:cNvSpPr/>
            <p:nvPr/>
          </p:nvSpPr>
          <p:spPr>
            <a:xfrm>
              <a:off x="571500" y="14478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14288">
              <a:solidFill>
                <a:srgbClr val="D4CDB9"/>
              </a:solidFill>
            </a:ln>
          </p:spPr>
        </p:sp>
      </p:grpSp>
      <p:grpSp>
        <p:nvGrpSpPr>
          <p:cNvPr id="45" name="Group 45"/>
          <p:cNvGrpSpPr/>
          <p:nvPr/>
        </p:nvGrpSpPr>
        <p:grpSpPr>
          <a:xfrm>
            <a:off x="571500" y="1638300"/>
            <a:ext cx="11049000" cy="1428750"/>
            <a:chOff x="571500" y="1638300"/>
            <a:chExt cx="11049000" cy="1428750"/>
          </a:xfrm>
        </p:grpSpPr>
        <p:sp>
          <p:nvSpPr>
            <p:cNvPr id="9" name="Rectangle 9"/>
            <p:cNvSpPr/>
            <p:nvPr/>
          </p:nvSpPr>
          <p:spPr>
            <a:xfrm>
              <a:off x="571500" y="1638300"/>
              <a:ext cx="3581400" cy="142875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71500" y="1638300"/>
              <a:ext cx="3581400" cy="38100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grpSp>
          <p:nvGrpSpPr>
            <p:cNvPr id="14" name="Group 14"/>
            <p:cNvGrpSpPr/>
            <p:nvPr/>
          </p:nvGrpSpPr>
          <p:grpSpPr>
            <a:xfrm>
              <a:off x="857655" y="1869281"/>
              <a:ext cx="225813" cy="242888"/>
              <a:chOff x="857655" y="1869281"/>
              <a:chExt cx="225813" cy="242888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857655" y="1936749"/>
                <a:ext cx="208754" cy="175420"/>
              </a:xfrm>
              <a:custGeom>
                <a:avLst/>
                <a:gdLst/>
                <a:ahLst/>
                <a:cxnLst/>
                <a:rect l="l" t="t" r="r" b="b"/>
                <a:pathLst>
                  <a:path w="208754" h="175420">
                    <a:moveTo>
                      <a:pt x="97623" y="175420"/>
                    </a:moveTo>
                    <a:lnTo>
                      <a:pt x="58141" y="175420"/>
                    </a:lnTo>
                    <a:cubicBezTo>
                      <a:pt x="38160" y="175419"/>
                      <a:pt x="21169" y="160840"/>
                      <a:pt x="18132" y="141092"/>
                    </a:cubicBezTo>
                    <a:lnTo>
                      <a:pt x="1197" y="31091"/>
                    </a:lnTo>
                    <a:cubicBezTo>
                      <a:pt x="0" y="23308"/>
                      <a:pt x="2262" y="15390"/>
                      <a:pt x="7390" y="9414"/>
                    </a:cubicBezTo>
                    <a:cubicBezTo>
                      <a:pt x="12518" y="3438"/>
                      <a:pt x="20000" y="0"/>
                      <a:pt x="27874" y="1"/>
                    </a:cubicBezTo>
                    <a:lnTo>
                      <a:pt x="180880" y="1"/>
                    </a:lnTo>
                    <a:cubicBezTo>
                      <a:pt x="188754" y="0"/>
                      <a:pt x="196236" y="3438"/>
                      <a:pt x="201364" y="9414"/>
                    </a:cubicBezTo>
                    <a:cubicBezTo>
                      <a:pt x="206492" y="15390"/>
                      <a:pt x="208754" y="23308"/>
                      <a:pt x="207557" y="31091"/>
                    </a:cubicBezTo>
                    <a:lnTo>
                      <a:pt x="200810" y="74918"/>
                    </a:ln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  <p:sp>
            <p:nvSpPr>
              <p:cNvPr id="12" name="Freeform 12"/>
              <p:cNvSpPr/>
              <p:nvPr/>
            </p:nvSpPr>
            <p:spPr>
              <a:xfrm>
                <a:off x="921544" y="1869281"/>
                <a:ext cx="80962" cy="107950"/>
              </a:xfrm>
              <a:custGeom>
                <a:avLst/>
                <a:gdLst/>
                <a:ahLst/>
                <a:cxnLst/>
                <a:rect l="l" t="t" r="r" b="b"/>
                <a:pathLst>
                  <a:path w="80962" h="107950">
                    <a:moveTo>
                      <a:pt x="0" y="107950"/>
                    </a:moveTo>
                    <a:lnTo>
                      <a:pt x="0" y="40481"/>
                    </a:lnTo>
                    <a:cubicBezTo>
                      <a:pt x="0" y="18124"/>
                      <a:pt x="18124" y="0"/>
                      <a:pt x="40481" y="0"/>
                    </a:cubicBezTo>
                    <a:cubicBezTo>
                      <a:pt x="62838" y="0"/>
                      <a:pt x="80962" y="18124"/>
                      <a:pt x="80962" y="40481"/>
                    </a:cubicBezTo>
                    <a:lnTo>
                      <a:pt x="80962" y="107950"/>
                    </a:ln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1002506" y="2058194"/>
                <a:ext cx="80962" cy="53975"/>
              </a:xfrm>
              <a:custGeom>
                <a:avLst/>
                <a:gdLst/>
                <a:ahLst/>
                <a:cxnLst/>
                <a:rect l="l" t="t" r="r" b="b"/>
                <a:pathLst>
                  <a:path w="80962" h="53975">
                    <a:moveTo>
                      <a:pt x="0" y="26987"/>
                    </a:moveTo>
                    <a:lnTo>
                      <a:pt x="26988" y="53975"/>
                    </a:lnTo>
                    <a:lnTo>
                      <a:pt x="80962" y="0"/>
                    </a:ln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</p:grpSp>
        <p:sp>
          <p:nvSpPr>
            <p:cNvPr id="15" name="TextBox 15"/>
            <p:cNvSpPr txBox="1"/>
            <p:nvPr/>
          </p:nvSpPr>
          <p:spPr>
            <a:xfrm>
              <a:off x="1219200" y="1895475"/>
              <a:ext cx="1088231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零售与电商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85812" y="2278856"/>
              <a:ext cx="18288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从详情页生产线到私域成交</a:t>
              </a:r>
            </a:p>
          </p:txBody>
        </p:sp>
        <p:sp>
          <p:nvSpPr>
            <p:cNvPr id="17" name="Line 17"/>
            <p:cNvSpPr/>
            <p:nvPr/>
          </p:nvSpPr>
          <p:spPr>
            <a:xfrm>
              <a:off x="800100" y="2533650"/>
              <a:ext cx="3124200" cy="9525"/>
            </a:xfrm>
            <a:custGeom>
              <a:avLst/>
              <a:gdLst/>
              <a:ahLst/>
              <a:cxnLst/>
              <a:rect l="l" t="t" r="r" b="b"/>
              <a:pathLst>
                <a:path w="3124200" h="9525">
                  <a:moveTo>
                    <a:pt x="0" y="0"/>
                  </a:moveTo>
                  <a:lnTo>
                    <a:pt x="3124200" y="0"/>
                  </a:lnTo>
                </a:path>
              </a:pathLst>
            </a:custGeom>
            <a:noFill/>
            <a:ln w="9525">
              <a:solidFill>
                <a:srgbClr val="ECE7DA"/>
              </a:solidFill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775335" y="2627948"/>
              <a:ext cx="3052905" cy="396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C4471F"/>
                  </a:solidFill>
                  <a:latin typeface="Georgia"/>
                  <a:ea typeface="KaiTi"/>
                  <a:cs typeface="Georgia"/>
                </a:rPr>
                <a:t>95%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AI 详情页套版准确率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305300" y="1638300"/>
              <a:ext cx="3581400" cy="142875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4305300" y="1638300"/>
              <a:ext cx="3581400" cy="38100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grpSp>
          <p:nvGrpSpPr>
            <p:cNvPr id="27" name="Group 27"/>
            <p:cNvGrpSpPr/>
            <p:nvPr/>
          </p:nvGrpSpPr>
          <p:grpSpPr>
            <a:xfrm>
              <a:off x="4560888" y="1869281"/>
              <a:ext cx="242888" cy="242888"/>
              <a:chOff x="4560888" y="1869281"/>
              <a:chExt cx="242888" cy="242888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4614862" y="2058194"/>
                <a:ext cx="53975" cy="53975"/>
              </a:xfrm>
              <a:custGeom>
                <a:avLst/>
                <a:gdLst/>
                <a:ahLst/>
                <a:cxnLst/>
                <a:rect l="l" t="t" r="r" b="b"/>
                <a:pathLst>
                  <a:path w="53975" h="53975">
                    <a:moveTo>
                      <a:pt x="0" y="26987"/>
                    </a:moveTo>
                    <a:cubicBezTo>
                      <a:pt x="0" y="41892"/>
                      <a:pt x="12083" y="53975"/>
                      <a:pt x="26987" y="53975"/>
                    </a:cubicBezTo>
                    <a:cubicBezTo>
                      <a:pt x="41892" y="53975"/>
                      <a:pt x="53975" y="41892"/>
                      <a:pt x="53975" y="26987"/>
                    </a:cubicBezTo>
                    <a:cubicBezTo>
                      <a:pt x="53975" y="12083"/>
                      <a:pt x="41892" y="0"/>
                      <a:pt x="26987" y="0"/>
                    </a:cubicBezTo>
                    <a:cubicBezTo>
                      <a:pt x="12083" y="0"/>
                      <a:pt x="0" y="12083"/>
                      <a:pt x="0" y="26987"/>
                    </a:cubicBez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4749800" y="2058194"/>
                <a:ext cx="53975" cy="53975"/>
              </a:xfrm>
              <a:custGeom>
                <a:avLst/>
                <a:gdLst/>
                <a:ahLst/>
                <a:cxnLst/>
                <a:rect l="l" t="t" r="r" b="b"/>
                <a:pathLst>
                  <a:path w="53975" h="53975">
                    <a:moveTo>
                      <a:pt x="0" y="26987"/>
                    </a:moveTo>
                    <a:cubicBezTo>
                      <a:pt x="0" y="41892"/>
                      <a:pt x="12083" y="53975"/>
                      <a:pt x="26987" y="53975"/>
                    </a:cubicBezTo>
                    <a:cubicBezTo>
                      <a:pt x="41892" y="53975"/>
                      <a:pt x="53975" y="41892"/>
                      <a:pt x="53975" y="26987"/>
                    </a:cubicBezTo>
                    <a:cubicBezTo>
                      <a:pt x="53975" y="12083"/>
                      <a:pt x="41892" y="0"/>
                      <a:pt x="26987" y="0"/>
                    </a:cubicBezTo>
                    <a:cubicBezTo>
                      <a:pt x="12083" y="0"/>
                      <a:pt x="0" y="12083"/>
                      <a:pt x="0" y="26987"/>
                    </a:cubicBez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4560888" y="1869281"/>
                <a:ext cx="242888" cy="148436"/>
              </a:xfrm>
              <a:custGeom>
                <a:avLst/>
                <a:gdLst/>
                <a:ahLst/>
                <a:cxnLst/>
                <a:rect l="l" t="t" r="r" b="b"/>
                <a:pathLst>
                  <a:path w="242888" h="148436">
                    <a:moveTo>
                      <a:pt x="0" y="26988"/>
                    </a:moveTo>
                    <a:lnTo>
                      <a:pt x="33734" y="26988"/>
                    </a:lnTo>
                    <a:lnTo>
                      <a:pt x="55756" y="93066"/>
                    </a:lnTo>
                    <a:cubicBezTo>
                      <a:pt x="66776" y="126133"/>
                      <a:pt x="97722" y="148436"/>
                      <a:pt x="132576" y="148431"/>
                    </a:cubicBezTo>
                    <a:lnTo>
                      <a:pt x="168672" y="148431"/>
                    </a:lnTo>
                    <a:cubicBezTo>
                      <a:pt x="209660" y="148431"/>
                      <a:pt x="242888" y="115204"/>
                      <a:pt x="242888" y="74216"/>
                    </a:cubicBezTo>
                    <a:cubicBezTo>
                      <a:pt x="242888" y="33227"/>
                      <a:pt x="209660" y="0"/>
                      <a:pt x="168672" y="0"/>
                    </a:cubicBezTo>
                    <a:lnTo>
                      <a:pt x="161925" y="0"/>
                    </a:lnTo>
                    <a:lnTo>
                      <a:pt x="161925" y="80962"/>
                    </a:ln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4614862" y="1950244"/>
                <a:ext cx="18891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88912" h="9525">
                    <a:moveTo>
                      <a:pt x="0" y="0"/>
                    </a:moveTo>
                    <a:lnTo>
                      <a:pt x="188912" y="0"/>
                    </a:ln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  <p:sp>
            <p:nvSpPr>
              <p:cNvPr id="25" name="Freeform 25"/>
              <p:cNvSpPr/>
              <p:nvPr/>
            </p:nvSpPr>
            <p:spPr>
              <a:xfrm>
                <a:off x="4655344" y="2017712"/>
                <a:ext cx="13494" cy="40481"/>
              </a:xfrm>
              <a:custGeom>
                <a:avLst/>
                <a:gdLst/>
                <a:ahLst/>
                <a:cxnLst/>
                <a:rect l="l" t="t" r="r" b="b"/>
                <a:pathLst>
                  <a:path w="13494" h="40481">
                    <a:moveTo>
                      <a:pt x="0" y="40481"/>
                    </a:moveTo>
                    <a:lnTo>
                      <a:pt x="13494" y="0"/>
                    </a:ln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  <p:sp>
            <p:nvSpPr>
              <p:cNvPr id="26" name="Freeform 26"/>
              <p:cNvSpPr/>
              <p:nvPr/>
            </p:nvSpPr>
            <p:spPr>
              <a:xfrm>
                <a:off x="4749800" y="2017712"/>
                <a:ext cx="13494" cy="40481"/>
              </a:xfrm>
              <a:custGeom>
                <a:avLst/>
                <a:gdLst/>
                <a:ahLst/>
                <a:cxnLst/>
                <a:rect l="l" t="t" r="r" b="b"/>
                <a:pathLst>
                  <a:path w="13494" h="40481">
                    <a:moveTo>
                      <a:pt x="0" y="0"/>
                    </a:moveTo>
                    <a:lnTo>
                      <a:pt x="13494" y="40481"/>
                    </a:ln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</p:grpSp>
        <p:sp>
          <p:nvSpPr>
            <p:cNvPr id="28" name="TextBox 28"/>
            <p:cNvSpPr txBox="1"/>
            <p:nvPr/>
          </p:nvSpPr>
          <p:spPr>
            <a:xfrm>
              <a:off x="4953000" y="1895475"/>
              <a:ext cx="878205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母婴消费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519612" y="2278856"/>
              <a:ext cx="170128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KOS 矩阵与品牌内容中台</a:t>
              </a:r>
            </a:p>
          </p:txBody>
        </p:sp>
        <p:sp>
          <p:nvSpPr>
            <p:cNvPr id="30" name="Line 30"/>
            <p:cNvSpPr/>
            <p:nvPr/>
          </p:nvSpPr>
          <p:spPr>
            <a:xfrm>
              <a:off x="4533900" y="2533650"/>
              <a:ext cx="3124200" cy="9525"/>
            </a:xfrm>
            <a:custGeom>
              <a:avLst/>
              <a:gdLst/>
              <a:ahLst/>
              <a:cxnLst/>
              <a:rect l="l" t="t" r="r" b="b"/>
              <a:pathLst>
                <a:path w="3124200" h="9525">
                  <a:moveTo>
                    <a:pt x="0" y="0"/>
                  </a:moveTo>
                  <a:lnTo>
                    <a:pt x="3124200" y="0"/>
                  </a:lnTo>
                </a:path>
              </a:pathLst>
            </a:custGeom>
            <a:noFill/>
            <a:ln w="9525">
              <a:solidFill>
                <a:srgbClr val="ECE7DA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4509135" y="2627948"/>
              <a:ext cx="3380546" cy="396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C4471F"/>
                  </a:solidFill>
                  <a:latin typeface="Georgia"/>
                  <a:ea typeface="KaiTi"/>
                  <a:cs typeface="Georgia"/>
                </a:rPr>
                <a:t>2,244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个 KOS 账号统一运营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8039100" y="1638300"/>
              <a:ext cx="3581400" cy="142875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8039100" y="1638300"/>
              <a:ext cx="3581400" cy="38100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grpSp>
          <p:nvGrpSpPr>
            <p:cNvPr id="40" name="Group 40"/>
            <p:cNvGrpSpPr/>
            <p:nvPr/>
          </p:nvGrpSpPr>
          <p:grpSpPr>
            <a:xfrm>
              <a:off x="8308181" y="1896269"/>
              <a:ext cx="256381" cy="229393"/>
              <a:chOff x="8308181" y="1896269"/>
              <a:chExt cx="256381" cy="229393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8308181" y="1896269"/>
                <a:ext cx="242888" cy="188912"/>
              </a:xfrm>
              <a:custGeom>
                <a:avLst/>
                <a:gdLst/>
                <a:ahLst/>
                <a:cxnLst/>
                <a:rect l="l" t="t" r="r" b="b"/>
                <a:pathLst>
                  <a:path w="242888" h="188912">
                    <a:moveTo>
                      <a:pt x="121444" y="188912"/>
                    </a:moveTo>
                    <a:lnTo>
                      <a:pt x="40481" y="188912"/>
                    </a:lnTo>
                    <a:cubicBezTo>
                      <a:pt x="18124" y="188912"/>
                      <a:pt x="0" y="170788"/>
                      <a:pt x="0" y="148431"/>
                    </a:cubicBezTo>
                    <a:lnTo>
                      <a:pt x="0" y="40481"/>
                    </a:lnTo>
                    <a:cubicBezTo>
                      <a:pt x="0" y="18124"/>
                      <a:pt x="18124" y="0"/>
                      <a:pt x="40481" y="0"/>
                    </a:cubicBezTo>
                    <a:lnTo>
                      <a:pt x="202406" y="0"/>
                    </a:lnTo>
                    <a:cubicBezTo>
                      <a:pt x="224763" y="0"/>
                      <a:pt x="242888" y="18124"/>
                      <a:pt x="242888" y="40481"/>
                    </a:cubicBezTo>
                    <a:lnTo>
                      <a:pt x="242888" y="101203"/>
                    </a:ln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8308181" y="1963738"/>
                <a:ext cx="24288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42888" h="9525">
                    <a:moveTo>
                      <a:pt x="0" y="0"/>
                    </a:moveTo>
                    <a:lnTo>
                      <a:pt x="242888" y="0"/>
                    </a:ln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8483600" y="2085181"/>
                <a:ext cx="809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80962" h="9525">
                    <a:moveTo>
                      <a:pt x="0" y="0"/>
                    </a:moveTo>
                    <a:lnTo>
                      <a:pt x="80962" y="0"/>
                    </a:ln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8524081" y="2044700"/>
                <a:ext cx="40481" cy="80962"/>
              </a:xfrm>
              <a:custGeom>
                <a:avLst/>
                <a:gdLst/>
                <a:ahLst/>
                <a:cxnLst/>
                <a:rect l="l" t="t" r="r" b="b"/>
                <a:pathLst>
                  <a:path w="40481" h="80962">
                    <a:moveTo>
                      <a:pt x="0" y="0"/>
                    </a:moveTo>
                    <a:lnTo>
                      <a:pt x="40481" y="40481"/>
                    </a:lnTo>
                    <a:lnTo>
                      <a:pt x="0" y="80962"/>
                    </a:ln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8362224" y="2031206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67" y="0"/>
                    </a:ln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8416131" y="2031206"/>
                <a:ext cx="26987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987" h="9525">
                    <a:moveTo>
                      <a:pt x="0" y="0"/>
                    </a:moveTo>
                    <a:lnTo>
                      <a:pt x="26987" y="0"/>
                    </a:ln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</p:grpSp>
        <p:sp>
          <p:nvSpPr>
            <p:cNvPr id="41" name="TextBox 41"/>
            <p:cNvSpPr txBox="1"/>
            <p:nvPr/>
          </p:nvSpPr>
          <p:spPr>
            <a:xfrm>
              <a:off x="8686800" y="1895475"/>
              <a:ext cx="878205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金融支付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253412" y="2278856"/>
              <a:ext cx="152876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合规前提下的企微私域</a:t>
              </a:r>
            </a:p>
          </p:txBody>
        </p:sp>
        <p:sp>
          <p:nvSpPr>
            <p:cNvPr id="43" name="Line 43"/>
            <p:cNvSpPr/>
            <p:nvPr/>
          </p:nvSpPr>
          <p:spPr>
            <a:xfrm>
              <a:off x="8267700" y="2533650"/>
              <a:ext cx="3124200" cy="9525"/>
            </a:xfrm>
            <a:custGeom>
              <a:avLst/>
              <a:gdLst/>
              <a:ahLst/>
              <a:cxnLst/>
              <a:rect l="l" t="t" r="r" b="b"/>
              <a:pathLst>
                <a:path w="3124200" h="9525">
                  <a:moveTo>
                    <a:pt x="0" y="0"/>
                  </a:moveTo>
                  <a:lnTo>
                    <a:pt x="3124200" y="0"/>
                  </a:lnTo>
                </a:path>
              </a:pathLst>
            </a:custGeom>
            <a:noFill/>
            <a:ln w="9525">
              <a:solidFill>
                <a:srgbClr val="ECE7DA"/>
              </a:solidFill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8242935" y="2627948"/>
              <a:ext cx="2834478" cy="396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C4471F"/>
                  </a:solidFill>
                  <a:latin typeface="Georgia"/>
                  <a:ea typeface="KaiTi"/>
                  <a:cs typeface="Georgia"/>
                </a:rPr>
                <a:t>7×24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企微社群在线答疑</a:t>
              </a:r>
            </a:p>
          </p:txBody>
        </p:sp>
      </p:grpSp>
      <p:grpSp>
        <p:nvGrpSpPr>
          <p:cNvPr id="79" name="Group 79"/>
          <p:cNvGrpSpPr/>
          <p:nvPr/>
        </p:nvGrpSpPr>
        <p:grpSpPr>
          <a:xfrm>
            <a:off x="571500" y="3219450"/>
            <a:ext cx="11297712" cy="1428750"/>
            <a:chOff x="571500" y="3219450"/>
            <a:chExt cx="11297712" cy="1428750"/>
          </a:xfrm>
        </p:grpSpPr>
        <p:sp>
          <p:nvSpPr>
            <p:cNvPr id="46" name="Rectangle 46"/>
            <p:cNvSpPr/>
            <p:nvPr/>
          </p:nvSpPr>
          <p:spPr>
            <a:xfrm>
              <a:off x="571500" y="3219450"/>
              <a:ext cx="3581400" cy="142875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47" name="Rectangle 47"/>
            <p:cNvSpPr/>
            <p:nvPr/>
          </p:nvSpPr>
          <p:spPr>
            <a:xfrm>
              <a:off x="571500" y="3219450"/>
              <a:ext cx="3581400" cy="38100"/>
            </a:xfrm>
            <a:prstGeom prst="rect">
              <a:avLst/>
            </a:prstGeom>
            <a:solidFill>
              <a:srgbClr val="17140D"/>
            </a:solidFill>
            <a:ln>
              <a:noFill/>
            </a:ln>
          </p:spPr>
        </p:sp>
        <p:grpSp>
          <p:nvGrpSpPr>
            <p:cNvPr id="53" name="Group 53"/>
            <p:cNvGrpSpPr/>
            <p:nvPr/>
          </p:nvGrpSpPr>
          <p:grpSpPr>
            <a:xfrm>
              <a:off x="854075" y="3450431"/>
              <a:ext cx="215900" cy="242888"/>
              <a:chOff x="854075" y="3450431"/>
              <a:chExt cx="215900" cy="242888"/>
            </a:xfrm>
          </p:grpSpPr>
          <p:sp>
            <p:nvSpPr>
              <p:cNvPr id="48" name="Freeform 48"/>
              <p:cNvSpPr/>
              <p:nvPr/>
            </p:nvSpPr>
            <p:spPr>
              <a:xfrm>
                <a:off x="854075" y="3450431"/>
                <a:ext cx="215900" cy="242888"/>
              </a:xfrm>
              <a:custGeom>
                <a:avLst/>
                <a:gdLst/>
                <a:ahLst/>
                <a:cxnLst/>
                <a:rect l="l" t="t" r="r" b="b"/>
                <a:pathLst>
                  <a:path w="215900" h="242888">
                    <a:moveTo>
                      <a:pt x="107950" y="0"/>
                    </a:moveTo>
                    <a:lnTo>
                      <a:pt x="215900" y="60722"/>
                    </a:lnTo>
                    <a:lnTo>
                      <a:pt x="215900" y="182166"/>
                    </a:lnTo>
                    <a:lnTo>
                      <a:pt x="107950" y="242888"/>
                    </a:lnTo>
                    <a:lnTo>
                      <a:pt x="0" y="182166"/>
                    </a:lnTo>
                    <a:lnTo>
                      <a:pt x="0" y="60722"/>
                    </a:lnTo>
                    <a:lnTo>
                      <a:pt x="107950" y="0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962025" y="3511153"/>
                <a:ext cx="107950" cy="60722"/>
              </a:xfrm>
              <a:custGeom>
                <a:avLst/>
                <a:gdLst/>
                <a:ahLst/>
                <a:cxnLst/>
                <a:rect l="l" t="t" r="r" b="b"/>
                <a:pathLst>
                  <a:path w="107950" h="60722">
                    <a:moveTo>
                      <a:pt x="0" y="60722"/>
                    </a:moveTo>
                    <a:lnTo>
                      <a:pt x="107950" y="0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962025" y="3571875"/>
                <a:ext cx="9525" cy="121444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21444">
                    <a:moveTo>
                      <a:pt x="0" y="0"/>
                    </a:moveTo>
                    <a:lnTo>
                      <a:pt x="0" y="121444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51" name="Freeform 51"/>
              <p:cNvSpPr/>
              <p:nvPr/>
            </p:nvSpPr>
            <p:spPr>
              <a:xfrm>
                <a:off x="854075" y="3511153"/>
                <a:ext cx="107950" cy="60722"/>
              </a:xfrm>
              <a:custGeom>
                <a:avLst/>
                <a:gdLst/>
                <a:ahLst/>
                <a:cxnLst/>
                <a:rect l="l" t="t" r="r" b="b"/>
                <a:pathLst>
                  <a:path w="107950" h="60722">
                    <a:moveTo>
                      <a:pt x="107950" y="60722"/>
                    </a:moveTo>
                    <a:lnTo>
                      <a:pt x="0" y="0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908050" y="3480792"/>
                <a:ext cx="107950" cy="60722"/>
              </a:xfrm>
              <a:custGeom>
                <a:avLst/>
                <a:gdLst/>
                <a:ahLst/>
                <a:cxnLst/>
                <a:rect l="l" t="t" r="r" b="b"/>
                <a:pathLst>
                  <a:path w="107950" h="60722">
                    <a:moveTo>
                      <a:pt x="107950" y="0"/>
                    </a:moveTo>
                    <a:lnTo>
                      <a:pt x="0" y="60722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</p:grpSp>
        <p:sp>
          <p:nvSpPr>
            <p:cNvPr id="54" name="TextBox 54"/>
            <p:cNvSpPr txBox="1"/>
            <p:nvPr/>
          </p:nvSpPr>
          <p:spPr>
            <a:xfrm>
              <a:off x="1219200" y="3476625"/>
              <a:ext cx="878205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批发贸易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785812" y="3860006"/>
              <a:ext cx="186630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高客单 B2B 的销售判断复制</a:t>
              </a:r>
            </a:p>
          </p:txBody>
        </p:sp>
        <p:sp>
          <p:nvSpPr>
            <p:cNvPr id="56" name="Line 56"/>
            <p:cNvSpPr/>
            <p:nvPr/>
          </p:nvSpPr>
          <p:spPr>
            <a:xfrm>
              <a:off x="800100" y="4114800"/>
              <a:ext cx="3124200" cy="9525"/>
            </a:xfrm>
            <a:custGeom>
              <a:avLst/>
              <a:gdLst/>
              <a:ahLst/>
              <a:cxnLst/>
              <a:rect l="l" t="t" r="r" b="b"/>
              <a:pathLst>
                <a:path w="3124200" h="9525">
                  <a:moveTo>
                    <a:pt x="0" y="0"/>
                  </a:moveTo>
                  <a:lnTo>
                    <a:pt x="3124200" y="0"/>
                  </a:lnTo>
                </a:path>
              </a:pathLst>
            </a:custGeom>
            <a:noFill/>
            <a:ln w="9525">
              <a:solidFill>
                <a:srgbClr val="ECE7DA"/>
              </a:solidFill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775335" y="4209098"/>
              <a:ext cx="2889085" cy="396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20 条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聊天完成成交闭环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4305300" y="3219450"/>
              <a:ext cx="3581400" cy="142875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59" name="Rectangle 59"/>
            <p:cNvSpPr/>
            <p:nvPr/>
          </p:nvSpPr>
          <p:spPr>
            <a:xfrm>
              <a:off x="4305300" y="3219450"/>
              <a:ext cx="3581400" cy="38100"/>
            </a:xfrm>
            <a:prstGeom prst="rect">
              <a:avLst/>
            </a:prstGeom>
            <a:solidFill>
              <a:srgbClr val="17140D"/>
            </a:solidFill>
            <a:ln>
              <a:noFill/>
            </a:ln>
          </p:spPr>
        </p:sp>
        <p:grpSp>
          <p:nvGrpSpPr>
            <p:cNvPr id="62" name="Group 62"/>
            <p:cNvGrpSpPr/>
            <p:nvPr/>
          </p:nvGrpSpPr>
          <p:grpSpPr>
            <a:xfrm>
              <a:off x="4560888" y="3477419"/>
              <a:ext cx="269875" cy="188913"/>
              <a:chOff x="4560888" y="3477419"/>
              <a:chExt cx="269875" cy="188913"/>
            </a:xfrm>
          </p:grpSpPr>
          <p:sp>
            <p:nvSpPr>
              <p:cNvPr id="60" name="Freeform 60"/>
              <p:cNvSpPr/>
              <p:nvPr/>
            </p:nvSpPr>
            <p:spPr>
              <a:xfrm>
                <a:off x="4560888" y="3477419"/>
                <a:ext cx="269875" cy="134938"/>
              </a:xfrm>
              <a:custGeom>
                <a:avLst/>
                <a:gdLst/>
                <a:ahLst/>
                <a:cxnLst/>
                <a:rect l="l" t="t" r="r" b="b"/>
                <a:pathLst>
                  <a:path w="269875" h="134938">
                    <a:moveTo>
                      <a:pt x="269875" y="53975"/>
                    </a:moveTo>
                    <a:lnTo>
                      <a:pt x="134938" y="0"/>
                    </a:lnTo>
                    <a:lnTo>
                      <a:pt x="0" y="53975"/>
                    </a:lnTo>
                    <a:lnTo>
                      <a:pt x="134938" y="107950"/>
                    </a:lnTo>
                    <a:lnTo>
                      <a:pt x="269875" y="53975"/>
                    </a:lnTo>
                    <a:lnTo>
                      <a:pt x="269875" y="134938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61" name="Freeform 61"/>
              <p:cNvSpPr/>
              <p:nvPr/>
            </p:nvSpPr>
            <p:spPr>
              <a:xfrm>
                <a:off x="4614862" y="3552984"/>
                <a:ext cx="161925" cy="113348"/>
              </a:xfrm>
              <a:custGeom>
                <a:avLst/>
                <a:gdLst/>
                <a:ahLst/>
                <a:cxnLst/>
                <a:rect l="l" t="t" r="r" b="b"/>
                <a:pathLst>
                  <a:path w="161925" h="113348">
                    <a:moveTo>
                      <a:pt x="0" y="0"/>
                    </a:moveTo>
                    <a:lnTo>
                      <a:pt x="0" y="72866"/>
                    </a:lnTo>
                    <a:cubicBezTo>
                      <a:pt x="0" y="95223"/>
                      <a:pt x="36248" y="113348"/>
                      <a:pt x="80962" y="113348"/>
                    </a:cubicBezTo>
                    <a:cubicBezTo>
                      <a:pt x="125677" y="113348"/>
                      <a:pt x="161925" y="95223"/>
                      <a:pt x="161925" y="72866"/>
                    </a:cubicBezTo>
                    <a:lnTo>
                      <a:pt x="161925" y="0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</p:grpSp>
        <p:sp>
          <p:nvSpPr>
            <p:cNvPr id="63" name="TextBox 63"/>
            <p:cNvSpPr txBox="1"/>
            <p:nvPr/>
          </p:nvSpPr>
          <p:spPr>
            <a:xfrm>
              <a:off x="4953000" y="3476625"/>
              <a:ext cx="878205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教育培训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4519612" y="3860006"/>
              <a:ext cx="137874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助教答疑与学习陪伴</a:t>
              </a:r>
            </a:p>
          </p:txBody>
        </p:sp>
        <p:sp>
          <p:nvSpPr>
            <p:cNvPr id="65" name="Line 65"/>
            <p:cNvSpPr/>
            <p:nvPr/>
          </p:nvSpPr>
          <p:spPr>
            <a:xfrm>
              <a:off x="4533900" y="4114800"/>
              <a:ext cx="3124200" cy="9525"/>
            </a:xfrm>
            <a:custGeom>
              <a:avLst/>
              <a:gdLst/>
              <a:ahLst/>
              <a:cxnLst/>
              <a:rect l="l" t="t" r="r" b="b"/>
              <a:pathLst>
                <a:path w="3124200" h="9525">
                  <a:moveTo>
                    <a:pt x="0" y="0"/>
                  </a:moveTo>
                  <a:lnTo>
                    <a:pt x="3124200" y="0"/>
                  </a:lnTo>
                </a:path>
              </a:pathLst>
            </a:custGeom>
            <a:noFill/>
            <a:ln w="9525">
              <a:solidFill>
                <a:srgbClr val="ECE7DA"/>
              </a:solidFill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4509135" y="4209098"/>
              <a:ext cx="4418076" cy="396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8 秒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群内响应，70% 重复问题被接住</a:t>
              </a:r>
            </a:p>
          </p:txBody>
        </p:sp>
        <p:sp>
          <p:nvSpPr>
            <p:cNvPr id="67" name="Rectangle 67"/>
            <p:cNvSpPr/>
            <p:nvPr/>
          </p:nvSpPr>
          <p:spPr>
            <a:xfrm>
              <a:off x="8039100" y="3219450"/>
              <a:ext cx="3581400" cy="142875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68" name="Rectangle 68"/>
            <p:cNvSpPr/>
            <p:nvPr/>
          </p:nvSpPr>
          <p:spPr>
            <a:xfrm>
              <a:off x="8039100" y="3219450"/>
              <a:ext cx="3581400" cy="38100"/>
            </a:xfrm>
            <a:prstGeom prst="rect">
              <a:avLst/>
            </a:prstGeom>
            <a:solidFill>
              <a:srgbClr val="17140D"/>
            </a:solidFill>
            <a:ln>
              <a:noFill/>
            </a:ln>
          </p:spPr>
        </p:sp>
        <p:grpSp>
          <p:nvGrpSpPr>
            <p:cNvPr id="74" name="Group 74"/>
            <p:cNvGrpSpPr/>
            <p:nvPr/>
          </p:nvGrpSpPr>
          <p:grpSpPr>
            <a:xfrm>
              <a:off x="8308181" y="3450431"/>
              <a:ext cx="256382" cy="242888"/>
              <a:chOff x="8308181" y="3450431"/>
              <a:chExt cx="256382" cy="242888"/>
            </a:xfrm>
          </p:grpSpPr>
          <p:sp>
            <p:nvSpPr>
              <p:cNvPr id="69" name="Freeform 69"/>
              <p:cNvSpPr/>
              <p:nvPr/>
            </p:nvSpPr>
            <p:spPr>
              <a:xfrm>
                <a:off x="8308181" y="3463925"/>
                <a:ext cx="148431" cy="148431"/>
              </a:xfrm>
              <a:custGeom>
                <a:avLst/>
                <a:gdLst/>
                <a:ahLst/>
                <a:cxnLst/>
                <a:rect l="l" t="t" r="r" b="b"/>
                <a:pathLst>
                  <a:path w="148431" h="148431">
                    <a:moveTo>
                      <a:pt x="40481" y="0"/>
                    </a:moveTo>
                    <a:lnTo>
                      <a:pt x="26988" y="0"/>
                    </a:lnTo>
                    <a:cubicBezTo>
                      <a:pt x="12083" y="0"/>
                      <a:pt x="0" y="12083"/>
                      <a:pt x="0" y="26987"/>
                    </a:cubicBezTo>
                    <a:lnTo>
                      <a:pt x="0" y="74216"/>
                    </a:lnTo>
                    <a:cubicBezTo>
                      <a:pt x="0" y="115204"/>
                      <a:pt x="33227" y="148431"/>
                      <a:pt x="74216" y="148431"/>
                    </a:cubicBezTo>
                    <a:cubicBezTo>
                      <a:pt x="115204" y="148431"/>
                      <a:pt x="148431" y="115204"/>
                      <a:pt x="148431" y="74216"/>
                    </a:cubicBezTo>
                    <a:lnTo>
                      <a:pt x="148431" y="26987"/>
                    </a:lnTo>
                    <a:cubicBezTo>
                      <a:pt x="148431" y="12083"/>
                      <a:pt x="136349" y="0"/>
                      <a:pt x="121444" y="0"/>
                    </a:cubicBezTo>
                    <a:lnTo>
                      <a:pt x="107950" y="0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70" name="Freeform 70"/>
              <p:cNvSpPr/>
              <p:nvPr/>
            </p:nvSpPr>
            <p:spPr>
              <a:xfrm>
                <a:off x="8375650" y="3571875"/>
                <a:ext cx="161925" cy="121444"/>
              </a:xfrm>
              <a:custGeom>
                <a:avLst/>
                <a:gdLst/>
                <a:ahLst/>
                <a:cxnLst/>
                <a:rect l="l" t="t" r="r" b="b"/>
                <a:pathLst>
                  <a:path w="161925" h="121444">
                    <a:moveTo>
                      <a:pt x="0" y="40481"/>
                    </a:moveTo>
                    <a:cubicBezTo>
                      <a:pt x="0" y="85196"/>
                      <a:pt x="36248" y="121444"/>
                      <a:pt x="80962" y="121444"/>
                    </a:cubicBezTo>
                    <a:cubicBezTo>
                      <a:pt x="125677" y="121444"/>
                      <a:pt x="161925" y="85196"/>
                      <a:pt x="161925" y="40481"/>
                    </a:cubicBezTo>
                    <a:lnTo>
                      <a:pt x="161925" y="0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71" name="Freeform 71"/>
              <p:cNvSpPr/>
              <p:nvPr/>
            </p:nvSpPr>
            <p:spPr>
              <a:xfrm>
                <a:off x="8416131" y="3450431"/>
                <a:ext cx="9525" cy="2698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6987">
                    <a:moveTo>
                      <a:pt x="0" y="0"/>
                    </a:moveTo>
                    <a:lnTo>
                      <a:pt x="0" y="26987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72" name="Freeform 72"/>
              <p:cNvSpPr/>
              <p:nvPr/>
            </p:nvSpPr>
            <p:spPr>
              <a:xfrm>
                <a:off x="8348662" y="3450431"/>
                <a:ext cx="9525" cy="2698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6987">
                    <a:moveTo>
                      <a:pt x="0" y="0"/>
                    </a:moveTo>
                    <a:lnTo>
                      <a:pt x="0" y="26987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73" name="Freeform 73"/>
              <p:cNvSpPr/>
              <p:nvPr/>
            </p:nvSpPr>
            <p:spPr>
              <a:xfrm>
                <a:off x="8510588" y="3517900"/>
                <a:ext cx="53975" cy="53975"/>
              </a:xfrm>
              <a:custGeom>
                <a:avLst/>
                <a:gdLst/>
                <a:ahLst/>
                <a:cxnLst/>
                <a:rect l="l" t="t" r="r" b="b"/>
                <a:pathLst>
                  <a:path w="53975" h="53975">
                    <a:moveTo>
                      <a:pt x="0" y="26988"/>
                    </a:moveTo>
                    <a:cubicBezTo>
                      <a:pt x="0" y="41892"/>
                      <a:pt x="12083" y="53975"/>
                      <a:pt x="26988" y="53975"/>
                    </a:cubicBezTo>
                    <a:cubicBezTo>
                      <a:pt x="41892" y="53975"/>
                      <a:pt x="53975" y="41892"/>
                      <a:pt x="53975" y="26988"/>
                    </a:cubicBezTo>
                    <a:cubicBezTo>
                      <a:pt x="53975" y="12083"/>
                      <a:pt x="41892" y="0"/>
                      <a:pt x="26988" y="0"/>
                    </a:cubicBezTo>
                    <a:cubicBezTo>
                      <a:pt x="12083" y="0"/>
                      <a:pt x="0" y="12083"/>
                      <a:pt x="0" y="26988"/>
                    </a:cubicBez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</p:grpSp>
        <p:sp>
          <p:nvSpPr>
            <p:cNvPr id="75" name="TextBox 75"/>
            <p:cNvSpPr txBox="1"/>
            <p:nvPr/>
          </p:nvSpPr>
          <p:spPr>
            <a:xfrm>
              <a:off x="8686800" y="3476625"/>
              <a:ext cx="878205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医疗健康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8253412" y="3860006"/>
              <a:ext cx="137874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咨询承接与随访闭环</a:t>
              </a:r>
            </a:p>
          </p:txBody>
        </p:sp>
        <p:sp>
          <p:nvSpPr>
            <p:cNvPr id="77" name="Line 77"/>
            <p:cNvSpPr/>
            <p:nvPr/>
          </p:nvSpPr>
          <p:spPr>
            <a:xfrm>
              <a:off x="8267700" y="4114800"/>
              <a:ext cx="3124200" cy="9525"/>
            </a:xfrm>
            <a:custGeom>
              <a:avLst/>
              <a:gdLst/>
              <a:ahLst/>
              <a:cxnLst/>
              <a:rect l="l" t="t" r="r" b="b"/>
              <a:pathLst>
                <a:path w="3124200" h="9525">
                  <a:moveTo>
                    <a:pt x="0" y="0"/>
                  </a:moveTo>
                  <a:lnTo>
                    <a:pt x="3124200" y="0"/>
                  </a:lnTo>
                </a:path>
              </a:pathLst>
            </a:custGeom>
            <a:noFill/>
            <a:ln w="9525">
              <a:solidFill>
                <a:srgbClr val="ECE7DA"/>
              </a:solidFill>
            </a:ln>
          </p:spPr>
        </p:sp>
        <p:sp>
          <p:nvSpPr>
            <p:cNvPr id="78" name="TextBox 78"/>
            <p:cNvSpPr txBox="1"/>
            <p:nvPr/>
          </p:nvSpPr>
          <p:spPr>
            <a:xfrm>
              <a:off x="8242935" y="4209098"/>
              <a:ext cx="3626277" cy="396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2 万+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日咨询，人工压力 −65%</a:t>
              </a:r>
            </a:p>
          </p:txBody>
        </p:sp>
      </p:grpSp>
      <p:grpSp>
        <p:nvGrpSpPr>
          <p:cNvPr id="111" name="Group 111"/>
          <p:cNvGrpSpPr/>
          <p:nvPr/>
        </p:nvGrpSpPr>
        <p:grpSpPr>
          <a:xfrm>
            <a:off x="571500" y="4800600"/>
            <a:ext cx="11049000" cy="1428750"/>
            <a:chOff x="571500" y="4800600"/>
            <a:chExt cx="11049000" cy="1428750"/>
          </a:xfrm>
        </p:grpSpPr>
        <p:sp>
          <p:nvSpPr>
            <p:cNvPr id="80" name="Rectangle 80"/>
            <p:cNvSpPr/>
            <p:nvPr/>
          </p:nvSpPr>
          <p:spPr>
            <a:xfrm>
              <a:off x="571500" y="4800600"/>
              <a:ext cx="3581400" cy="142875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81" name="Rectangle 81"/>
            <p:cNvSpPr/>
            <p:nvPr/>
          </p:nvSpPr>
          <p:spPr>
            <a:xfrm>
              <a:off x="571500" y="4800600"/>
              <a:ext cx="3581400" cy="38100"/>
            </a:xfrm>
            <a:prstGeom prst="rect">
              <a:avLst/>
            </a:prstGeom>
            <a:solidFill>
              <a:srgbClr val="B8552E"/>
            </a:solidFill>
            <a:ln>
              <a:noFill/>
            </a:ln>
          </p:spPr>
        </p:sp>
        <p:grpSp>
          <p:nvGrpSpPr>
            <p:cNvPr id="85" name="Group 85"/>
            <p:cNvGrpSpPr/>
            <p:nvPr/>
          </p:nvGrpSpPr>
          <p:grpSpPr>
            <a:xfrm>
              <a:off x="840581" y="5031581"/>
              <a:ext cx="242888" cy="242888"/>
              <a:chOff x="840581" y="5031581"/>
              <a:chExt cx="242888" cy="242888"/>
            </a:xfrm>
          </p:grpSpPr>
          <p:sp>
            <p:nvSpPr>
              <p:cNvPr id="82" name="Freeform 82"/>
              <p:cNvSpPr/>
              <p:nvPr/>
            </p:nvSpPr>
            <p:spPr>
              <a:xfrm>
                <a:off x="840581" y="5031581"/>
                <a:ext cx="242888" cy="121444"/>
              </a:xfrm>
              <a:custGeom>
                <a:avLst/>
                <a:gdLst/>
                <a:ahLst/>
                <a:cxnLst/>
                <a:rect l="l" t="t" r="r" b="b"/>
                <a:pathLst>
                  <a:path w="242888" h="121444">
                    <a:moveTo>
                      <a:pt x="0" y="121444"/>
                    </a:moveTo>
                    <a:lnTo>
                      <a:pt x="13494" y="121444"/>
                    </a:lnTo>
                    <a:moveTo>
                      <a:pt x="121444" y="0"/>
                    </a:moveTo>
                    <a:lnTo>
                      <a:pt x="121444" y="13494"/>
                    </a:lnTo>
                    <a:moveTo>
                      <a:pt x="229394" y="121444"/>
                    </a:moveTo>
                    <a:lnTo>
                      <a:pt x="242888" y="121444"/>
                    </a:lnTo>
                    <a:moveTo>
                      <a:pt x="35084" y="35084"/>
                    </a:moveTo>
                    <a:lnTo>
                      <a:pt x="44529" y="44529"/>
                    </a:lnTo>
                    <a:moveTo>
                      <a:pt x="207804" y="35084"/>
                    </a:moveTo>
                    <a:lnTo>
                      <a:pt x="198358" y="44529"/>
                    </a:lnTo>
                  </a:path>
                </a:pathLst>
              </a:custGeom>
              <a:noFill/>
              <a:ln w="19050">
                <a:solidFill>
                  <a:srgbClr val="B8552E"/>
                </a:solidFill>
              </a:ln>
            </p:spPr>
          </p:sp>
          <p:sp>
            <p:nvSpPr>
              <p:cNvPr id="83" name="Freeform 83"/>
              <p:cNvSpPr/>
              <p:nvPr/>
            </p:nvSpPr>
            <p:spPr>
              <a:xfrm>
                <a:off x="888835" y="5085556"/>
                <a:ext cx="146380" cy="188913"/>
              </a:xfrm>
              <a:custGeom>
                <a:avLst/>
                <a:gdLst/>
                <a:ahLst/>
                <a:cxnLst/>
                <a:rect l="l" t="t" r="r" b="b"/>
                <a:pathLst>
                  <a:path w="146380" h="188913">
                    <a:moveTo>
                      <a:pt x="32709" y="121444"/>
                    </a:moveTo>
                    <a:cubicBezTo>
                      <a:pt x="9476" y="104019"/>
                      <a:pt x="0" y="73684"/>
                      <a:pt x="9183" y="46133"/>
                    </a:cubicBezTo>
                    <a:cubicBezTo>
                      <a:pt x="18367" y="18583"/>
                      <a:pt x="44149" y="0"/>
                      <a:pt x="73190" y="0"/>
                    </a:cubicBezTo>
                    <a:cubicBezTo>
                      <a:pt x="102231" y="0"/>
                      <a:pt x="128013" y="18583"/>
                      <a:pt x="137196" y="46133"/>
                    </a:cubicBezTo>
                    <a:cubicBezTo>
                      <a:pt x="146380" y="73684"/>
                      <a:pt x="136904" y="104019"/>
                      <a:pt x="113671" y="121444"/>
                    </a:cubicBezTo>
                    <a:cubicBezTo>
                      <a:pt x="102986" y="132021"/>
                      <a:pt x="97976" y="147053"/>
                      <a:pt x="100177" y="161925"/>
                    </a:cubicBezTo>
                    <a:cubicBezTo>
                      <a:pt x="100177" y="176830"/>
                      <a:pt x="88095" y="188913"/>
                      <a:pt x="73190" y="188913"/>
                    </a:cubicBezTo>
                    <a:cubicBezTo>
                      <a:pt x="58285" y="188913"/>
                      <a:pt x="46202" y="176830"/>
                      <a:pt x="46202" y="161925"/>
                    </a:cubicBezTo>
                    <a:cubicBezTo>
                      <a:pt x="48404" y="147053"/>
                      <a:pt x="43394" y="132021"/>
                      <a:pt x="32709" y="121444"/>
                    </a:cubicBezTo>
                  </a:path>
                </a:pathLst>
              </a:custGeom>
              <a:noFill/>
              <a:ln w="19050">
                <a:solidFill>
                  <a:srgbClr val="B8552E"/>
                </a:solidFill>
              </a:ln>
            </p:spPr>
          </p:sp>
          <p:sp>
            <p:nvSpPr>
              <p:cNvPr id="84" name="Freeform 84"/>
              <p:cNvSpPr/>
              <p:nvPr/>
            </p:nvSpPr>
            <p:spPr>
              <a:xfrm>
                <a:off x="930989" y="5220494"/>
                <a:ext cx="6207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2071" h="9525">
                    <a:moveTo>
                      <a:pt x="0" y="0"/>
                    </a:moveTo>
                    <a:lnTo>
                      <a:pt x="62071" y="0"/>
                    </a:lnTo>
                  </a:path>
                </a:pathLst>
              </a:custGeom>
              <a:noFill/>
              <a:ln w="19050">
                <a:solidFill>
                  <a:srgbClr val="B8552E"/>
                </a:solidFill>
              </a:ln>
            </p:spPr>
          </p:sp>
        </p:grpSp>
        <p:sp>
          <p:nvSpPr>
            <p:cNvPr id="86" name="TextBox 86"/>
            <p:cNvSpPr txBox="1"/>
            <p:nvPr/>
          </p:nvSpPr>
          <p:spPr>
            <a:xfrm>
              <a:off x="1219200" y="5057775"/>
              <a:ext cx="1329761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知识付费与 IP</a:t>
              </a:r>
            </a:p>
          </p:txBody>
        </p:sp>
        <p:sp>
          <p:nvSpPr>
            <p:cNvPr id="87" name="TextBox 87"/>
            <p:cNvSpPr txBox="1"/>
            <p:nvPr/>
          </p:nvSpPr>
          <p:spPr>
            <a:xfrm>
              <a:off x="785812" y="5441156"/>
              <a:ext cx="137874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创始人判断的规模化</a:t>
              </a:r>
            </a:p>
          </p:txBody>
        </p:sp>
        <p:sp>
          <p:nvSpPr>
            <p:cNvPr id="88" name="Line 88"/>
            <p:cNvSpPr/>
            <p:nvPr/>
          </p:nvSpPr>
          <p:spPr>
            <a:xfrm>
              <a:off x="800100" y="5695950"/>
              <a:ext cx="3124200" cy="9525"/>
            </a:xfrm>
            <a:custGeom>
              <a:avLst/>
              <a:gdLst/>
              <a:ahLst/>
              <a:cxnLst/>
              <a:rect l="l" t="t" r="r" b="b"/>
              <a:pathLst>
                <a:path w="3124200" h="9525">
                  <a:moveTo>
                    <a:pt x="0" y="0"/>
                  </a:moveTo>
                  <a:lnTo>
                    <a:pt x="3124200" y="0"/>
                  </a:lnTo>
                </a:path>
              </a:pathLst>
            </a:custGeom>
            <a:noFill/>
            <a:ln w="9525">
              <a:solidFill>
                <a:srgbClr val="ECE7DA"/>
              </a:solidFill>
            </a:ln>
          </p:spPr>
        </p:sp>
        <p:sp>
          <p:nvSpPr>
            <p:cNvPr id="89" name="TextBox 89"/>
            <p:cNvSpPr txBox="1"/>
            <p:nvPr/>
          </p:nvSpPr>
          <p:spPr>
            <a:xfrm>
              <a:off x="775335" y="5790248"/>
              <a:ext cx="3162119" cy="396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B8552E"/>
                  </a:solidFill>
                  <a:latin typeface="Georgia"/>
                  <a:ea typeface="KaiTi"/>
                  <a:cs typeface="Georgia"/>
                </a:rPr>
                <a:t>+15%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续费推进率且不丢单</a:t>
              </a:r>
            </a:p>
          </p:txBody>
        </p:sp>
        <p:sp>
          <p:nvSpPr>
            <p:cNvPr id="90" name="Rectangle 90"/>
            <p:cNvSpPr/>
            <p:nvPr/>
          </p:nvSpPr>
          <p:spPr>
            <a:xfrm>
              <a:off x="4305300" y="4800600"/>
              <a:ext cx="3581400" cy="142875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91" name="Rectangle 91"/>
            <p:cNvSpPr/>
            <p:nvPr/>
          </p:nvSpPr>
          <p:spPr>
            <a:xfrm>
              <a:off x="4305300" y="4800600"/>
              <a:ext cx="3581400" cy="38100"/>
            </a:xfrm>
            <a:prstGeom prst="rect">
              <a:avLst/>
            </a:prstGeom>
            <a:solidFill>
              <a:srgbClr val="B8552E"/>
            </a:solidFill>
            <a:ln>
              <a:noFill/>
            </a:ln>
          </p:spPr>
        </p:sp>
        <p:grpSp>
          <p:nvGrpSpPr>
            <p:cNvPr id="94" name="Group 94"/>
            <p:cNvGrpSpPr/>
            <p:nvPr/>
          </p:nvGrpSpPr>
          <p:grpSpPr>
            <a:xfrm>
              <a:off x="4555018" y="5052240"/>
              <a:ext cx="277691" cy="231754"/>
              <a:chOff x="4555018" y="5052240"/>
              <a:chExt cx="277691" cy="231754"/>
            </a:xfrm>
          </p:grpSpPr>
          <p:sp>
            <p:nvSpPr>
              <p:cNvPr id="92" name="Freeform 92"/>
              <p:cNvSpPr/>
              <p:nvPr/>
            </p:nvSpPr>
            <p:spPr>
              <a:xfrm>
                <a:off x="4555018" y="5052240"/>
                <a:ext cx="277691" cy="164340"/>
              </a:xfrm>
              <a:custGeom>
                <a:avLst/>
                <a:gdLst/>
                <a:ahLst/>
                <a:cxnLst/>
                <a:rect l="l" t="t" r="r" b="b"/>
                <a:pathLst>
                  <a:path w="277691" h="164340">
                    <a:moveTo>
                      <a:pt x="176417" y="77279"/>
                    </a:moveTo>
                    <a:lnTo>
                      <a:pt x="241592" y="59818"/>
                    </a:lnTo>
                    <a:cubicBezTo>
                      <a:pt x="250975" y="57108"/>
                      <a:pt x="261090" y="59679"/>
                      <a:pt x="268040" y="66540"/>
                    </a:cubicBezTo>
                    <a:cubicBezTo>
                      <a:pt x="274990" y="73401"/>
                      <a:pt x="277691" y="83482"/>
                      <a:pt x="275102" y="92899"/>
                    </a:cubicBezTo>
                    <a:cubicBezTo>
                      <a:pt x="272513" y="102316"/>
                      <a:pt x="265039" y="109600"/>
                      <a:pt x="255558" y="111944"/>
                    </a:cubicBezTo>
                    <a:lnTo>
                      <a:pt x="60047" y="164340"/>
                    </a:lnTo>
                    <a:lnTo>
                      <a:pt x="0" y="96602"/>
                    </a:lnTo>
                    <a:lnTo>
                      <a:pt x="39091" y="86131"/>
                    </a:lnTo>
                    <a:lnTo>
                      <a:pt x="72151" y="105211"/>
                    </a:lnTo>
                    <a:lnTo>
                      <a:pt x="111242" y="94740"/>
                    </a:lnTo>
                    <a:lnTo>
                      <a:pt x="60735" y="10485"/>
                    </a:lnTo>
                    <a:lnTo>
                      <a:pt x="99840" y="0"/>
                    </a:lnTo>
                    <a:lnTo>
                      <a:pt x="176417" y="77279"/>
                    </a:lnTo>
                  </a:path>
                </a:pathLst>
              </a:custGeom>
              <a:noFill/>
              <a:ln w="19050">
                <a:solidFill>
                  <a:srgbClr val="B8552E"/>
                </a:solidFill>
              </a:ln>
            </p:spPr>
          </p:sp>
          <p:sp>
            <p:nvSpPr>
              <p:cNvPr id="93" name="Freeform 93"/>
              <p:cNvSpPr/>
              <p:nvPr/>
            </p:nvSpPr>
            <p:spPr>
              <a:xfrm>
                <a:off x="4574381" y="5274469"/>
                <a:ext cx="24288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42888" h="9525">
                    <a:moveTo>
                      <a:pt x="0" y="0"/>
                    </a:moveTo>
                    <a:lnTo>
                      <a:pt x="242888" y="0"/>
                    </a:lnTo>
                  </a:path>
                </a:pathLst>
              </a:custGeom>
              <a:noFill/>
              <a:ln w="19050">
                <a:solidFill>
                  <a:srgbClr val="B8552E"/>
                </a:solidFill>
              </a:ln>
            </p:spPr>
          </p:sp>
        </p:grpSp>
        <p:sp>
          <p:nvSpPr>
            <p:cNvPr id="95" name="TextBox 95"/>
            <p:cNvSpPr txBox="1"/>
            <p:nvPr/>
          </p:nvSpPr>
          <p:spPr>
            <a:xfrm>
              <a:off x="4953000" y="5057775"/>
              <a:ext cx="1088231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文旅与演艺</a:t>
              </a:r>
            </a:p>
          </p:txBody>
        </p:sp>
        <p:sp>
          <p:nvSpPr>
            <p:cNvPr id="96" name="TextBox 96"/>
            <p:cNvSpPr txBox="1"/>
            <p:nvPr/>
          </p:nvSpPr>
          <p:spPr>
            <a:xfrm>
              <a:off x="4519612" y="5441156"/>
              <a:ext cx="137874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深夜咨询与节点盯守</a:t>
              </a:r>
            </a:p>
          </p:txBody>
        </p:sp>
        <p:sp>
          <p:nvSpPr>
            <p:cNvPr id="97" name="Line 97"/>
            <p:cNvSpPr/>
            <p:nvPr/>
          </p:nvSpPr>
          <p:spPr>
            <a:xfrm>
              <a:off x="4533900" y="5695950"/>
              <a:ext cx="3124200" cy="9525"/>
            </a:xfrm>
            <a:custGeom>
              <a:avLst/>
              <a:gdLst/>
              <a:ahLst/>
              <a:cxnLst/>
              <a:rect l="l" t="t" r="r" b="b"/>
              <a:pathLst>
                <a:path w="3124200" h="9525">
                  <a:moveTo>
                    <a:pt x="0" y="0"/>
                  </a:moveTo>
                  <a:lnTo>
                    <a:pt x="3124200" y="0"/>
                  </a:lnTo>
                </a:path>
              </a:pathLst>
            </a:custGeom>
            <a:noFill/>
            <a:ln w="9525">
              <a:solidFill>
                <a:srgbClr val="ECE7DA"/>
              </a:solidFill>
            </a:ln>
          </p:spPr>
        </p:sp>
        <p:sp>
          <p:nvSpPr>
            <p:cNvPr id="98" name="TextBox 98"/>
            <p:cNvSpPr txBox="1"/>
            <p:nvPr/>
          </p:nvSpPr>
          <p:spPr>
            <a:xfrm>
              <a:off x="4509135" y="5790248"/>
              <a:ext cx="2889085" cy="396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B8552E"/>
                  </a:solidFill>
                  <a:latin typeface="Georgia"/>
                  <a:ea typeface="KaiTi"/>
                  <a:cs typeface="Georgia"/>
                </a:rPr>
                <a:t>90%+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舱位库存实时核对</a:t>
              </a:r>
            </a:p>
          </p:txBody>
        </p:sp>
        <p:sp>
          <p:nvSpPr>
            <p:cNvPr id="99" name="Rectangle 99"/>
            <p:cNvSpPr/>
            <p:nvPr/>
          </p:nvSpPr>
          <p:spPr>
            <a:xfrm>
              <a:off x="8039100" y="4800600"/>
              <a:ext cx="3581400" cy="142875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100" name="Rectangle 100"/>
            <p:cNvSpPr/>
            <p:nvPr/>
          </p:nvSpPr>
          <p:spPr>
            <a:xfrm>
              <a:off x="8039100" y="4800600"/>
              <a:ext cx="3581400" cy="38100"/>
            </a:xfrm>
            <a:prstGeom prst="rect">
              <a:avLst/>
            </a:prstGeom>
            <a:solidFill>
              <a:srgbClr val="B8552E"/>
            </a:solidFill>
            <a:ln>
              <a:noFill/>
            </a:ln>
          </p:spPr>
        </p:sp>
        <p:grpSp>
          <p:nvGrpSpPr>
            <p:cNvPr id="106" name="Group 106"/>
            <p:cNvGrpSpPr/>
            <p:nvPr/>
          </p:nvGrpSpPr>
          <p:grpSpPr>
            <a:xfrm>
              <a:off x="8308181" y="5031581"/>
              <a:ext cx="242888" cy="252413"/>
              <a:chOff x="8308181" y="5031581"/>
              <a:chExt cx="242888" cy="252413"/>
            </a:xfrm>
          </p:grpSpPr>
          <p:sp>
            <p:nvSpPr>
              <p:cNvPr id="101" name="Freeform 101"/>
              <p:cNvSpPr/>
              <p:nvPr/>
            </p:nvSpPr>
            <p:spPr>
              <a:xfrm>
                <a:off x="8308181" y="5274469"/>
                <a:ext cx="24288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42888" h="9525">
                    <a:moveTo>
                      <a:pt x="0" y="0"/>
                    </a:moveTo>
                    <a:lnTo>
                      <a:pt x="242888" y="0"/>
                    </a:lnTo>
                  </a:path>
                </a:pathLst>
              </a:custGeom>
              <a:noFill/>
              <a:ln w="19050">
                <a:solidFill>
                  <a:srgbClr val="B8552E"/>
                </a:solidFill>
              </a:ln>
            </p:spPr>
          </p:sp>
          <p:sp>
            <p:nvSpPr>
              <p:cNvPr id="102" name="Freeform 102"/>
              <p:cNvSpPr/>
              <p:nvPr/>
            </p:nvSpPr>
            <p:spPr>
              <a:xfrm>
                <a:off x="8308181" y="5031581"/>
                <a:ext cx="242888" cy="107950"/>
              </a:xfrm>
              <a:custGeom>
                <a:avLst/>
                <a:gdLst/>
                <a:ahLst/>
                <a:cxnLst/>
                <a:rect l="l" t="t" r="r" b="b"/>
                <a:pathLst>
                  <a:path w="242888" h="107950">
                    <a:moveTo>
                      <a:pt x="0" y="53975"/>
                    </a:moveTo>
                    <a:lnTo>
                      <a:pt x="0" y="67469"/>
                    </a:lnTo>
                    <a:cubicBezTo>
                      <a:pt x="0" y="89826"/>
                      <a:pt x="18124" y="107950"/>
                      <a:pt x="40481" y="107950"/>
                    </a:cubicBezTo>
                    <a:cubicBezTo>
                      <a:pt x="62838" y="107950"/>
                      <a:pt x="80962" y="89826"/>
                      <a:pt x="80962" y="67469"/>
                    </a:cubicBezTo>
                    <a:lnTo>
                      <a:pt x="80962" y="53975"/>
                    </a:lnTo>
                    <a:moveTo>
                      <a:pt x="80962" y="67469"/>
                    </a:moveTo>
                    <a:cubicBezTo>
                      <a:pt x="80962" y="89826"/>
                      <a:pt x="99087" y="107950"/>
                      <a:pt x="121444" y="107950"/>
                    </a:cubicBezTo>
                    <a:cubicBezTo>
                      <a:pt x="143801" y="107950"/>
                      <a:pt x="161925" y="89826"/>
                      <a:pt x="161925" y="67469"/>
                    </a:cubicBezTo>
                    <a:lnTo>
                      <a:pt x="161925" y="53975"/>
                    </a:lnTo>
                    <a:moveTo>
                      <a:pt x="161925" y="67469"/>
                    </a:moveTo>
                    <a:cubicBezTo>
                      <a:pt x="161925" y="89826"/>
                      <a:pt x="180049" y="107950"/>
                      <a:pt x="202406" y="107950"/>
                    </a:cubicBezTo>
                    <a:cubicBezTo>
                      <a:pt x="224763" y="107950"/>
                      <a:pt x="242888" y="89826"/>
                      <a:pt x="242888" y="67469"/>
                    </a:cubicBezTo>
                    <a:lnTo>
                      <a:pt x="242888" y="53975"/>
                    </a:lnTo>
                    <a:lnTo>
                      <a:pt x="0" y="53975"/>
                    </a:lnTo>
                    <a:lnTo>
                      <a:pt x="26988" y="0"/>
                    </a:lnTo>
                    <a:lnTo>
                      <a:pt x="215900" y="0"/>
                    </a:lnTo>
                    <a:lnTo>
                      <a:pt x="242888" y="53975"/>
                    </a:lnTo>
                  </a:path>
                </a:pathLst>
              </a:custGeom>
              <a:noFill/>
              <a:ln w="19050">
                <a:solidFill>
                  <a:srgbClr val="B8552E"/>
                </a:solidFill>
              </a:ln>
            </p:spPr>
          </p:sp>
          <p:sp>
            <p:nvSpPr>
              <p:cNvPr id="103" name="Freeform 103"/>
              <p:cNvSpPr/>
              <p:nvPr/>
            </p:nvSpPr>
            <p:spPr>
              <a:xfrm>
                <a:off x="8335169" y="5137507"/>
                <a:ext cx="9525" cy="136962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36962">
                    <a:moveTo>
                      <a:pt x="0" y="136962"/>
                    </a:moveTo>
                    <a:lnTo>
                      <a:pt x="0" y="0"/>
                    </a:lnTo>
                  </a:path>
                </a:pathLst>
              </a:custGeom>
              <a:noFill/>
              <a:ln w="19050">
                <a:solidFill>
                  <a:srgbClr val="B8552E"/>
                </a:solidFill>
              </a:ln>
            </p:spPr>
          </p:sp>
          <p:sp>
            <p:nvSpPr>
              <p:cNvPr id="104" name="Freeform 104"/>
              <p:cNvSpPr/>
              <p:nvPr/>
            </p:nvSpPr>
            <p:spPr>
              <a:xfrm>
                <a:off x="8524081" y="5137507"/>
                <a:ext cx="9525" cy="136962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36962">
                    <a:moveTo>
                      <a:pt x="0" y="136962"/>
                    </a:moveTo>
                    <a:lnTo>
                      <a:pt x="0" y="0"/>
                    </a:lnTo>
                  </a:path>
                </a:pathLst>
              </a:custGeom>
              <a:noFill/>
              <a:ln w="19050">
                <a:solidFill>
                  <a:srgbClr val="B8552E"/>
                </a:solidFill>
              </a:ln>
            </p:spPr>
          </p:sp>
          <p:sp>
            <p:nvSpPr>
              <p:cNvPr id="105" name="Freeform 105"/>
              <p:cNvSpPr/>
              <p:nvPr/>
            </p:nvSpPr>
            <p:spPr>
              <a:xfrm>
                <a:off x="8389144" y="5193506"/>
                <a:ext cx="80962" cy="80962"/>
              </a:xfrm>
              <a:custGeom>
                <a:avLst/>
                <a:gdLst/>
                <a:ahLst/>
                <a:cxnLst/>
                <a:rect l="l" t="t" r="r" b="b"/>
                <a:pathLst>
                  <a:path w="80962" h="80962">
                    <a:moveTo>
                      <a:pt x="0" y="80962"/>
                    </a:moveTo>
                    <a:lnTo>
                      <a:pt x="0" y="26988"/>
                    </a:lnTo>
                    <a:cubicBezTo>
                      <a:pt x="0" y="12083"/>
                      <a:pt x="12083" y="0"/>
                      <a:pt x="26988" y="0"/>
                    </a:cubicBezTo>
                    <a:lnTo>
                      <a:pt x="53975" y="0"/>
                    </a:lnTo>
                    <a:cubicBezTo>
                      <a:pt x="68880" y="0"/>
                      <a:pt x="80962" y="12083"/>
                      <a:pt x="80962" y="26988"/>
                    </a:cubicBezTo>
                    <a:lnTo>
                      <a:pt x="80962" y="80962"/>
                    </a:lnTo>
                  </a:path>
                </a:pathLst>
              </a:custGeom>
              <a:noFill/>
              <a:ln w="19050">
                <a:solidFill>
                  <a:srgbClr val="B8552E"/>
                </a:solidFill>
              </a:ln>
            </p:spPr>
          </p:sp>
        </p:grpSp>
        <p:sp>
          <p:nvSpPr>
            <p:cNvPr id="107" name="TextBox 107"/>
            <p:cNvSpPr txBox="1"/>
            <p:nvPr/>
          </p:nvSpPr>
          <p:spPr>
            <a:xfrm>
              <a:off x="8686800" y="5057775"/>
              <a:ext cx="878205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本地生活</a:t>
              </a:r>
            </a:p>
          </p:txBody>
        </p:sp>
        <p:sp>
          <p:nvSpPr>
            <p:cNvPr id="108" name="TextBox 108"/>
            <p:cNvSpPr txBox="1"/>
            <p:nvPr/>
          </p:nvSpPr>
          <p:spPr>
            <a:xfrm>
              <a:off x="8253412" y="5441156"/>
              <a:ext cx="137874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预约转化与到店运营</a:t>
              </a:r>
            </a:p>
          </p:txBody>
        </p:sp>
        <p:sp>
          <p:nvSpPr>
            <p:cNvPr id="109" name="Line 109"/>
            <p:cNvSpPr/>
            <p:nvPr/>
          </p:nvSpPr>
          <p:spPr>
            <a:xfrm>
              <a:off x="8267700" y="5695950"/>
              <a:ext cx="3124200" cy="9525"/>
            </a:xfrm>
            <a:custGeom>
              <a:avLst/>
              <a:gdLst/>
              <a:ahLst/>
              <a:cxnLst/>
              <a:rect l="l" t="t" r="r" b="b"/>
              <a:pathLst>
                <a:path w="3124200" h="9525">
                  <a:moveTo>
                    <a:pt x="0" y="0"/>
                  </a:moveTo>
                  <a:lnTo>
                    <a:pt x="3124200" y="0"/>
                  </a:lnTo>
                </a:path>
              </a:pathLst>
            </a:custGeom>
            <a:noFill/>
            <a:ln w="9525">
              <a:solidFill>
                <a:srgbClr val="ECE7DA"/>
              </a:solidFill>
            </a:ln>
          </p:spPr>
        </p:sp>
        <p:sp>
          <p:nvSpPr>
            <p:cNvPr id="110" name="TextBox 110"/>
            <p:cNvSpPr txBox="1"/>
            <p:nvPr/>
          </p:nvSpPr>
          <p:spPr>
            <a:xfrm>
              <a:off x="8242935" y="5790248"/>
              <a:ext cx="2192848" cy="396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B8552E"/>
                  </a:solidFill>
                  <a:latin typeface="Georgia"/>
                  <a:ea typeface="KaiTi"/>
                  <a:cs typeface="Georgia"/>
                </a:rPr>
                <a:t>2 秒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识别预约意图</a:t>
              </a:r>
            </a:p>
          </p:txBody>
        </p:sp>
      </p:grpSp>
      <p:grpSp>
        <p:nvGrpSpPr>
          <p:cNvPr id="116" name="Group 116"/>
          <p:cNvGrpSpPr/>
          <p:nvPr/>
        </p:nvGrpSpPr>
        <p:grpSpPr>
          <a:xfrm>
            <a:off x="571500" y="6438900"/>
            <a:ext cx="11060430" cy="304800"/>
            <a:chOff x="571500" y="6438900"/>
            <a:chExt cx="11060430" cy="304800"/>
          </a:xfrm>
        </p:grpSpPr>
        <p:sp>
          <p:nvSpPr>
            <p:cNvPr id="112" name="Line 112"/>
            <p:cNvSpPr/>
            <p:nvPr/>
          </p:nvSpPr>
          <p:spPr>
            <a:xfrm>
              <a:off x="571500" y="64389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ECE7DA"/>
              </a:solidFill>
            </a:ln>
          </p:spPr>
        </p:sp>
        <p:pic>
          <p:nvPicPr>
            <p:cNvPr id="113" name="Image 11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71500" y="6517891"/>
              <a:ext cx="190500" cy="184919"/>
            </a:xfrm>
            <a:prstGeom prst="rect">
              <a:avLst/>
            </a:prstGeom>
          </p:spPr>
        </p:pic>
        <p:sp>
          <p:nvSpPr>
            <p:cNvPr id="114" name="TextBox 114"/>
            <p:cNvSpPr txBox="1"/>
            <p:nvPr/>
          </p:nvSpPr>
          <p:spPr>
            <a:xfrm>
              <a:off x="845820" y="6560820"/>
              <a:ext cx="1487043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openfde.net · /solutions</a:t>
              </a:r>
            </a:p>
          </p:txBody>
        </p:sp>
        <p:sp>
          <p:nvSpPr>
            <p:cNvPr id="115" name="TextBox 115"/>
            <p:cNvSpPr txBox="1"/>
            <p:nvPr/>
          </p:nvSpPr>
          <p:spPr>
            <a:xfrm>
              <a:off x="11207020" y="6560820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15 / 26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5" dur="4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/>
      <p:bldP spid="79" grpId="0"/>
      <p:bldP spid="11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</p:sp>
      <p:grpSp>
        <p:nvGrpSpPr>
          <p:cNvPr id="7" name="Group 7"/>
          <p:cNvGrpSpPr/>
          <p:nvPr/>
        </p:nvGrpSpPr>
        <p:grpSpPr>
          <a:xfrm>
            <a:off x="539115" y="571500"/>
            <a:ext cx="11081385" cy="909638"/>
            <a:chOff x="539115" y="571500"/>
            <a:chExt cx="11081385" cy="909638"/>
          </a:xfrm>
        </p:grpSpPr>
        <p:sp>
          <p:nvSpPr>
            <p:cNvPr id="3" name="Rectangle 3"/>
            <p:cNvSpPr/>
            <p:nvPr/>
          </p:nvSpPr>
          <p:spPr>
            <a:xfrm>
              <a:off x="571500" y="571500"/>
              <a:ext cx="381000" cy="28575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557212" y="735806"/>
              <a:ext cx="131236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商业层 · 场景方案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39115" y="962978"/>
              <a:ext cx="6491573" cy="518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四个场景，做的都是同一件事：复制判断</a:t>
              </a:r>
            </a:p>
          </p:txBody>
        </p:sp>
        <p:sp>
          <p:nvSpPr>
            <p:cNvPr id="6" name="Line 6"/>
            <p:cNvSpPr/>
            <p:nvPr/>
          </p:nvSpPr>
          <p:spPr>
            <a:xfrm>
              <a:off x="571500" y="14478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14288">
              <a:solidFill>
                <a:srgbClr val="D4CDB9"/>
              </a:solidFill>
            </a:ln>
          </p:spPr>
        </p:sp>
      </p:grpSp>
      <p:grpSp>
        <p:nvGrpSpPr>
          <p:cNvPr id="18" name="Group 18"/>
          <p:cNvGrpSpPr/>
          <p:nvPr/>
        </p:nvGrpSpPr>
        <p:grpSpPr>
          <a:xfrm>
            <a:off x="571500" y="1676400"/>
            <a:ext cx="2590800" cy="3638550"/>
            <a:chOff x="571500" y="1676400"/>
            <a:chExt cx="2590800" cy="3638550"/>
          </a:xfrm>
        </p:grpSpPr>
        <p:sp>
          <p:nvSpPr>
            <p:cNvPr id="8" name="Rectangle 8"/>
            <p:cNvSpPr/>
            <p:nvPr/>
          </p:nvSpPr>
          <p:spPr>
            <a:xfrm>
              <a:off x="571500" y="1676400"/>
              <a:ext cx="2590800" cy="3638550"/>
            </a:xfrm>
            <a:prstGeom prst="rect">
              <a:avLst/>
            </a:prstGeom>
            <a:solidFill>
              <a:srgbClr val="EFEBE0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571500" y="1676400"/>
              <a:ext cx="2590800" cy="438150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322784" y="1800225"/>
              <a:ext cx="1088231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7F5EF"/>
                  </a:solidFill>
                  <a:latin typeface="Georgia"/>
                  <a:ea typeface="KaiTi"/>
                  <a:cs typeface="Georgia"/>
                </a:rPr>
                <a:t>销售与客服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305050"/>
              <a:ext cx="2209800" cy="2819400"/>
            </a:xfrm>
            <a:prstGeom prst="rect">
              <a:avLst/>
            </a:prstGeom>
            <a:solidFill>
              <a:srgbClr val="FFFDF8"/>
            </a:solidFill>
            <a:ln>
              <a:noFill/>
            </a:ln>
          </p:spPr>
        </p:sp>
        <p:grpSp>
          <p:nvGrpSpPr>
            <p:cNvPr id="14" name="Group 14"/>
            <p:cNvGrpSpPr/>
            <p:nvPr/>
          </p:nvGrpSpPr>
          <p:grpSpPr>
            <a:xfrm>
              <a:off x="1020401" y="2582287"/>
              <a:ext cx="291385" cy="268069"/>
              <a:chOff x="1020401" y="2582287"/>
              <a:chExt cx="291385" cy="268069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1020401" y="2582287"/>
                <a:ext cx="291385" cy="252988"/>
              </a:xfrm>
              <a:custGeom>
                <a:avLst/>
                <a:gdLst/>
                <a:ahLst/>
                <a:cxnLst/>
                <a:rect l="l" t="t" r="r" b="b"/>
                <a:pathLst>
                  <a:path w="291385" h="252988">
                    <a:moveTo>
                      <a:pt x="136727" y="251978"/>
                    </a:moveTo>
                    <a:cubicBezTo>
                      <a:pt x="119223" y="250323"/>
                      <a:pt x="102155" y="245558"/>
                      <a:pt x="86325" y="237907"/>
                    </a:cubicBezTo>
                    <a:lnTo>
                      <a:pt x="15443" y="252988"/>
                    </a:lnTo>
                    <a:lnTo>
                      <a:pt x="35049" y="194171"/>
                    </a:lnTo>
                    <a:cubicBezTo>
                      <a:pt x="0" y="142337"/>
                      <a:pt x="13543" y="75451"/>
                      <a:pt x="66719" y="37718"/>
                    </a:cubicBezTo>
                    <a:cubicBezTo>
                      <a:pt x="119896" y="0"/>
                      <a:pt x="196267" y="3092"/>
                      <a:pt x="245357" y="44957"/>
                    </a:cubicBezTo>
                    <a:cubicBezTo>
                      <a:pt x="277435" y="72315"/>
                      <a:pt x="291385" y="110711"/>
                      <a:pt x="285986" y="147630"/>
                    </a:cubicBez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1216819" y="2790031"/>
                <a:ext cx="90488" cy="60325"/>
              </a:xfrm>
              <a:custGeom>
                <a:avLst/>
                <a:gdLst/>
                <a:ahLst/>
                <a:cxnLst/>
                <a:rect l="l" t="t" r="r" b="b"/>
                <a:pathLst>
                  <a:path w="90488" h="60325">
                    <a:moveTo>
                      <a:pt x="0" y="30162"/>
                    </a:moveTo>
                    <a:lnTo>
                      <a:pt x="30162" y="60325"/>
                    </a:lnTo>
                    <a:lnTo>
                      <a:pt x="90488" y="0"/>
                    </a:ln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</p:grpSp>
        <p:sp>
          <p:nvSpPr>
            <p:cNvPr id="15" name="TextBox 15"/>
            <p:cNvSpPr txBox="1"/>
            <p:nvPr/>
          </p:nvSpPr>
          <p:spPr>
            <a:xfrm>
              <a:off x="974408" y="3119914"/>
              <a:ext cx="1103519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私域运营成交</a:t>
              </a:r>
            </a:p>
          </p:txBody>
        </p:sp>
        <p:sp>
          <p:nvSpPr>
            <p:cNvPr id="16" name="Line 16"/>
            <p:cNvSpPr/>
            <p:nvPr/>
          </p:nvSpPr>
          <p:spPr>
            <a:xfrm>
              <a:off x="990600" y="3409950"/>
              <a:ext cx="1752600" cy="9525"/>
            </a:xfrm>
            <a:custGeom>
              <a:avLst/>
              <a:gdLst/>
              <a:ahLst/>
              <a:cxnLst/>
              <a:rect l="l" t="t" r="r" b="b"/>
              <a:pathLst>
                <a:path w="1752600" h="9525">
                  <a:moveTo>
                    <a:pt x="0" y="0"/>
                  </a:moveTo>
                  <a:lnTo>
                    <a:pt x="1752600" y="0"/>
                  </a:lnTo>
                </a:path>
              </a:pathLst>
            </a:custGeom>
            <a:noFill/>
            <a:ln w="9525">
              <a:solidFill>
                <a:srgbClr val="D4CDB9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74408" y="3558064"/>
              <a:ext cx="1586865" cy="149733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950"/>
                </a:lnSpc>
              </a:pP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接待 · 判断 · 跟进 ·</a:t>
              </a: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成交。把团队最强</a:t>
              </a: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的销售判断蒸馏进</a:t>
              </a: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Agent，7×24 在微</a:t>
              </a: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信、企微、WhatsApp</a:t>
              </a: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上工作。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3390900" y="1676400"/>
            <a:ext cx="2590800" cy="3638550"/>
            <a:chOff x="3390900" y="1676400"/>
            <a:chExt cx="2590800" cy="3638550"/>
          </a:xfrm>
        </p:grpSpPr>
        <p:sp>
          <p:nvSpPr>
            <p:cNvPr id="19" name="Rectangle 19"/>
            <p:cNvSpPr/>
            <p:nvPr/>
          </p:nvSpPr>
          <p:spPr>
            <a:xfrm>
              <a:off x="3390900" y="1676400"/>
              <a:ext cx="2590800" cy="3638550"/>
            </a:xfrm>
            <a:prstGeom prst="rect">
              <a:avLst/>
            </a:prstGeom>
            <a:solidFill>
              <a:srgbClr val="EFEBE0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3390900" y="1676400"/>
              <a:ext cx="2590800" cy="438150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4142184" y="1800225"/>
              <a:ext cx="1088231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7F5EF"/>
                  </a:solidFill>
                  <a:latin typeface="Georgia"/>
                  <a:ea typeface="KaiTi"/>
                  <a:cs typeface="Georgia"/>
                </a:rPr>
                <a:t>内容与获客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3581400" y="2305050"/>
              <a:ext cx="2209800" cy="2819400"/>
            </a:xfrm>
            <a:prstGeom prst="rect">
              <a:avLst/>
            </a:prstGeom>
            <a:solidFill>
              <a:srgbClr val="FFFDF8"/>
            </a:solidFill>
            <a:ln>
              <a:noFill/>
            </a:ln>
          </p:spPr>
        </p:sp>
        <p:grpSp>
          <p:nvGrpSpPr>
            <p:cNvPr id="25" name="Group 25"/>
            <p:cNvGrpSpPr/>
            <p:nvPr/>
          </p:nvGrpSpPr>
          <p:grpSpPr>
            <a:xfrm>
              <a:off x="3855244" y="2624138"/>
              <a:ext cx="271463" cy="180975"/>
              <a:chOff x="3855244" y="2624138"/>
              <a:chExt cx="271463" cy="180975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4036219" y="2647802"/>
                <a:ext cx="90488" cy="133646"/>
              </a:xfrm>
              <a:custGeom>
                <a:avLst/>
                <a:gdLst/>
                <a:ahLst/>
                <a:cxnLst/>
                <a:rect l="l" t="t" r="r" b="b"/>
                <a:pathLst>
                  <a:path w="90488" h="133646">
                    <a:moveTo>
                      <a:pt x="0" y="36660"/>
                    </a:moveTo>
                    <a:lnTo>
                      <a:pt x="68665" y="2335"/>
                    </a:lnTo>
                    <a:cubicBezTo>
                      <a:pt x="73339" y="0"/>
                      <a:pt x="78888" y="250"/>
                      <a:pt x="83333" y="2996"/>
                    </a:cubicBezTo>
                    <a:cubicBezTo>
                      <a:pt x="87778" y="5742"/>
                      <a:pt x="90485" y="10593"/>
                      <a:pt x="90488" y="15818"/>
                    </a:cubicBezTo>
                    <a:lnTo>
                      <a:pt x="90488" y="117828"/>
                    </a:lnTo>
                    <a:cubicBezTo>
                      <a:pt x="90485" y="123052"/>
                      <a:pt x="87778" y="127904"/>
                      <a:pt x="83333" y="130650"/>
                    </a:cubicBezTo>
                    <a:cubicBezTo>
                      <a:pt x="78888" y="133396"/>
                      <a:pt x="73339" y="133646"/>
                      <a:pt x="68665" y="131310"/>
                    </a:cubicBezTo>
                    <a:lnTo>
                      <a:pt x="0" y="96985"/>
                    </a:lnTo>
                    <a:lnTo>
                      <a:pt x="0" y="36660"/>
                    </a:ln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3855244" y="2624138"/>
                <a:ext cx="180975" cy="180975"/>
              </a:xfrm>
              <a:custGeom>
                <a:avLst/>
                <a:gdLst/>
                <a:ahLst/>
                <a:cxnLst/>
                <a:rect l="l" t="t" r="r" b="b"/>
                <a:pathLst>
                  <a:path w="180975" h="180975">
                    <a:moveTo>
                      <a:pt x="0" y="30163"/>
                    </a:moveTo>
                    <a:cubicBezTo>
                      <a:pt x="0" y="13504"/>
                      <a:pt x="13504" y="0"/>
                      <a:pt x="30163" y="0"/>
                    </a:cubicBezTo>
                    <a:lnTo>
                      <a:pt x="150812" y="0"/>
                    </a:lnTo>
                    <a:cubicBezTo>
                      <a:pt x="167471" y="0"/>
                      <a:pt x="180975" y="13504"/>
                      <a:pt x="180975" y="30163"/>
                    </a:cubicBezTo>
                    <a:lnTo>
                      <a:pt x="180975" y="150812"/>
                    </a:lnTo>
                    <a:cubicBezTo>
                      <a:pt x="180975" y="167471"/>
                      <a:pt x="167471" y="180975"/>
                      <a:pt x="150812" y="180975"/>
                    </a:cubicBezTo>
                    <a:lnTo>
                      <a:pt x="30163" y="180975"/>
                    </a:lnTo>
                    <a:cubicBezTo>
                      <a:pt x="13504" y="180975"/>
                      <a:pt x="0" y="167471"/>
                      <a:pt x="0" y="150812"/>
                    </a:cubicBezTo>
                    <a:lnTo>
                      <a:pt x="0" y="30163"/>
                    </a:ln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</p:grpSp>
        <p:sp>
          <p:nvSpPr>
            <p:cNvPr id="26" name="TextBox 26"/>
            <p:cNvSpPr txBox="1"/>
            <p:nvPr/>
          </p:nvSpPr>
          <p:spPr>
            <a:xfrm>
              <a:off x="3793808" y="3119914"/>
              <a:ext cx="1692643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AI 短视频 + 社媒矩阵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3810000" y="3409950"/>
              <a:ext cx="1752600" cy="9525"/>
            </a:xfrm>
            <a:custGeom>
              <a:avLst/>
              <a:gdLst/>
              <a:ahLst/>
              <a:cxnLst/>
              <a:rect l="l" t="t" r="r" b="b"/>
              <a:pathLst>
                <a:path w="1752600" h="9525">
                  <a:moveTo>
                    <a:pt x="0" y="0"/>
                  </a:moveTo>
                  <a:lnTo>
                    <a:pt x="1752600" y="0"/>
                  </a:lnTo>
                </a:path>
              </a:pathLst>
            </a:custGeom>
            <a:noFill/>
            <a:ln w="9525">
              <a:solidFill>
                <a:srgbClr val="D4CDB9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3793808" y="3558064"/>
              <a:ext cx="1651635" cy="100203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950"/>
                </a:lnSpc>
              </a:pP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选题、脚本、钩子、</a:t>
              </a: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节奏。批量产出成片</a:t>
              </a: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与笔记，矩阵账号统</a:t>
              </a: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一分发，持续测爆款。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6210300" y="1676400"/>
            <a:ext cx="2590800" cy="3638550"/>
            <a:chOff x="6210300" y="1676400"/>
            <a:chExt cx="2590800" cy="3638550"/>
          </a:xfrm>
        </p:grpSpPr>
        <p:sp>
          <p:nvSpPr>
            <p:cNvPr id="30" name="Rectangle 30"/>
            <p:cNvSpPr/>
            <p:nvPr/>
          </p:nvSpPr>
          <p:spPr>
            <a:xfrm>
              <a:off x="6210300" y="1676400"/>
              <a:ext cx="2590800" cy="3638550"/>
            </a:xfrm>
            <a:prstGeom prst="rect">
              <a:avLst/>
            </a:prstGeom>
            <a:solidFill>
              <a:srgbClr val="EFEBE0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6210300" y="1676400"/>
              <a:ext cx="2590800" cy="438150"/>
            </a:xfrm>
            <a:prstGeom prst="rect">
              <a:avLst/>
            </a:prstGeom>
            <a:solidFill>
              <a:srgbClr val="17140D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7066598" y="1800225"/>
              <a:ext cx="878205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7F5EF"/>
                  </a:solidFill>
                  <a:latin typeface="Georgia"/>
                  <a:ea typeface="KaiTi"/>
                  <a:cs typeface="Georgia"/>
                </a:rPr>
                <a:t>设计生产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400800" y="2305050"/>
              <a:ext cx="2209800" cy="2819400"/>
            </a:xfrm>
            <a:prstGeom prst="rect">
              <a:avLst/>
            </a:prstGeom>
            <a:solidFill>
              <a:srgbClr val="FFFDF8"/>
            </a:solidFill>
            <a:ln>
              <a:noFill/>
            </a:ln>
          </p:spPr>
        </p:sp>
        <p:grpSp>
          <p:nvGrpSpPr>
            <p:cNvPr id="38" name="Group 38"/>
            <p:cNvGrpSpPr/>
            <p:nvPr/>
          </p:nvGrpSpPr>
          <p:grpSpPr>
            <a:xfrm>
              <a:off x="6674644" y="2578894"/>
              <a:ext cx="271462" cy="272228"/>
              <a:chOff x="6674644" y="2578894"/>
              <a:chExt cx="271462" cy="272228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6674644" y="2578894"/>
                <a:ext cx="271462" cy="272228"/>
              </a:xfrm>
              <a:custGeom>
                <a:avLst/>
                <a:gdLst/>
                <a:ahLst/>
                <a:cxnLst/>
                <a:rect l="l" t="t" r="r" b="b"/>
                <a:pathLst>
                  <a:path w="271462" h="272228">
                    <a:moveTo>
                      <a:pt x="135731" y="271462"/>
                    </a:moveTo>
                    <a:cubicBezTo>
                      <a:pt x="60769" y="271462"/>
                      <a:pt x="0" y="210694"/>
                      <a:pt x="0" y="135731"/>
                    </a:cubicBezTo>
                    <a:cubicBezTo>
                      <a:pt x="0" y="60769"/>
                      <a:pt x="60769" y="0"/>
                      <a:pt x="135731" y="0"/>
                    </a:cubicBezTo>
                    <a:cubicBezTo>
                      <a:pt x="210685" y="0"/>
                      <a:pt x="271462" y="54021"/>
                      <a:pt x="271462" y="120650"/>
                    </a:cubicBezTo>
                    <a:cubicBezTo>
                      <a:pt x="271462" y="136636"/>
                      <a:pt x="264314" y="151989"/>
                      <a:pt x="251585" y="163300"/>
                    </a:cubicBezTo>
                    <a:cubicBezTo>
                      <a:pt x="238857" y="174611"/>
                      <a:pt x="221589" y="180975"/>
                      <a:pt x="203597" y="180975"/>
                    </a:cubicBezTo>
                    <a:lnTo>
                      <a:pt x="165894" y="180975"/>
                    </a:lnTo>
                    <a:cubicBezTo>
                      <a:pt x="152049" y="180752"/>
                      <a:pt x="139831" y="189983"/>
                      <a:pt x="136264" y="203362"/>
                    </a:cubicBezTo>
                    <a:cubicBezTo>
                      <a:pt x="132696" y="216740"/>
                      <a:pt x="138695" y="230830"/>
                      <a:pt x="150813" y="237530"/>
                    </a:cubicBezTo>
                    <a:cubicBezTo>
                      <a:pt x="156987" y="243227"/>
                      <a:pt x="158845" y="252224"/>
                      <a:pt x="155433" y="259901"/>
                    </a:cubicBezTo>
                    <a:cubicBezTo>
                      <a:pt x="152021" y="267578"/>
                      <a:pt x="144097" y="272228"/>
                      <a:pt x="135731" y="271462"/>
                    </a:cubicBez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6742509" y="2676922"/>
                <a:ext cx="30162" cy="30162"/>
              </a:xfrm>
              <a:custGeom>
                <a:avLst/>
                <a:gdLst/>
                <a:ahLst/>
                <a:cxnLst/>
                <a:rect l="l" t="t" r="r" b="b"/>
                <a:pathLst>
                  <a:path w="30162" h="30162">
                    <a:moveTo>
                      <a:pt x="0" y="15081"/>
                    </a:moveTo>
                    <a:cubicBezTo>
                      <a:pt x="0" y="23410"/>
                      <a:pt x="6752" y="30162"/>
                      <a:pt x="15081" y="30162"/>
                    </a:cubicBezTo>
                    <a:cubicBezTo>
                      <a:pt x="23410" y="30162"/>
                      <a:pt x="30162" y="23410"/>
                      <a:pt x="30162" y="15081"/>
                    </a:cubicBezTo>
                    <a:cubicBezTo>
                      <a:pt x="30162" y="6752"/>
                      <a:pt x="23410" y="0"/>
                      <a:pt x="15081" y="0"/>
                    </a:cubicBezTo>
                    <a:cubicBezTo>
                      <a:pt x="6752" y="0"/>
                      <a:pt x="0" y="6752"/>
                      <a:pt x="0" y="15081"/>
                    </a:cubicBez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6802834" y="2631678"/>
                <a:ext cx="30162" cy="30162"/>
              </a:xfrm>
              <a:custGeom>
                <a:avLst/>
                <a:gdLst/>
                <a:ahLst/>
                <a:cxnLst/>
                <a:rect l="l" t="t" r="r" b="b"/>
                <a:pathLst>
                  <a:path w="30162" h="30162">
                    <a:moveTo>
                      <a:pt x="0" y="15081"/>
                    </a:moveTo>
                    <a:cubicBezTo>
                      <a:pt x="0" y="23410"/>
                      <a:pt x="6752" y="30162"/>
                      <a:pt x="15081" y="30162"/>
                    </a:cubicBezTo>
                    <a:cubicBezTo>
                      <a:pt x="23410" y="30162"/>
                      <a:pt x="30162" y="23410"/>
                      <a:pt x="30162" y="15081"/>
                    </a:cubicBezTo>
                    <a:cubicBezTo>
                      <a:pt x="30162" y="6752"/>
                      <a:pt x="23410" y="0"/>
                      <a:pt x="15081" y="0"/>
                    </a:cubicBezTo>
                    <a:cubicBezTo>
                      <a:pt x="6752" y="0"/>
                      <a:pt x="0" y="6752"/>
                      <a:pt x="0" y="15081"/>
                    </a:cubicBez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6863159" y="2676922"/>
                <a:ext cx="30163" cy="30162"/>
              </a:xfrm>
              <a:custGeom>
                <a:avLst/>
                <a:gdLst/>
                <a:ahLst/>
                <a:cxnLst/>
                <a:rect l="l" t="t" r="r" b="b"/>
                <a:pathLst>
                  <a:path w="30163" h="30162">
                    <a:moveTo>
                      <a:pt x="0" y="15081"/>
                    </a:moveTo>
                    <a:cubicBezTo>
                      <a:pt x="0" y="23410"/>
                      <a:pt x="6752" y="30162"/>
                      <a:pt x="15081" y="30162"/>
                    </a:cubicBezTo>
                    <a:cubicBezTo>
                      <a:pt x="23410" y="30162"/>
                      <a:pt x="30163" y="23410"/>
                      <a:pt x="30163" y="15081"/>
                    </a:cubicBezTo>
                    <a:cubicBezTo>
                      <a:pt x="30163" y="6752"/>
                      <a:pt x="23410" y="0"/>
                      <a:pt x="15081" y="0"/>
                    </a:cubicBezTo>
                    <a:cubicBezTo>
                      <a:pt x="6752" y="0"/>
                      <a:pt x="0" y="6752"/>
                      <a:pt x="0" y="15081"/>
                    </a:cubicBez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</p:grpSp>
        <p:sp>
          <p:nvSpPr>
            <p:cNvPr id="39" name="TextBox 39"/>
            <p:cNvSpPr txBox="1"/>
            <p:nvPr/>
          </p:nvSpPr>
          <p:spPr>
            <a:xfrm>
              <a:off x="6613208" y="3119914"/>
              <a:ext cx="1665864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创意判断 → 批量产线</a:t>
              </a:r>
            </a:p>
          </p:txBody>
        </p:sp>
        <p:sp>
          <p:nvSpPr>
            <p:cNvPr id="40" name="Line 40"/>
            <p:cNvSpPr/>
            <p:nvPr/>
          </p:nvSpPr>
          <p:spPr>
            <a:xfrm>
              <a:off x="6629400" y="3409950"/>
              <a:ext cx="1752600" cy="9525"/>
            </a:xfrm>
            <a:custGeom>
              <a:avLst/>
              <a:gdLst/>
              <a:ahLst/>
              <a:cxnLst/>
              <a:rect l="l" t="t" r="r" b="b"/>
              <a:pathLst>
                <a:path w="1752600" h="9525">
                  <a:moveTo>
                    <a:pt x="0" y="0"/>
                  </a:moveTo>
                  <a:lnTo>
                    <a:pt x="1752600" y="0"/>
                  </a:lnTo>
                </a:path>
              </a:pathLst>
            </a:custGeom>
            <a:noFill/>
            <a:ln w="9525">
              <a:solidFill>
                <a:srgbClr val="D4CDB9"/>
              </a:solidFill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613208" y="3558064"/>
              <a:ext cx="1651635" cy="12496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950"/>
                </a:lnSpc>
              </a:pP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把套版判断、审美与</a:t>
              </a: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品牌规范沉淀成规则，</a:t>
              </a: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接入生产系统，做可</a:t>
              </a: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控、可编辑的批量</a:t>
              </a: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生产。</a:t>
              </a:r>
            </a:p>
          </p:txBody>
        </p:sp>
      </p:grpSp>
      <p:grpSp>
        <p:nvGrpSpPr>
          <p:cNvPr id="56" name="Group 56"/>
          <p:cNvGrpSpPr/>
          <p:nvPr/>
        </p:nvGrpSpPr>
        <p:grpSpPr>
          <a:xfrm>
            <a:off x="9029700" y="1676400"/>
            <a:ext cx="2590800" cy="3638550"/>
            <a:chOff x="9029700" y="1676400"/>
            <a:chExt cx="2590800" cy="3638550"/>
          </a:xfrm>
        </p:grpSpPr>
        <p:sp>
          <p:nvSpPr>
            <p:cNvPr id="43" name="Rectangle 43"/>
            <p:cNvSpPr/>
            <p:nvPr/>
          </p:nvSpPr>
          <p:spPr>
            <a:xfrm>
              <a:off x="9029700" y="1676400"/>
              <a:ext cx="2590800" cy="3638550"/>
            </a:xfrm>
            <a:prstGeom prst="rect">
              <a:avLst/>
            </a:prstGeom>
            <a:solidFill>
              <a:srgbClr val="EFEBE0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9029700" y="1676400"/>
              <a:ext cx="2590800" cy="438150"/>
            </a:xfrm>
            <a:prstGeom prst="rect">
              <a:avLst/>
            </a:prstGeom>
            <a:solidFill>
              <a:srgbClr val="B8552E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9885998" y="1800225"/>
              <a:ext cx="878205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7F5EF"/>
                  </a:solidFill>
                  <a:latin typeface="Georgia"/>
                  <a:ea typeface="KaiTi"/>
                  <a:cs typeface="Georgia"/>
                </a:rPr>
                <a:t>招聘管道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9220200" y="2305050"/>
              <a:ext cx="2209800" cy="2819400"/>
            </a:xfrm>
            <a:prstGeom prst="rect">
              <a:avLst/>
            </a:prstGeom>
            <a:solidFill>
              <a:srgbClr val="FFFDF8"/>
            </a:solidFill>
            <a:ln>
              <a:noFill/>
            </a:ln>
          </p:spPr>
        </p:sp>
        <p:grpSp>
          <p:nvGrpSpPr>
            <p:cNvPr id="52" name="Group 52"/>
            <p:cNvGrpSpPr/>
            <p:nvPr/>
          </p:nvGrpSpPr>
          <p:grpSpPr>
            <a:xfrm>
              <a:off x="9494044" y="2578894"/>
              <a:ext cx="286543" cy="286544"/>
              <a:chOff x="9494044" y="2578894"/>
              <a:chExt cx="286543" cy="286544"/>
            </a:xfrm>
          </p:grpSpPr>
          <p:sp>
            <p:nvSpPr>
              <p:cNvPr id="47" name="Freeform 47"/>
              <p:cNvSpPr/>
              <p:nvPr/>
            </p:nvSpPr>
            <p:spPr>
              <a:xfrm>
                <a:off x="9524206" y="2578894"/>
                <a:ext cx="120650" cy="120650"/>
              </a:xfrm>
              <a:custGeom>
                <a:avLst/>
                <a:gdLst/>
                <a:ahLst/>
                <a:cxnLst/>
                <a:rect l="l" t="t" r="r" b="b"/>
                <a:pathLst>
                  <a:path w="120650" h="120650">
                    <a:moveTo>
                      <a:pt x="0" y="60325"/>
                    </a:moveTo>
                    <a:cubicBezTo>
                      <a:pt x="0" y="93642"/>
                      <a:pt x="27008" y="120650"/>
                      <a:pt x="60325" y="120650"/>
                    </a:cubicBezTo>
                    <a:cubicBezTo>
                      <a:pt x="93642" y="120650"/>
                      <a:pt x="120650" y="93642"/>
                      <a:pt x="120650" y="60325"/>
                    </a:cubicBezTo>
                    <a:cubicBezTo>
                      <a:pt x="120650" y="27008"/>
                      <a:pt x="93642" y="0"/>
                      <a:pt x="60325" y="0"/>
                    </a:cubicBezTo>
                    <a:cubicBezTo>
                      <a:pt x="27008" y="0"/>
                      <a:pt x="0" y="27008"/>
                      <a:pt x="0" y="60325"/>
                    </a:cubicBezTo>
                  </a:path>
                </a:pathLst>
              </a:custGeom>
              <a:noFill/>
              <a:ln w="19050">
                <a:solidFill>
                  <a:srgbClr val="B8552E"/>
                </a:solidFill>
              </a:ln>
            </p:spPr>
          </p:sp>
          <p:sp>
            <p:nvSpPr>
              <p:cNvPr id="48" name="Freeform 48"/>
              <p:cNvSpPr/>
              <p:nvPr/>
            </p:nvSpPr>
            <p:spPr>
              <a:xfrm>
                <a:off x="9494044" y="2759869"/>
                <a:ext cx="158806" cy="90488"/>
              </a:xfrm>
              <a:custGeom>
                <a:avLst/>
                <a:gdLst/>
                <a:ahLst/>
                <a:cxnLst/>
                <a:rect l="l" t="t" r="r" b="b"/>
                <a:pathLst>
                  <a:path w="158806" h="90488">
                    <a:moveTo>
                      <a:pt x="0" y="90488"/>
                    </a:moveTo>
                    <a:lnTo>
                      <a:pt x="0" y="60325"/>
                    </a:lnTo>
                    <a:cubicBezTo>
                      <a:pt x="0" y="27008"/>
                      <a:pt x="27008" y="0"/>
                      <a:pt x="60325" y="0"/>
                    </a:cubicBezTo>
                    <a:lnTo>
                      <a:pt x="120650" y="0"/>
                    </a:lnTo>
                    <a:cubicBezTo>
                      <a:pt x="135128" y="0"/>
                      <a:pt x="148400" y="5097"/>
                      <a:pt x="158806" y="13588"/>
                    </a:cubicBezTo>
                  </a:path>
                </a:pathLst>
              </a:custGeom>
              <a:noFill/>
              <a:ln w="19050">
                <a:solidFill>
                  <a:srgbClr val="B8552E"/>
                </a:solidFill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9690100" y="2580854"/>
                <a:ext cx="45362" cy="116880"/>
              </a:xfrm>
              <a:custGeom>
                <a:avLst/>
                <a:gdLst/>
                <a:ahLst/>
                <a:cxnLst/>
                <a:rect l="l" t="t" r="r" b="b"/>
                <a:pathLst>
                  <a:path w="45362" h="116880">
                    <a:moveTo>
                      <a:pt x="0" y="0"/>
                    </a:moveTo>
                    <a:cubicBezTo>
                      <a:pt x="26693" y="6834"/>
                      <a:pt x="45362" y="30886"/>
                      <a:pt x="45362" y="58440"/>
                    </a:cubicBezTo>
                    <a:cubicBezTo>
                      <a:pt x="45362" y="85993"/>
                      <a:pt x="26693" y="110045"/>
                      <a:pt x="0" y="116880"/>
                    </a:cubicBezTo>
                  </a:path>
                </a:pathLst>
              </a:custGeom>
              <a:noFill/>
              <a:ln w="19050">
                <a:solidFill>
                  <a:srgbClr val="B8552E"/>
                </a:solidFill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9690100" y="2820194"/>
                <a:ext cx="90487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0487" h="9525">
                    <a:moveTo>
                      <a:pt x="0" y="0"/>
                    </a:moveTo>
                    <a:lnTo>
                      <a:pt x="90487" y="0"/>
                    </a:lnTo>
                  </a:path>
                </a:pathLst>
              </a:custGeom>
              <a:noFill/>
              <a:ln w="19050">
                <a:solidFill>
                  <a:srgbClr val="B8552E"/>
                </a:solidFill>
              </a:ln>
            </p:spPr>
          </p:sp>
          <p:sp>
            <p:nvSpPr>
              <p:cNvPr id="51" name="Freeform 51"/>
              <p:cNvSpPr/>
              <p:nvPr/>
            </p:nvSpPr>
            <p:spPr>
              <a:xfrm>
                <a:off x="9735344" y="2774950"/>
                <a:ext cx="9525" cy="90488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0488">
                    <a:moveTo>
                      <a:pt x="0" y="0"/>
                    </a:moveTo>
                    <a:lnTo>
                      <a:pt x="0" y="90488"/>
                    </a:lnTo>
                  </a:path>
                </a:pathLst>
              </a:custGeom>
              <a:noFill/>
              <a:ln w="19050">
                <a:solidFill>
                  <a:srgbClr val="B8552E"/>
                </a:solidFill>
              </a:ln>
            </p:spPr>
          </p:sp>
        </p:grpSp>
        <p:sp>
          <p:nvSpPr>
            <p:cNvPr id="53" name="TextBox 53"/>
            <p:cNvSpPr txBox="1"/>
            <p:nvPr/>
          </p:nvSpPr>
          <p:spPr>
            <a:xfrm>
              <a:off x="9432608" y="3119914"/>
              <a:ext cx="1665864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B8552E"/>
                  </a:solidFill>
                  <a:latin typeface="Arial"/>
                  <a:ea typeface="Microsoft YaHei"/>
                  <a:cs typeface="Arial"/>
                </a:rPr>
                <a:t>用人判断 → 人才管道</a:t>
              </a:r>
            </a:p>
          </p:txBody>
        </p:sp>
        <p:sp>
          <p:nvSpPr>
            <p:cNvPr id="54" name="Line 54"/>
            <p:cNvSpPr/>
            <p:nvPr/>
          </p:nvSpPr>
          <p:spPr>
            <a:xfrm>
              <a:off x="9448800" y="3409950"/>
              <a:ext cx="1752600" cy="9525"/>
            </a:xfrm>
            <a:custGeom>
              <a:avLst/>
              <a:gdLst/>
              <a:ahLst/>
              <a:cxnLst/>
              <a:rect l="l" t="t" r="r" b="b"/>
              <a:pathLst>
                <a:path w="1752600" h="9525">
                  <a:moveTo>
                    <a:pt x="0" y="0"/>
                  </a:moveTo>
                  <a:lnTo>
                    <a:pt x="1752600" y="0"/>
                  </a:lnTo>
                </a:path>
              </a:pathLst>
            </a:custGeom>
            <a:noFill/>
            <a:ln w="9525">
              <a:solidFill>
                <a:srgbClr val="D4CDB9"/>
              </a:solidFill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9432608" y="3558064"/>
              <a:ext cx="1489710" cy="12496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950"/>
                </a:lnSpc>
              </a:pP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把用人判断编译进筛</a:t>
              </a: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选与跟进流程，像经</a:t>
              </a: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营销售管道一样经营</a:t>
              </a: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人才管道，用录用结</a:t>
              </a: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果持续校准。</a:t>
              </a:r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571500" y="5543550"/>
            <a:ext cx="11049000" cy="640556"/>
            <a:chOff x="571500" y="5543550"/>
            <a:chExt cx="11049000" cy="640556"/>
          </a:xfrm>
        </p:grpSpPr>
        <p:sp>
          <p:nvSpPr>
            <p:cNvPr id="57" name="Rectangle 57"/>
            <p:cNvSpPr/>
            <p:nvPr/>
          </p:nvSpPr>
          <p:spPr>
            <a:xfrm>
              <a:off x="571500" y="5543550"/>
              <a:ext cx="11049000" cy="628650"/>
            </a:xfrm>
            <a:prstGeom prst="rect">
              <a:avLst/>
            </a:prstGeom>
            <a:solidFill>
              <a:srgbClr val="F6E7DD"/>
            </a:solidFill>
            <a:ln>
              <a:noFill/>
            </a:ln>
          </p:spPr>
        </p:sp>
        <p:sp>
          <p:nvSpPr>
            <p:cNvPr id="58" name="Rectangle 58"/>
            <p:cNvSpPr/>
            <p:nvPr/>
          </p:nvSpPr>
          <p:spPr>
            <a:xfrm>
              <a:off x="571500" y="5543550"/>
              <a:ext cx="38100" cy="628650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857250" y="5667375"/>
              <a:ext cx="458152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打法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1409700" y="5667375"/>
              <a:ext cx="7038975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先</a:t>
              </a:r>
              <a:r>
                <a:rPr lang="zh-CN" sz="1500" b="1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纵向</a:t>
              </a: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吃透营销团队的判断密集型场景，再</a:t>
              </a:r>
              <a:r>
                <a:rPr lang="zh-CN" sz="1500" b="1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横向</a:t>
              </a: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复制到设计、招聘等更多场景。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862012" y="5955506"/>
              <a:ext cx="527923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读法：前两个场景是现在的收入来源（有付费客户验证），后两个是复制方向。</a:t>
              </a:r>
            </a:p>
          </p:txBody>
        </p:sp>
      </p:grpSp>
      <p:grpSp>
        <p:nvGrpSpPr>
          <p:cNvPr id="67" name="Group 67"/>
          <p:cNvGrpSpPr/>
          <p:nvPr/>
        </p:nvGrpSpPr>
        <p:grpSpPr>
          <a:xfrm>
            <a:off x="571500" y="6438900"/>
            <a:ext cx="11060430" cy="304800"/>
            <a:chOff x="571500" y="6438900"/>
            <a:chExt cx="11060430" cy="304800"/>
          </a:xfrm>
        </p:grpSpPr>
        <p:sp>
          <p:nvSpPr>
            <p:cNvPr id="63" name="Line 63"/>
            <p:cNvSpPr/>
            <p:nvPr/>
          </p:nvSpPr>
          <p:spPr>
            <a:xfrm>
              <a:off x="571500" y="64389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ECE7DA"/>
              </a:solidFill>
            </a:ln>
          </p:spPr>
        </p:sp>
        <p:pic>
          <p:nvPicPr>
            <p:cNvPr id="64" name="Image 64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71500" y="6517891"/>
              <a:ext cx="190500" cy="184919"/>
            </a:xfrm>
            <a:prstGeom prst="rect">
              <a:avLst/>
            </a:prstGeom>
          </p:spPr>
        </p:pic>
        <p:sp>
          <p:nvSpPr>
            <p:cNvPr id="65" name="TextBox 65"/>
            <p:cNvSpPr txBox="1"/>
            <p:nvPr/>
          </p:nvSpPr>
          <p:spPr>
            <a:xfrm>
              <a:off x="845820" y="6560820"/>
              <a:ext cx="211712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openfde.net · /solutions#scenarios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11207020" y="6560820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16 / 26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5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9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29" grpId="0"/>
      <p:bldP spid="42" grpId="0"/>
      <p:bldP spid="56" grpId="0"/>
      <p:bldP spid="6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</p:sp>
      <p:grpSp>
        <p:nvGrpSpPr>
          <p:cNvPr id="8" name="Group 8"/>
          <p:cNvGrpSpPr/>
          <p:nvPr/>
        </p:nvGrpSpPr>
        <p:grpSpPr>
          <a:xfrm>
            <a:off x="539115" y="571500"/>
            <a:ext cx="11095672" cy="909638"/>
            <a:chOff x="539115" y="571500"/>
            <a:chExt cx="11095672" cy="909638"/>
          </a:xfrm>
        </p:grpSpPr>
        <p:sp>
          <p:nvSpPr>
            <p:cNvPr id="3" name="Rectangle 3"/>
            <p:cNvSpPr/>
            <p:nvPr/>
          </p:nvSpPr>
          <p:spPr>
            <a:xfrm>
              <a:off x="571500" y="571500"/>
              <a:ext cx="381000" cy="28575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557212" y="735806"/>
              <a:ext cx="131236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商业层 · 客户案例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39115" y="962978"/>
              <a:ext cx="4706350" cy="518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五个招牌案例，和一条品牌墙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10106025" y="1078706"/>
              <a:ext cx="152876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说服力全在具体数字上</a:t>
              </a:r>
            </a:p>
          </p:txBody>
        </p:sp>
        <p:sp>
          <p:nvSpPr>
            <p:cNvPr id="7" name="Line 7"/>
            <p:cNvSpPr/>
            <p:nvPr/>
          </p:nvSpPr>
          <p:spPr>
            <a:xfrm>
              <a:off x="571500" y="14478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14288">
              <a:solidFill>
                <a:srgbClr val="D4CDB9"/>
              </a:solidFill>
            </a:ln>
          </p:spPr>
        </p:sp>
      </p:grpSp>
      <p:grpSp>
        <p:nvGrpSpPr>
          <p:cNvPr id="21" name="Group 21"/>
          <p:cNvGrpSpPr/>
          <p:nvPr/>
        </p:nvGrpSpPr>
        <p:grpSpPr>
          <a:xfrm>
            <a:off x="571500" y="1676400"/>
            <a:ext cx="2133600" cy="3486150"/>
            <a:chOff x="571500" y="1676400"/>
            <a:chExt cx="2133600" cy="3486150"/>
          </a:xfrm>
        </p:grpSpPr>
        <p:sp>
          <p:nvSpPr>
            <p:cNvPr id="9" name="Rectangle 9"/>
            <p:cNvSpPr/>
            <p:nvPr/>
          </p:nvSpPr>
          <p:spPr>
            <a:xfrm>
              <a:off x="571500" y="1676400"/>
              <a:ext cx="2133600" cy="348615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71500" y="1676400"/>
              <a:ext cx="2133600" cy="47625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750570" y="1845945"/>
              <a:ext cx="62293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零售与电商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42950" y="2047875"/>
              <a:ext cx="668179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斯凯奇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45808" y="2300764"/>
              <a:ext cx="817883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6A6356"/>
                  </a:solidFill>
                  <a:latin typeface="Georgia"/>
                  <a:ea typeface="KaiTi"/>
                  <a:cs typeface="Georgia"/>
                </a:rPr>
                <a:t>SKECHERS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762000" y="2590800"/>
              <a:ext cx="1752600" cy="9525"/>
            </a:xfrm>
            <a:custGeom>
              <a:avLst/>
              <a:gdLst/>
              <a:ahLst/>
              <a:cxnLst/>
              <a:rect l="l" t="t" r="r" b="b"/>
              <a:pathLst>
                <a:path w="1752600" h="9525">
                  <a:moveTo>
                    <a:pt x="0" y="0"/>
                  </a:moveTo>
                  <a:lnTo>
                    <a:pt x="1752600" y="0"/>
                  </a:lnTo>
                </a:path>
              </a:pathLst>
            </a:custGeom>
            <a:noFill/>
            <a:ln w="9525">
              <a:solidFill>
                <a:srgbClr val="D4CDB9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29615" y="2696528"/>
              <a:ext cx="725303" cy="518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C4471F"/>
                  </a:solidFill>
                  <a:latin typeface="Georgia"/>
                  <a:ea typeface="KaiTi"/>
                  <a:cs typeface="Georgia"/>
                </a:rPr>
                <a:t>95%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50570" y="3065145"/>
              <a:ext cx="112099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AI 详情页套版准确率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49618" y="3399949"/>
              <a:ext cx="1263015" cy="3886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500"/>
                </a:lnSpc>
              </a:pPr>
              <a:r>
                <a:rPr lang="zh-CN" sz="9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痛点：详情页长期靠人</a:t>
              </a:r>
              <a:r>
                <a:rPr lang="zh-CN" sz="9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肉套版，判断难教。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49618" y="3971449"/>
              <a:ext cx="1263015" cy="7696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500"/>
                </a:lnSpc>
              </a:pPr>
              <a:r>
                <a:rPr lang="zh-CN" sz="9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做法：创始人带队 FDE</a:t>
              </a:r>
              <a:r>
                <a:rPr lang="zh-CN" sz="9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驻场一个月，把资深设</a:t>
              </a:r>
              <a:r>
                <a:rPr lang="zh-CN" sz="9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计的套版判断沉淀成规</a:t>
              </a:r>
              <a:r>
                <a:rPr lang="zh-CN" sz="9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则，做成自动产线。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857750"/>
              <a:ext cx="1752600" cy="209550"/>
            </a:xfrm>
            <a:prstGeom prst="rect">
              <a:avLst/>
            </a:prstGeom>
            <a:solidFill>
              <a:srgbClr val="F6E7DD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826770" y="4912995"/>
              <a:ext cx="110299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1 个月驻场 · 产线化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2800350" y="1676400"/>
            <a:ext cx="2133600" cy="3486150"/>
            <a:chOff x="2800350" y="1676400"/>
            <a:chExt cx="2133600" cy="3486150"/>
          </a:xfrm>
        </p:grpSpPr>
        <p:sp>
          <p:nvSpPr>
            <p:cNvPr id="22" name="Rectangle 22"/>
            <p:cNvSpPr/>
            <p:nvPr/>
          </p:nvSpPr>
          <p:spPr>
            <a:xfrm>
              <a:off x="2800350" y="1676400"/>
              <a:ext cx="2133600" cy="348615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2800350" y="1676400"/>
              <a:ext cx="2133600" cy="47625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2979420" y="1845945"/>
              <a:ext cx="50292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母婴消费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2971800" y="2047875"/>
              <a:ext cx="668179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某领先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2971800" y="2276475"/>
              <a:ext cx="878205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奶粉品牌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2990850" y="2590800"/>
              <a:ext cx="1752600" cy="9525"/>
            </a:xfrm>
            <a:custGeom>
              <a:avLst/>
              <a:gdLst/>
              <a:ahLst/>
              <a:cxnLst/>
              <a:rect l="l" t="t" r="r" b="b"/>
              <a:pathLst>
                <a:path w="1752600" h="9525">
                  <a:moveTo>
                    <a:pt x="0" y="0"/>
                  </a:moveTo>
                  <a:lnTo>
                    <a:pt x="1752600" y="0"/>
                  </a:lnTo>
                </a:path>
              </a:pathLst>
            </a:custGeom>
            <a:noFill/>
            <a:ln w="9525">
              <a:solidFill>
                <a:srgbClr val="D4CDB9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2958465" y="2696528"/>
              <a:ext cx="1046643" cy="518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C4471F"/>
                  </a:solidFill>
                  <a:latin typeface="Georgia"/>
                  <a:ea typeface="KaiTi"/>
                  <a:cs typeface="Georgia"/>
                </a:rPr>
                <a:t>2,244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2979420" y="3065145"/>
              <a:ext cx="115700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个 KOS 账号统一运营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2978468" y="3399949"/>
              <a:ext cx="1386840" cy="3886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500"/>
                </a:lnSpc>
              </a:pPr>
              <a:r>
                <a:rPr lang="zh-CN" sz="9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痛点：上千账号要口径</a:t>
              </a:r>
              <a:r>
                <a:rPr lang="zh-CN" sz="9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一致，又不能千篇一律。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2978468" y="3971449"/>
              <a:ext cx="1263015" cy="7696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500"/>
                </a:lnSpc>
              </a:pPr>
              <a:r>
                <a:rPr lang="zh-CN" sz="9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做法：社媒运营专家</a:t>
              </a:r>
              <a:r>
                <a:rPr lang="zh-CN" sz="9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Agent——品牌内容中台</a:t>
              </a:r>
              <a:r>
                <a:rPr lang="zh-CN" sz="9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+ KOS 矩阵批量生成与</a:t>
              </a:r>
              <a:r>
                <a:rPr lang="zh-CN" sz="9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分发。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2990850" y="4857750"/>
              <a:ext cx="1752600" cy="209550"/>
            </a:xfrm>
            <a:prstGeom prst="rect">
              <a:avLst/>
            </a:prstGeom>
            <a:solidFill>
              <a:srgbClr val="F6E7DD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3055620" y="4912995"/>
              <a:ext cx="134302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35.5 万粉 · 月 4,906 篇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5029200" y="1676400"/>
            <a:ext cx="2133600" cy="3486150"/>
            <a:chOff x="5029200" y="1676400"/>
            <a:chExt cx="2133600" cy="3486150"/>
          </a:xfrm>
        </p:grpSpPr>
        <p:sp>
          <p:nvSpPr>
            <p:cNvPr id="35" name="Rectangle 35"/>
            <p:cNvSpPr/>
            <p:nvPr/>
          </p:nvSpPr>
          <p:spPr>
            <a:xfrm>
              <a:off x="5029200" y="1676400"/>
              <a:ext cx="2133600" cy="348615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5029200" y="1676400"/>
              <a:ext cx="2133600" cy="47625"/>
            </a:xfrm>
            <a:prstGeom prst="rect">
              <a:avLst/>
            </a:prstGeom>
            <a:solidFill>
              <a:srgbClr val="17140D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5208270" y="1845945"/>
              <a:ext cx="50292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金融支付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5200650" y="2047875"/>
              <a:ext cx="1088231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某国际支付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5200650" y="2276475"/>
              <a:ext cx="1119735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网络 × 银行</a:t>
              </a:r>
            </a:p>
          </p:txBody>
        </p:sp>
        <p:sp>
          <p:nvSpPr>
            <p:cNvPr id="40" name="Line 40"/>
            <p:cNvSpPr/>
            <p:nvPr/>
          </p:nvSpPr>
          <p:spPr>
            <a:xfrm>
              <a:off x="5219700" y="2590800"/>
              <a:ext cx="1752600" cy="9525"/>
            </a:xfrm>
            <a:custGeom>
              <a:avLst/>
              <a:gdLst/>
              <a:ahLst/>
              <a:cxnLst/>
              <a:rect l="l" t="t" r="r" b="b"/>
              <a:pathLst>
                <a:path w="1752600" h="9525">
                  <a:moveTo>
                    <a:pt x="0" y="0"/>
                  </a:moveTo>
                  <a:lnTo>
                    <a:pt x="1752600" y="0"/>
                  </a:lnTo>
                </a:path>
              </a:pathLst>
            </a:custGeom>
            <a:noFill/>
            <a:ln w="9525">
              <a:solidFill>
                <a:srgbClr val="D4CDB9"/>
              </a:solidFill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5187315" y="2696528"/>
              <a:ext cx="850268" cy="518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7×24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5208270" y="3065145"/>
              <a:ext cx="98298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企微社群在线答疑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5207318" y="3399949"/>
              <a:ext cx="1386840" cy="3886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500"/>
                </a:lnSpc>
              </a:pPr>
              <a:r>
                <a:rPr lang="zh-CN" sz="9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痛点：持卡人、商户与</a:t>
              </a:r>
              <a:r>
                <a:rPr lang="zh-CN" sz="9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伙伴，人力覆盖不过来。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5207318" y="3971449"/>
              <a:ext cx="1263015" cy="7696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500"/>
                </a:lnSpc>
              </a:pPr>
              <a:r>
                <a:rPr lang="zh-CN" sz="9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做法：私域运营专家</a:t>
              </a:r>
              <a:r>
                <a:rPr lang="zh-CN" sz="9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Agent——朋友圈、群聊</a:t>
              </a:r>
              <a:r>
                <a:rPr lang="zh-CN" sz="9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与线索转化一体化，高</a:t>
              </a:r>
              <a:r>
                <a:rPr lang="zh-CN" sz="9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意向线索转客户经理。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5219700" y="4857750"/>
              <a:ext cx="1752600" cy="209550"/>
            </a:xfrm>
            <a:prstGeom prst="rect">
              <a:avLst/>
            </a:prstGeom>
            <a:solidFill>
              <a:srgbClr val="EFEBE0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5284470" y="4912995"/>
              <a:ext cx="112099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人机分工 · 合规适配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7258050" y="1676400"/>
            <a:ext cx="2133600" cy="3486150"/>
            <a:chOff x="7258050" y="1676400"/>
            <a:chExt cx="2133600" cy="3486150"/>
          </a:xfrm>
        </p:grpSpPr>
        <p:sp>
          <p:nvSpPr>
            <p:cNvPr id="48" name="Rectangle 48"/>
            <p:cNvSpPr/>
            <p:nvPr/>
          </p:nvSpPr>
          <p:spPr>
            <a:xfrm>
              <a:off x="7258050" y="1676400"/>
              <a:ext cx="2133600" cy="348615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49" name="Rectangle 49"/>
            <p:cNvSpPr/>
            <p:nvPr/>
          </p:nvSpPr>
          <p:spPr>
            <a:xfrm>
              <a:off x="7258050" y="1676400"/>
              <a:ext cx="2133600" cy="47625"/>
            </a:xfrm>
            <a:prstGeom prst="rect">
              <a:avLst/>
            </a:prstGeom>
            <a:solidFill>
              <a:srgbClr val="17140D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7437120" y="1845945"/>
              <a:ext cx="50292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批发贸易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7429500" y="2047875"/>
              <a:ext cx="1088231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某头部钻石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7429500" y="2276475"/>
              <a:ext cx="878205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批发集团</a:t>
              </a:r>
            </a:p>
          </p:txBody>
        </p:sp>
        <p:sp>
          <p:nvSpPr>
            <p:cNvPr id="53" name="Line 53"/>
            <p:cNvSpPr/>
            <p:nvPr/>
          </p:nvSpPr>
          <p:spPr>
            <a:xfrm>
              <a:off x="7448550" y="2590800"/>
              <a:ext cx="1752600" cy="9525"/>
            </a:xfrm>
            <a:custGeom>
              <a:avLst/>
              <a:gdLst/>
              <a:ahLst/>
              <a:cxnLst/>
              <a:rect l="l" t="t" r="r" b="b"/>
              <a:pathLst>
                <a:path w="1752600" h="9525">
                  <a:moveTo>
                    <a:pt x="0" y="0"/>
                  </a:moveTo>
                  <a:lnTo>
                    <a:pt x="1752600" y="0"/>
                  </a:lnTo>
                </a:path>
              </a:pathLst>
            </a:custGeom>
            <a:noFill/>
            <a:ln w="9525">
              <a:solidFill>
                <a:srgbClr val="D4CDB9"/>
              </a:solidFill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7416165" y="2696528"/>
              <a:ext cx="921677" cy="518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20 条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7437120" y="3065145"/>
              <a:ext cx="98298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聊天完成成交闭环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7436168" y="3399949"/>
              <a:ext cx="1263015" cy="3886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500"/>
                </a:lnSpc>
              </a:pPr>
              <a:r>
                <a:rPr lang="zh-CN" sz="9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痛点：培育钻高客单、</a:t>
              </a:r>
              <a:r>
                <a:rPr lang="zh-CN" sz="9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SKU 非标，靠老销售。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7436168" y="3971449"/>
              <a:ext cx="1263015" cy="7696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500"/>
                </a:lnSpc>
              </a:pPr>
              <a:r>
                <a:rPr lang="zh-CN" sz="9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做法：B2B 销售专家</a:t>
              </a:r>
              <a:r>
                <a:rPr lang="zh-CN" sz="9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Agent——微信内询货、</a:t>
              </a:r>
              <a:r>
                <a:rPr lang="zh-CN" sz="9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查证书、报价、收款、</a:t>
              </a:r>
              <a:r>
                <a:rPr lang="zh-CN" sz="9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发货，按成交抽成。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7448550" y="4857750"/>
              <a:ext cx="1752600" cy="209550"/>
            </a:xfrm>
            <a:prstGeom prst="rect">
              <a:avLst/>
            </a:prstGeom>
            <a:solidFill>
              <a:srgbClr val="EFEBE0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7513320" y="4912995"/>
              <a:ext cx="104898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2 周跑通 20 单抽成</a:t>
              </a:r>
            </a:p>
          </p:txBody>
        </p:sp>
      </p:grpSp>
      <p:grpSp>
        <p:nvGrpSpPr>
          <p:cNvPr id="73" name="Group 73"/>
          <p:cNvGrpSpPr/>
          <p:nvPr/>
        </p:nvGrpSpPr>
        <p:grpSpPr>
          <a:xfrm>
            <a:off x="9486900" y="1676400"/>
            <a:ext cx="2133600" cy="3486150"/>
            <a:chOff x="9486900" y="1676400"/>
            <a:chExt cx="2133600" cy="3486150"/>
          </a:xfrm>
        </p:grpSpPr>
        <p:sp>
          <p:nvSpPr>
            <p:cNvPr id="61" name="Rectangle 61"/>
            <p:cNvSpPr/>
            <p:nvPr/>
          </p:nvSpPr>
          <p:spPr>
            <a:xfrm>
              <a:off x="9486900" y="1676400"/>
              <a:ext cx="2133600" cy="348615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62" name="Rectangle 62"/>
            <p:cNvSpPr/>
            <p:nvPr/>
          </p:nvSpPr>
          <p:spPr>
            <a:xfrm>
              <a:off x="9486900" y="1676400"/>
              <a:ext cx="2133600" cy="47625"/>
            </a:xfrm>
            <a:prstGeom prst="rect">
              <a:avLst/>
            </a:prstGeom>
            <a:solidFill>
              <a:srgbClr val="B8552E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9665970" y="1845945"/>
              <a:ext cx="76095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知识付费与 IP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9658350" y="2047875"/>
              <a:ext cx="1140738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某 Top 知识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9658350" y="2276475"/>
              <a:ext cx="878205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付费社群</a:t>
              </a:r>
            </a:p>
          </p:txBody>
        </p:sp>
        <p:sp>
          <p:nvSpPr>
            <p:cNvPr id="66" name="Line 66"/>
            <p:cNvSpPr/>
            <p:nvPr/>
          </p:nvSpPr>
          <p:spPr>
            <a:xfrm>
              <a:off x="9677400" y="2590800"/>
              <a:ext cx="1752600" cy="9525"/>
            </a:xfrm>
            <a:custGeom>
              <a:avLst/>
              <a:gdLst/>
              <a:ahLst/>
              <a:cxnLst/>
              <a:rect l="l" t="t" r="r" b="b"/>
              <a:pathLst>
                <a:path w="1752600" h="9525">
                  <a:moveTo>
                    <a:pt x="0" y="0"/>
                  </a:moveTo>
                  <a:lnTo>
                    <a:pt x="1752600" y="0"/>
                  </a:lnTo>
                </a:path>
              </a:pathLst>
            </a:custGeom>
            <a:noFill/>
            <a:ln w="9525">
              <a:solidFill>
                <a:srgbClr val="D4CDB9"/>
              </a:solidFill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9645015" y="2696528"/>
              <a:ext cx="921677" cy="518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B8552E"/>
                  </a:solidFill>
                  <a:latin typeface="Georgia"/>
                  <a:ea typeface="KaiTi"/>
                  <a:cs typeface="Georgia"/>
                </a:rPr>
                <a:t>+15%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9665970" y="3065145"/>
              <a:ext cx="1337024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续费推进率（A/B 对照）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9665018" y="3399949"/>
              <a:ext cx="1386840" cy="3886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500"/>
                </a:lnSpc>
              </a:pPr>
              <a:r>
                <a:rPr lang="zh-CN" sz="9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痛点：创始人信息过载，</a:t>
              </a:r>
              <a:r>
                <a:rPr lang="zh-CN" sz="9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续费判断难复制。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9665018" y="3971449"/>
              <a:ext cx="1263015" cy="7696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500"/>
                </a:lnSpc>
              </a:pPr>
              <a:r>
                <a:rPr lang="zh-CN" sz="9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做法：每日语料日报 +</a:t>
              </a:r>
              <a:r>
                <a:rPr lang="zh-CN" sz="9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续费 AI 军师推带证据</a:t>
              </a:r>
              <a:r>
                <a:rPr lang="zh-CN" sz="9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链的可执行指令，最后</a:t>
              </a:r>
              <a:r>
                <a:rPr lang="zh-CN" sz="9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由真人发送。</a:t>
              </a:r>
            </a:p>
          </p:txBody>
        </p:sp>
        <p:sp>
          <p:nvSpPr>
            <p:cNvPr id="71" name="Rectangle 71"/>
            <p:cNvSpPr/>
            <p:nvPr/>
          </p:nvSpPr>
          <p:spPr>
            <a:xfrm>
              <a:off x="9677400" y="4857750"/>
              <a:ext cx="1752600" cy="209550"/>
            </a:xfrm>
            <a:prstGeom prst="rect">
              <a:avLst/>
            </a:prstGeom>
            <a:solidFill>
              <a:srgbClr val="F6E7DD"/>
            </a:solidFill>
            <a:ln>
              <a:noFill/>
            </a:ln>
          </p:spPr>
        </p:sp>
        <p:sp>
          <p:nvSpPr>
            <p:cNvPr id="72" name="TextBox 72"/>
            <p:cNvSpPr txBox="1"/>
            <p:nvPr/>
          </p:nvSpPr>
          <p:spPr>
            <a:xfrm>
              <a:off x="9742170" y="4912995"/>
              <a:ext cx="76095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B8552E"/>
                  </a:solidFill>
                  <a:latin typeface="Arial"/>
                  <a:ea typeface="Microsoft YaHei"/>
                  <a:cs typeface="Arial"/>
                </a:rPr>
                <a:t>对照期 0 丢单</a:t>
              </a:r>
            </a:p>
          </p:txBody>
        </p:sp>
      </p:grpSp>
      <p:grpSp>
        <p:nvGrpSpPr>
          <p:cNvPr id="79" name="Group 79"/>
          <p:cNvGrpSpPr/>
          <p:nvPr/>
        </p:nvGrpSpPr>
        <p:grpSpPr>
          <a:xfrm>
            <a:off x="552450" y="5391150"/>
            <a:ext cx="11369516" cy="964406"/>
            <a:chOff x="552450" y="5391150"/>
            <a:chExt cx="11369516" cy="964406"/>
          </a:xfrm>
        </p:grpSpPr>
        <p:sp>
          <p:nvSpPr>
            <p:cNvPr id="74" name="Line 74"/>
            <p:cNvSpPr/>
            <p:nvPr/>
          </p:nvSpPr>
          <p:spPr>
            <a:xfrm>
              <a:off x="571500" y="539115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14288">
              <a:solidFill>
                <a:srgbClr val="D4CDB9"/>
              </a:solidFill>
            </a:ln>
          </p:spPr>
        </p:sp>
        <p:sp>
          <p:nvSpPr>
            <p:cNvPr id="75" name="Freeform 75"/>
            <p:cNvSpPr/>
            <p:nvPr/>
          </p:nvSpPr>
          <p:spPr>
            <a:xfrm>
              <a:off x="571500" y="5595918"/>
              <a:ext cx="323850" cy="79762"/>
            </a:xfrm>
            <a:custGeom>
              <a:avLst/>
              <a:gdLst/>
              <a:ahLst/>
              <a:cxnLst/>
              <a:rect l="l" t="t" r="r" b="b"/>
              <a:pathLst>
                <a:path w="323850" h="79762">
                  <a:moveTo>
                    <a:pt x="122955" y="7277"/>
                  </a:moveTo>
                  <a:lnTo>
                    <a:pt x="80558" y="78676"/>
                  </a:lnTo>
                  <a:lnTo>
                    <a:pt x="52895" y="78676"/>
                  </a:lnTo>
                  <a:lnTo>
                    <a:pt x="32034" y="21688"/>
                  </a:lnTo>
                  <a:cubicBezTo>
                    <a:pt x="30766" y="18183"/>
                    <a:pt x="29673" y="16897"/>
                    <a:pt x="25814" y="15421"/>
                  </a:cubicBezTo>
                  <a:cubicBezTo>
                    <a:pt x="19525" y="13011"/>
                    <a:pt x="9135" y="10754"/>
                    <a:pt x="0" y="9344"/>
                  </a:cubicBezTo>
                  <a:lnTo>
                    <a:pt x="621" y="7277"/>
                  </a:lnTo>
                  <a:lnTo>
                    <a:pt x="45150" y="7277"/>
                  </a:lnTo>
                  <a:lnTo>
                    <a:pt x="56174" y="48597"/>
                  </a:lnTo>
                  <a:lnTo>
                    <a:pt x="83405" y="0"/>
                  </a:lnTo>
                  <a:close/>
                  <a:moveTo>
                    <a:pt x="231350" y="55369"/>
                  </a:moveTo>
                  <a:cubicBezTo>
                    <a:pt x="231458" y="36519"/>
                    <a:pt x="194431" y="35481"/>
                    <a:pt x="194688" y="27061"/>
                  </a:cubicBezTo>
                  <a:cubicBezTo>
                    <a:pt x="194769" y="24498"/>
                    <a:pt x="198223" y="21774"/>
                    <a:pt x="205780" y="21079"/>
                  </a:cubicBezTo>
                  <a:lnTo>
                    <a:pt x="210368" y="5934"/>
                  </a:lnTo>
                  <a:cubicBezTo>
                    <a:pt x="184500" y="5934"/>
                    <a:pt x="166297" y="15650"/>
                    <a:pt x="166135" y="29547"/>
                  </a:cubicBezTo>
                  <a:cubicBezTo>
                    <a:pt x="165973" y="39824"/>
                    <a:pt x="179130" y="45549"/>
                    <a:pt x="189047" y="48978"/>
                  </a:cubicBezTo>
                  <a:cubicBezTo>
                    <a:pt x="199249" y="52473"/>
                    <a:pt x="202676" y="54721"/>
                    <a:pt x="202622" y="57845"/>
                  </a:cubicBezTo>
                  <a:cubicBezTo>
                    <a:pt x="202555" y="62646"/>
                    <a:pt x="194499" y="64751"/>
                    <a:pt x="186969" y="64837"/>
                  </a:cubicBezTo>
                  <a:cubicBezTo>
                    <a:pt x="173813" y="64980"/>
                    <a:pt x="166189" y="62332"/>
                    <a:pt x="160090" y="60331"/>
                  </a:cubicBezTo>
                  <a:lnTo>
                    <a:pt x="155354" y="75971"/>
                  </a:lnTo>
                  <a:cubicBezTo>
                    <a:pt x="161466" y="77953"/>
                    <a:pt x="172747" y="79686"/>
                    <a:pt x="184446" y="79762"/>
                  </a:cubicBezTo>
                  <a:cubicBezTo>
                    <a:pt x="211933" y="79762"/>
                    <a:pt x="229920" y="70180"/>
                    <a:pt x="230014" y="55340"/>
                  </a:cubicBezTo>
                  <a:moveTo>
                    <a:pt x="298306" y="78648"/>
                  </a:moveTo>
                  <a:lnTo>
                    <a:pt x="323850" y="78648"/>
                  </a:lnTo>
                  <a:lnTo>
                    <a:pt x="302732" y="7249"/>
                  </a:lnTo>
                  <a:lnTo>
                    <a:pt x="280387" y="7249"/>
                  </a:lnTo>
                  <a:lnTo>
                    <a:pt x="241133" y="73409"/>
                  </a:lnTo>
                  <a:lnTo>
                    <a:pt x="268607" y="73409"/>
                  </a:lnTo>
                  <a:lnTo>
                    <a:pt x="274072" y="62741"/>
                  </a:lnTo>
                  <a:lnTo>
                    <a:pt x="307644" y="62741"/>
                  </a:lnTo>
                  <a:close/>
                  <a:moveTo>
                    <a:pt x="269119" y="53350"/>
                  </a:moveTo>
                  <a:lnTo>
                    <a:pt x="282883" y="26537"/>
                  </a:lnTo>
                  <a:lnTo>
                    <a:pt x="290817" y="53350"/>
                  </a:lnTo>
                  <a:close/>
                  <a:moveTo>
                    <a:pt x="159010" y="7249"/>
                  </a:moveTo>
                  <a:lnTo>
                    <a:pt x="137380" y="78648"/>
                  </a:lnTo>
                  <a:lnTo>
                    <a:pt x="112538" y="78648"/>
                  </a:lnTo>
                  <a:lnTo>
                    <a:pt x="134195" y="7249"/>
                  </a:lnTo>
                  <a:close/>
                </a:path>
              </a:pathLst>
            </a:custGeom>
            <a:solidFill>
              <a:srgbClr val="17140D"/>
            </a:solidFill>
            <a:ln>
              <a:noFill/>
            </a:ln>
          </p:spPr>
        </p:sp>
        <p:sp>
          <p:nvSpPr>
            <p:cNvPr id="76" name="TextBox 76"/>
            <p:cNvSpPr txBox="1"/>
            <p:nvPr/>
          </p:nvSpPr>
          <p:spPr>
            <a:xfrm>
              <a:off x="995362" y="5574506"/>
              <a:ext cx="239137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服务品牌（含团队成员历史服务）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552450" y="5819775"/>
              <a:ext cx="11369516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VISA · 广发信用卡 · 飞鹤 · 斯凯奇 · 安踏 · 蒙牛 · 伊利 · 百果园 · 必胜客 · KGK 钻石集团 · 群响 · 快乐蜂 Jollibee · 英特利普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557212" y="6126956"/>
              <a:ext cx="901469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另有 6 个非招牌案例：私域电商（夜间咨询承接 62%、投放 ROI 13 倍）、健康服务、写作课团队、环球邮轮、全球票务、婚纱摄影楼。</a:t>
              </a:r>
            </a:p>
          </p:txBody>
        </p:sp>
      </p:grpSp>
      <p:grpSp>
        <p:nvGrpSpPr>
          <p:cNvPr id="83" name="Group 83"/>
          <p:cNvGrpSpPr/>
          <p:nvPr/>
        </p:nvGrpSpPr>
        <p:grpSpPr>
          <a:xfrm>
            <a:off x="571500" y="6517891"/>
            <a:ext cx="11060430" cy="225809"/>
            <a:chOff x="571500" y="6517891"/>
            <a:chExt cx="11060430" cy="225809"/>
          </a:xfrm>
        </p:grpSpPr>
        <p:pic>
          <p:nvPicPr>
            <p:cNvPr id="80" name="Image 80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71500" y="6517891"/>
              <a:ext cx="190500" cy="184919"/>
            </a:xfrm>
            <a:prstGeom prst="rect">
              <a:avLst/>
            </a:prstGeom>
          </p:spPr>
        </p:pic>
        <p:sp>
          <p:nvSpPr>
            <p:cNvPr id="81" name="TextBox 81"/>
            <p:cNvSpPr txBox="1"/>
            <p:nvPr/>
          </p:nvSpPr>
          <p:spPr>
            <a:xfrm>
              <a:off x="845820" y="6560820"/>
              <a:ext cx="1283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openfde.net · /cases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11207020" y="6560820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17 / 26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5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4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0"/>
                            </p:stCondLst>
                            <p:childTnLst>
                              <p:par>
                                <p:cTn id="2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27" dur="4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34" grpId="0"/>
      <p:bldP spid="47" grpId="0"/>
      <p:bldP spid="60" grpId="0"/>
      <p:bldP spid="73" grpId="0"/>
      <p:bldP spid="79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</p:sp>
      <p:grpSp>
        <p:nvGrpSpPr>
          <p:cNvPr id="8" name="Group 8"/>
          <p:cNvGrpSpPr/>
          <p:nvPr/>
        </p:nvGrpSpPr>
        <p:grpSpPr>
          <a:xfrm>
            <a:off x="539115" y="571500"/>
            <a:ext cx="11095672" cy="909638"/>
            <a:chOff x="539115" y="571500"/>
            <a:chExt cx="11095672" cy="909638"/>
          </a:xfrm>
        </p:grpSpPr>
        <p:sp>
          <p:nvSpPr>
            <p:cNvPr id="3" name="Rectangle 3"/>
            <p:cNvSpPr/>
            <p:nvPr/>
          </p:nvSpPr>
          <p:spPr>
            <a:xfrm>
              <a:off x="571500" y="571500"/>
              <a:ext cx="381000" cy="28575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557212" y="735806"/>
              <a:ext cx="99732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商业层 · 产品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39115" y="962978"/>
              <a:ext cx="5795336" cy="518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交付平台：今天靠人，明天靠 Agent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10106025" y="1078706"/>
              <a:ext cx="152876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真正的结构是「双层」</a:t>
              </a:r>
            </a:p>
          </p:txBody>
        </p:sp>
        <p:sp>
          <p:nvSpPr>
            <p:cNvPr id="7" name="Line 7"/>
            <p:cNvSpPr/>
            <p:nvPr/>
          </p:nvSpPr>
          <p:spPr>
            <a:xfrm>
              <a:off x="571500" y="14478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14288">
              <a:solidFill>
                <a:srgbClr val="D4CDB9"/>
              </a:solidFill>
            </a:ln>
          </p:spPr>
        </p:sp>
      </p:grpSp>
      <p:grpSp>
        <p:nvGrpSpPr>
          <p:cNvPr id="22" name="Group 22"/>
          <p:cNvGrpSpPr/>
          <p:nvPr/>
        </p:nvGrpSpPr>
        <p:grpSpPr>
          <a:xfrm>
            <a:off x="571500" y="1676400"/>
            <a:ext cx="11049000" cy="1238250"/>
            <a:chOff x="571500" y="1676400"/>
            <a:chExt cx="11049000" cy="1238250"/>
          </a:xfrm>
        </p:grpSpPr>
        <p:sp>
          <p:nvSpPr>
            <p:cNvPr id="9" name="Rectangle 9"/>
            <p:cNvSpPr/>
            <p:nvPr/>
          </p:nvSpPr>
          <p:spPr>
            <a:xfrm>
              <a:off x="571500" y="1676400"/>
              <a:ext cx="381000" cy="1238250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27436" y="2200275"/>
              <a:ext cx="269129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7F5EF"/>
                  </a:solidFill>
                  <a:latin typeface="Georgia"/>
                  <a:ea typeface="KaiTi"/>
                  <a:cs typeface="Georgia"/>
                </a:rPr>
                <a:t>01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52500" y="1676400"/>
              <a:ext cx="10668000" cy="123825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166812" y="1764506"/>
              <a:ext cx="399019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灵活用工层 · 组队、交付管理与结果保障（人做的部分）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1181100" y="2000250"/>
              <a:ext cx="3238500" cy="819150"/>
            </a:xfrm>
            <a:prstGeom prst="rect">
              <a:avLst/>
            </a:prstGeom>
            <a:solidFill>
              <a:srgbClr val="F6E7DD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355408" y="2129314"/>
              <a:ext cx="924997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组队与匹配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357312" y="2412206"/>
              <a:ext cx="2350294" cy="4381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650"/>
                </a:lnSpc>
              </a:pP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先派 2–3 人小队进场诊断，再按项目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匹配 FDE 与行业专家。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667250" y="2000250"/>
              <a:ext cx="3238500" cy="819150"/>
            </a:xfrm>
            <a:prstGeom prst="rect">
              <a:avLst/>
            </a:prstGeom>
            <a:solidFill>
              <a:srgbClr val="F6E7DD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4841558" y="2129314"/>
              <a:ext cx="746474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交付管理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843462" y="2412206"/>
              <a:ext cx="2171700" cy="4381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650"/>
                </a:lnSpc>
              </a:pP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范围、里程碑、验收由交付负责人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统一管，工程师不用兼当销售。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8153400" y="2000250"/>
              <a:ext cx="3238500" cy="819150"/>
            </a:xfrm>
            <a:prstGeom prst="rect">
              <a:avLst/>
            </a:prstGeom>
            <a:solidFill>
              <a:srgbClr val="F6E7DD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8327708" y="2129314"/>
              <a:ext cx="746474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结果保障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329612" y="2412206"/>
              <a:ext cx="2328862" cy="4381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650"/>
                </a:lnSpc>
              </a:pP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按业务结果验收归因——做不出结果，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这一层赚不到钱。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952500" y="2971800"/>
            <a:ext cx="10668000" cy="297656"/>
            <a:chOff x="952500" y="2971800"/>
            <a:chExt cx="10668000" cy="297656"/>
          </a:xfrm>
        </p:grpSpPr>
        <p:sp>
          <p:nvSpPr>
            <p:cNvPr id="23" name="Rectangle 23"/>
            <p:cNvSpPr/>
            <p:nvPr/>
          </p:nvSpPr>
          <p:spPr>
            <a:xfrm>
              <a:off x="952500" y="2971800"/>
              <a:ext cx="10668000" cy="285750"/>
            </a:xfrm>
            <a:prstGeom prst="rect">
              <a:avLst/>
            </a:prstGeom>
            <a:solidFill>
              <a:srgbClr val="EFEBE0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1166812" y="3040856"/>
              <a:ext cx="841462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原位学习闭环 In-Situ Loop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 xml:space="preserve"> · 看 → 问 → 学 → 做 → 长：FDE 在现场采集信号、动作、理由与例外，Agent 就地学习、持续进化。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571500" y="3314700"/>
            <a:ext cx="11049000" cy="1238250"/>
            <a:chOff x="571500" y="3314700"/>
            <a:chExt cx="11049000" cy="1238250"/>
          </a:xfrm>
        </p:grpSpPr>
        <p:sp>
          <p:nvSpPr>
            <p:cNvPr id="26" name="Rectangle 26"/>
            <p:cNvSpPr/>
            <p:nvPr/>
          </p:nvSpPr>
          <p:spPr>
            <a:xfrm>
              <a:off x="571500" y="3314700"/>
              <a:ext cx="381000" cy="1238250"/>
            </a:xfrm>
            <a:prstGeom prst="rect">
              <a:avLst/>
            </a:prstGeom>
            <a:solidFill>
              <a:srgbClr val="17140D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27436" y="3838575"/>
              <a:ext cx="269129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7F5EF"/>
                  </a:solidFill>
                  <a:latin typeface="Georgia"/>
                  <a:ea typeface="KaiTi"/>
                  <a:cs typeface="Georgia"/>
                </a:rPr>
                <a:t>02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952500" y="3314700"/>
              <a:ext cx="10668000" cy="123825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1166812" y="3402806"/>
              <a:ext cx="415559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Agent 平台层 · 知识、运行时与归因账本（机器做的部分）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1181100" y="3638550"/>
              <a:ext cx="3238500" cy="819150"/>
            </a:xfrm>
            <a:prstGeom prst="rect">
              <a:avLst/>
            </a:prstGeom>
            <a:solidFill>
              <a:srgbClr val="EFEBE0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1355408" y="3767614"/>
              <a:ext cx="389430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知识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357312" y="4050506"/>
              <a:ext cx="2171700" cy="4381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650"/>
                </a:lnSpc>
              </a:pP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把现场的信号、动作、理由与例外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结构化入库，成为可复用资产。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4667250" y="3638550"/>
              <a:ext cx="3238500" cy="819150"/>
            </a:xfrm>
            <a:prstGeom prst="rect">
              <a:avLst/>
            </a:prstGeom>
            <a:solidFill>
              <a:srgbClr val="EFEBE0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841558" y="3767614"/>
              <a:ext cx="567952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运行时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4843462" y="4050506"/>
              <a:ext cx="2436019" cy="4381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650"/>
                </a:lnSpc>
              </a:pP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Agent 挂上渠道 7×24 执行标准任务，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人只处理判断与高价值例外。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8153400" y="3638550"/>
              <a:ext cx="3238500" cy="819150"/>
            </a:xfrm>
            <a:prstGeom prst="rect">
              <a:avLst/>
            </a:prstGeom>
            <a:solidFill>
              <a:srgbClr val="EFEBE0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8327708" y="3767614"/>
              <a:ext cx="746474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归因账本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8329612" y="4050506"/>
              <a:ext cx="2028825" cy="4381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650"/>
                </a:lnSpc>
              </a:pP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每个业务结果记清是谁（人还是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Agent）做出来的，用于结算。</a:t>
              </a:r>
            </a:p>
          </p:txBody>
        </p:sp>
      </p:grpSp>
      <p:grpSp>
        <p:nvGrpSpPr>
          <p:cNvPr id="56" name="Group 56"/>
          <p:cNvGrpSpPr/>
          <p:nvPr/>
        </p:nvGrpSpPr>
        <p:grpSpPr>
          <a:xfrm>
            <a:off x="557212" y="4736306"/>
            <a:ext cx="11063288" cy="750094"/>
            <a:chOff x="557212" y="4736306"/>
            <a:chExt cx="11063288" cy="750094"/>
          </a:xfrm>
        </p:grpSpPr>
        <p:sp>
          <p:nvSpPr>
            <p:cNvPr id="40" name="TextBox 40"/>
            <p:cNvSpPr txBox="1"/>
            <p:nvPr/>
          </p:nvSpPr>
          <p:spPr>
            <a:xfrm>
              <a:off x="557212" y="4736306"/>
              <a:ext cx="97369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五步交付系统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571500" y="4953000"/>
              <a:ext cx="2019300" cy="53340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1145858" y="5052060"/>
              <a:ext cx="870585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需求结构化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960644" y="5274945"/>
              <a:ext cx="124101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模糊目标 → 可交付任务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2819400" y="4953000"/>
              <a:ext cx="2019300" cy="53340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3309747" y="5052060"/>
              <a:ext cx="1038606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专业能力编排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3517582" y="5274945"/>
              <a:ext cx="62293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谁做哪一段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5067300" y="4953000"/>
              <a:ext cx="2019300" cy="53340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5557647" y="5052060"/>
              <a:ext cx="1038606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人机协同交付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5357431" y="5274945"/>
              <a:ext cx="143903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FDE + FDE Agent 同时在场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7315200" y="4953000"/>
              <a:ext cx="2019300" cy="533400"/>
            </a:xfrm>
            <a:prstGeom prst="rect">
              <a:avLst/>
            </a:prstGeom>
            <a:solidFill>
              <a:srgbClr val="F6E7DD"/>
            </a:solidFill>
            <a:ln w="9525">
              <a:solidFill>
                <a:srgbClr val="C4471F"/>
              </a:solidFill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7805547" y="5052060"/>
              <a:ext cx="1038606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结果验收归因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7893367" y="5274945"/>
              <a:ext cx="86296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这一步决定收入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9563100" y="4953000"/>
              <a:ext cx="2057400" cy="53340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10072497" y="5052060"/>
              <a:ext cx="1038606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能力持续沉淀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0160318" y="5274945"/>
              <a:ext cx="86296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回流到上面两层</a:t>
              </a:r>
            </a:p>
          </p:txBody>
        </p:sp>
      </p:grpSp>
      <p:grpSp>
        <p:nvGrpSpPr>
          <p:cNvPr id="63" name="Group 63"/>
          <p:cNvGrpSpPr/>
          <p:nvPr/>
        </p:nvGrpSpPr>
        <p:grpSpPr>
          <a:xfrm>
            <a:off x="571500" y="5638800"/>
            <a:ext cx="11049000" cy="545306"/>
            <a:chOff x="571500" y="5638800"/>
            <a:chExt cx="11049000" cy="545306"/>
          </a:xfrm>
        </p:grpSpPr>
        <p:sp>
          <p:nvSpPr>
            <p:cNvPr id="57" name="Rectangle 57"/>
            <p:cNvSpPr/>
            <p:nvPr/>
          </p:nvSpPr>
          <p:spPr>
            <a:xfrm>
              <a:off x="571500" y="5638800"/>
              <a:ext cx="11049000" cy="533400"/>
            </a:xfrm>
            <a:prstGeom prst="rect">
              <a:avLst/>
            </a:prstGeom>
            <a:solidFill>
              <a:srgbClr val="EFEBE0"/>
            </a:solidFill>
            <a:ln>
              <a:noFill/>
            </a:ln>
          </p:spPr>
        </p:sp>
        <p:grpSp>
          <p:nvGrpSpPr>
            <p:cNvPr id="60" name="Group 60"/>
            <p:cNvGrpSpPr/>
            <p:nvPr/>
          </p:nvGrpSpPr>
          <p:grpSpPr>
            <a:xfrm>
              <a:off x="809617" y="5819775"/>
              <a:ext cx="190508" cy="190500"/>
              <a:chOff x="809617" y="5819775"/>
              <a:chExt cx="190508" cy="190500"/>
            </a:xfrm>
          </p:grpSpPr>
          <p:sp>
            <p:nvSpPr>
              <p:cNvPr id="58" name="Freeform 58"/>
              <p:cNvSpPr/>
              <p:nvPr/>
            </p:nvSpPr>
            <p:spPr>
              <a:xfrm>
                <a:off x="857250" y="5867400"/>
                <a:ext cx="142875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42875">
                    <a:moveTo>
                      <a:pt x="130969" y="3191"/>
                    </a:moveTo>
                    <a:cubicBezTo>
                      <a:pt x="138336" y="7444"/>
                      <a:pt x="142875" y="15305"/>
                      <a:pt x="142875" y="23812"/>
                    </a:cubicBezTo>
                    <a:lnTo>
                      <a:pt x="142875" y="119062"/>
                    </a:lnTo>
                    <a:cubicBezTo>
                      <a:pt x="142875" y="132214"/>
                      <a:pt x="132214" y="142875"/>
                      <a:pt x="119062" y="142875"/>
                    </a:cubicBezTo>
                    <a:lnTo>
                      <a:pt x="23812" y="142875"/>
                    </a:lnTo>
                    <a:cubicBezTo>
                      <a:pt x="10661" y="142875"/>
                      <a:pt x="0" y="132214"/>
                      <a:pt x="0" y="119062"/>
                    </a:cubicBezTo>
                    <a:lnTo>
                      <a:pt x="0" y="23812"/>
                    </a:lnTo>
                    <a:cubicBezTo>
                      <a:pt x="0" y="10661"/>
                      <a:pt x="10661" y="0"/>
                      <a:pt x="23812" y="0"/>
                    </a:cubicBezTo>
                    <a:lnTo>
                      <a:pt x="59531" y="0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59" name="Freeform 59"/>
              <p:cNvSpPr/>
              <p:nvPr/>
            </p:nvSpPr>
            <p:spPr>
              <a:xfrm>
                <a:off x="809617" y="5819775"/>
                <a:ext cx="142883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142883" h="142875">
                    <a:moveTo>
                      <a:pt x="11915" y="139708"/>
                    </a:moveTo>
                    <a:cubicBezTo>
                      <a:pt x="4540" y="135450"/>
                      <a:pt x="0" y="127578"/>
                      <a:pt x="8" y="119062"/>
                    </a:cubicBezTo>
                    <a:lnTo>
                      <a:pt x="8" y="23812"/>
                    </a:lnTo>
                    <a:cubicBezTo>
                      <a:pt x="8" y="10661"/>
                      <a:pt x="10670" y="0"/>
                      <a:pt x="23821" y="0"/>
                    </a:cubicBezTo>
                    <a:lnTo>
                      <a:pt x="119071" y="0"/>
                    </a:lnTo>
                    <a:cubicBezTo>
                      <a:pt x="132222" y="0"/>
                      <a:pt x="142883" y="10661"/>
                      <a:pt x="142883" y="23812"/>
                    </a:cubicBezTo>
                    <a:lnTo>
                      <a:pt x="142883" y="119062"/>
                    </a:lnTo>
                    <a:cubicBezTo>
                      <a:pt x="142883" y="132214"/>
                      <a:pt x="132222" y="142875"/>
                      <a:pt x="119071" y="142875"/>
                    </a:cubicBezTo>
                    <a:lnTo>
                      <a:pt x="83352" y="142875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</p:grpSp>
        <p:sp>
          <p:nvSpPr>
            <p:cNvPr id="61" name="TextBox 61"/>
            <p:cNvSpPr txBox="1"/>
            <p:nvPr/>
          </p:nvSpPr>
          <p:spPr>
            <a:xfrm>
              <a:off x="1166812" y="5745956"/>
              <a:ext cx="965817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FDE 供给网络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166812" y="5955506"/>
              <a:ext cx="764952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100+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 xml:space="preserve"> 合作公司与专业服务团队 · </a:t>
              </a:r>
              <a:r>
                <a:rPr lang="zh-CN" sz="1125" b="1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1000+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 xml:space="preserve"> 行业专家、咨询顾问与资深工程师——这是「能随时凑出一支队伍」的底气。</a:t>
              </a:r>
            </a:p>
          </p:txBody>
        </p:sp>
      </p:grpSp>
      <p:grpSp>
        <p:nvGrpSpPr>
          <p:cNvPr id="68" name="Group 68"/>
          <p:cNvGrpSpPr/>
          <p:nvPr/>
        </p:nvGrpSpPr>
        <p:grpSpPr>
          <a:xfrm>
            <a:off x="571500" y="6438900"/>
            <a:ext cx="11060430" cy="304800"/>
            <a:chOff x="571500" y="6438900"/>
            <a:chExt cx="11060430" cy="304800"/>
          </a:xfrm>
        </p:grpSpPr>
        <p:sp>
          <p:nvSpPr>
            <p:cNvPr id="64" name="Line 64"/>
            <p:cNvSpPr/>
            <p:nvPr/>
          </p:nvSpPr>
          <p:spPr>
            <a:xfrm>
              <a:off x="571500" y="64389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ECE7DA"/>
              </a:solidFill>
            </a:ln>
          </p:spPr>
        </p:sp>
        <p:pic>
          <p:nvPicPr>
            <p:cNvPr id="65" name="Image 65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71500" y="6517891"/>
              <a:ext cx="190500" cy="184919"/>
            </a:xfrm>
            <a:prstGeom prst="rect">
              <a:avLst/>
            </a:prstGeom>
          </p:spPr>
        </p:pic>
        <p:sp>
          <p:nvSpPr>
            <p:cNvPr id="66" name="TextBox 66"/>
            <p:cNvSpPr txBox="1"/>
            <p:nvPr/>
          </p:nvSpPr>
          <p:spPr>
            <a:xfrm>
              <a:off x="845820" y="6560820"/>
              <a:ext cx="206911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openfde.net · /products#platform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11207020" y="6560820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18 / 26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9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23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25" grpId="0"/>
      <p:bldP spid="39" grpId="0"/>
      <p:bldP spid="56" grpId="0"/>
      <p:bldP spid="63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</p:sp>
      <p:grpSp>
        <p:nvGrpSpPr>
          <p:cNvPr id="8" name="Group 8"/>
          <p:cNvGrpSpPr/>
          <p:nvPr/>
        </p:nvGrpSpPr>
        <p:grpSpPr>
          <a:xfrm>
            <a:off x="539115" y="571500"/>
            <a:ext cx="11095672" cy="909638"/>
            <a:chOff x="539115" y="571500"/>
            <a:chExt cx="11095672" cy="909638"/>
          </a:xfrm>
        </p:grpSpPr>
        <p:sp>
          <p:nvSpPr>
            <p:cNvPr id="3" name="Rectangle 3"/>
            <p:cNvSpPr/>
            <p:nvPr/>
          </p:nvSpPr>
          <p:spPr>
            <a:xfrm>
              <a:off x="571500" y="571500"/>
              <a:ext cx="381000" cy="28575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557212" y="735806"/>
              <a:ext cx="179279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商业层 · 四大专家 Agent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39115" y="962978"/>
              <a:ext cx="6509425" cy="518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四个 Agent，逻辑完全一样：蒸馏一个人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8628340" y="1078706"/>
              <a:ext cx="3006447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由 Flowan 流岸提供，均经真实客户交付验证</a:t>
              </a:r>
            </a:p>
          </p:txBody>
        </p:sp>
        <p:sp>
          <p:nvSpPr>
            <p:cNvPr id="7" name="Line 7"/>
            <p:cNvSpPr/>
            <p:nvPr/>
          </p:nvSpPr>
          <p:spPr>
            <a:xfrm>
              <a:off x="571500" y="14478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14288">
              <a:solidFill>
                <a:srgbClr val="D4CDB9"/>
              </a:solidFill>
            </a:ln>
          </p:spPr>
        </p:sp>
      </p:grpSp>
      <p:grpSp>
        <p:nvGrpSpPr>
          <p:cNvPr id="23" name="Group 23"/>
          <p:cNvGrpSpPr/>
          <p:nvPr/>
        </p:nvGrpSpPr>
        <p:grpSpPr>
          <a:xfrm>
            <a:off x="571500" y="1676400"/>
            <a:ext cx="11049000" cy="533400"/>
            <a:chOff x="571500" y="1676400"/>
            <a:chExt cx="11049000" cy="533400"/>
          </a:xfrm>
        </p:grpSpPr>
        <p:sp>
          <p:nvSpPr>
            <p:cNvPr id="9" name="Rectangle 9"/>
            <p:cNvSpPr/>
            <p:nvPr/>
          </p:nvSpPr>
          <p:spPr>
            <a:xfrm>
              <a:off x="571500" y="1676400"/>
              <a:ext cx="1905000" cy="533400"/>
            </a:xfrm>
            <a:prstGeom prst="rect">
              <a:avLst/>
            </a:prstGeom>
            <a:solidFill>
              <a:srgbClr val="EFEBE0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194673" y="1878806"/>
              <a:ext cx="65865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对照维度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2571750" y="1676400"/>
              <a:ext cx="2171700" cy="533400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3105841" y="1767364"/>
              <a:ext cx="1103519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75" b="1" dirty="0">
                  <a:solidFill>
                    <a:srgbClr val="F7F5EF"/>
                  </a:solidFill>
                  <a:latin typeface="Arial"/>
                  <a:ea typeface="Microsoft YaHei"/>
                  <a:cs typeface="Arial"/>
                </a:rPr>
                <a:t>私域运营专家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115401" y="1990249"/>
              <a:ext cx="1084397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F6E7DD"/>
                  </a:solidFill>
                  <a:latin typeface="Arial"/>
                  <a:ea typeface="Microsoft YaHei"/>
                  <a:cs typeface="Arial"/>
                </a:rPr>
                <a:t>企微 &amp; 微信全链路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838700" y="1676400"/>
              <a:ext cx="2171700" cy="533400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372791" y="1767364"/>
              <a:ext cx="1103519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75" b="1" dirty="0">
                  <a:solidFill>
                    <a:srgbClr val="F7F5EF"/>
                  </a:solidFill>
                  <a:latin typeface="Arial"/>
                  <a:ea typeface="Microsoft YaHei"/>
                  <a:cs typeface="Arial"/>
                </a:rPr>
                <a:t>社媒运营专家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392102" y="1990249"/>
              <a:ext cx="1064895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F6E7DD"/>
                  </a:solidFill>
                  <a:latin typeface="Arial"/>
                  <a:ea typeface="Microsoft YaHei"/>
                  <a:cs typeface="Arial"/>
                </a:rPr>
                <a:t>矩阵账号批量运营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105650" y="1676400"/>
              <a:ext cx="2171700" cy="533400"/>
            </a:xfrm>
            <a:prstGeom prst="rect">
              <a:avLst/>
            </a:prstGeom>
            <a:solidFill>
              <a:srgbClr val="17140D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7644204" y="1767364"/>
              <a:ext cx="1094593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75" b="1" dirty="0">
                  <a:solidFill>
                    <a:srgbClr val="F7F5EF"/>
                  </a:solidFill>
                  <a:latin typeface="Arial"/>
                  <a:ea typeface="Microsoft YaHei"/>
                  <a:cs typeface="Arial"/>
                </a:rPr>
                <a:t>B2B 销售专家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724061" y="1990249"/>
              <a:ext cx="934879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EFEBE0"/>
                  </a:solidFill>
                  <a:latin typeface="Arial"/>
                  <a:ea typeface="Microsoft YaHei"/>
                  <a:cs typeface="Arial"/>
                </a:rPr>
                <a:t>高客单成交推进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9372600" y="1676400"/>
              <a:ext cx="2247900" cy="533400"/>
            </a:xfrm>
            <a:prstGeom prst="rect">
              <a:avLst/>
            </a:prstGeom>
            <a:solidFill>
              <a:srgbClr val="B8552E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752879" y="1767364"/>
              <a:ext cx="1487342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75" b="1" dirty="0">
                  <a:solidFill>
                    <a:srgbClr val="F7F5EF"/>
                  </a:solidFill>
                  <a:latin typeface="Arial"/>
                  <a:ea typeface="Microsoft YaHei"/>
                  <a:cs typeface="Arial"/>
                </a:rPr>
                <a:t>AI 短视频获客专家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029111" y="1990249"/>
              <a:ext cx="934879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F6E7DD"/>
                  </a:solidFill>
                  <a:latin typeface="Arial"/>
                  <a:ea typeface="Microsoft YaHei"/>
                  <a:cs typeface="Arial"/>
                </a:rPr>
                <a:t>批量成片测爆款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571500" y="2324100"/>
            <a:ext cx="11049000" cy="1219200"/>
            <a:chOff x="571500" y="2324100"/>
            <a:chExt cx="11049000" cy="1219200"/>
          </a:xfrm>
        </p:grpSpPr>
        <p:sp>
          <p:nvSpPr>
            <p:cNvPr id="24" name="Rectangle 24"/>
            <p:cNvSpPr/>
            <p:nvPr/>
          </p:nvSpPr>
          <p:spPr>
            <a:xfrm>
              <a:off x="571500" y="2324100"/>
              <a:ext cx="1905000" cy="1219200"/>
            </a:xfrm>
            <a:prstGeom prst="rect">
              <a:avLst/>
            </a:prstGeom>
            <a:solidFill>
              <a:srgbClr val="EFEBE0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972241" y="2719864"/>
              <a:ext cx="1103519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75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蒸馏谁的判断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326344" y="2980849"/>
              <a:ext cx="395311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Distill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2571750" y="2324100"/>
              <a:ext cx="2171700" cy="121920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2747962" y="2526506"/>
              <a:ext cx="13144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800"/>
                </a:lnSpc>
              </a:pP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团队里「最会做私域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的人」的判断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838700" y="2324100"/>
              <a:ext cx="2171700" cy="121920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5014912" y="2526506"/>
              <a:ext cx="13144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800"/>
                </a:lnSpc>
              </a:pP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「最懂内容的人」的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选题与口径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105650" y="2324100"/>
              <a:ext cx="2171700" cy="121920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7281862" y="2526506"/>
              <a:ext cx="1457325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800"/>
                </a:lnSpc>
              </a:pP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「该找谁、该说什么、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下一步该做什么」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9372600" y="2324100"/>
              <a:ext cx="2247900" cy="121920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9548812" y="2526506"/>
              <a:ext cx="1457325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800"/>
                </a:lnSpc>
              </a:pP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「选题、脚本、钩子、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节奏」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571500" y="3657600"/>
            <a:ext cx="11049000" cy="1428750"/>
            <a:chOff x="571500" y="3657600"/>
            <a:chExt cx="11049000" cy="1428750"/>
          </a:xfrm>
        </p:grpSpPr>
        <p:sp>
          <p:nvSpPr>
            <p:cNvPr id="36" name="Rectangle 36"/>
            <p:cNvSpPr/>
            <p:nvPr/>
          </p:nvSpPr>
          <p:spPr>
            <a:xfrm>
              <a:off x="571500" y="3657600"/>
              <a:ext cx="1905000" cy="1428750"/>
            </a:xfrm>
            <a:prstGeom prst="rect">
              <a:avLst/>
            </a:prstGeom>
            <a:solidFill>
              <a:srgbClr val="EFEBE0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1150763" y="4148614"/>
              <a:ext cx="746474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75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产出什么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313343" y="4409599"/>
              <a:ext cx="421315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Result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2571750" y="3657600"/>
              <a:ext cx="2171700" cy="142875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2747962" y="3860006"/>
              <a:ext cx="1457325" cy="6858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800"/>
                </a:lnSpc>
              </a:pP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朋友圈、群聊、私聊、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视频号自动运营 +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智能客服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4838700" y="3657600"/>
              <a:ext cx="2171700" cy="142875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5014912" y="3860006"/>
              <a:ext cx="1457325" cy="6858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800"/>
                </a:lnSpc>
              </a:pP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小红书等平台批量生成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内容、管理矩阵账号、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统一分发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7105650" y="3657600"/>
              <a:ext cx="2171700" cy="142875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7281862" y="3860006"/>
              <a:ext cx="1457325" cy="6858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800"/>
                </a:lnSpc>
              </a:pP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让新人一上手就站在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团队最高水位，全流程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推进成交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9372600" y="3657600"/>
              <a:ext cx="2247900" cy="142875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9548812" y="3860006"/>
              <a:ext cx="1457325" cy="6858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800"/>
                </a:lnSpc>
              </a:pP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批量产出脚本与成片，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持续测爆款，获客效率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与爆款率一起提升</a:t>
              </a:r>
            </a:p>
          </p:txBody>
        </p:sp>
      </p:grpSp>
      <p:grpSp>
        <p:nvGrpSpPr>
          <p:cNvPr id="59" name="Group 59"/>
          <p:cNvGrpSpPr/>
          <p:nvPr/>
        </p:nvGrpSpPr>
        <p:grpSpPr>
          <a:xfrm>
            <a:off x="571500" y="5200650"/>
            <a:ext cx="11049000" cy="723900"/>
            <a:chOff x="571500" y="5200650"/>
            <a:chExt cx="11049000" cy="723900"/>
          </a:xfrm>
        </p:grpSpPr>
        <p:sp>
          <p:nvSpPr>
            <p:cNvPr id="48" name="Rectangle 48"/>
            <p:cNvSpPr/>
            <p:nvPr/>
          </p:nvSpPr>
          <p:spPr>
            <a:xfrm>
              <a:off x="571500" y="5200650"/>
              <a:ext cx="1905000" cy="723900"/>
            </a:xfrm>
            <a:prstGeom prst="rect">
              <a:avLst/>
            </a:prstGeom>
            <a:solidFill>
              <a:srgbClr val="EFEBE0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1150763" y="5386864"/>
              <a:ext cx="746474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75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谁验证过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332845" y="5647849"/>
              <a:ext cx="38231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Proof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2571750" y="5200650"/>
              <a:ext cx="2171700" cy="723900"/>
            </a:xfrm>
            <a:prstGeom prst="rect">
              <a:avLst/>
            </a:prstGeom>
            <a:solidFill>
              <a:srgbClr val="F6E7DD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2747962" y="5384006"/>
              <a:ext cx="1335881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800"/>
                </a:lnSpc>
              </a:pP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某知名银行 · 某知名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社群 · 某知名博主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4838700" y="5200650"/>
              <a:ext cx="2171700" cy="723900"/>
            </a:xfrm>
            <a:prstGeom prst="rect">
              <a:avLst/>
            </a:prstGeom>
            <a:solidFill>
              <a:srgbClr val="F6E7DD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5014912" y="5384006"/>
              <a:ext cx="1150144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800"/>
                </a:lnSpc>
              </a:pP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某知名奶粉品牌 ·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某头部珠宝品牌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7105650" y="5200650"/>
              <a:ext cx="2171700" cy="723900"/>
            </a:xfrm>
            <a:prstGeom prst="rect">
              <a:avLst/>
            </a:prstGeom>
            <a:solidFill>
              <a:srgbClr val="EFEBE0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7281862" y="5384006"/>
              <a:ext cx="1293019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800"/>
                </a:lnSpc>
              </a:pP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某头部珠宝批发商 ·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某头部门票批发商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9372600" y="5200650"/>
              <a:ext cx="2247900" cy="723900"/>
            </a:xfrm>
            <a:prstGeom prst="rect">
              <a:avLst/>
            </a:prstGeom>
            <a:solidFill>
              <a:srgbClr val="F6E7DD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9548812" y="5384006"/>
              <a:ext cx="1457325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800"/>
                </a:lnSpc>
              </a:pP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某著名睡眠科学专家 ·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某本地知名工厂服务商</a:t>
              </a:r>
            </a:p>
          </p:txBody>
        </p:sp>
      </p:grpSp>
      <p:grpSp>
        <p:nvGrpSpPr>
          <p:cNvPr id="61" name="Group 61"/>
          <p:cNvGrpSpPr/>
          <p:nvPr/>
        </p:nvGrpSpPr>
        <p:grpSpPr>
          <a:xfrm>
            <a:off x="552450" y="6067425"/>
            <a:ext cx="10089356" cy="304800"/>
            <a:chOff x="552450" y="6067425"/>
            <a:chExt cx="10089356" cy="304800"/>
          </a:xfrm>
        </p:grpSpPr>
        <p:sp>
          <p:nvSpPr>
            <p:cNvPr id="60" name="TextBox 60"/>
            <p:cNvSpPr txBox="1"/>
            <p:nvPr/>
          </p:nvSpPr>
          <p:spPr>
            <a:xfrm>
              <a:off x="552450" y="6067425"/>
              <a:ext cx="10089356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读法：</a:t>
              </a:r>
              <a:r>
                <a:rPr lang="zh-CN" sz="1500" b="1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它卖的不是「AI 客服」，是「你们最强那个人的判断」</a:t>
              </a: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——所以客户名单都是「某某」，判断本身不能公开。</a:t>
              </a:r>
            </a:p>
          </p:txBody>
        </p:sp>
      </p:grpSp>
      <p:grpSp>
        <p:nvGrpSpPr>
          <p:cNvPr id="66" name="Group 66"/>
          <p:cNvGrpSpPr/>
          <p:nvPr/>
        </p:nvGrpSpPr>
        <p:grpSpPr>
          <a:xfrm>
            <a:off x="571500" y="6438900"/>
            <a:ext cx="11060430" cy="304800"/>
            <a:chOff x="571500" y="6438900"/>
            <a:chExt cx="11060430" cy="304800"/>
          </a:xfrm>
        </p:grpSpPr>
        <p:sp>
          <p:nvSpPr>
            <p:cNvPr id="62" name="Line 62"/>
            <p:cNvSpPr/>
            <p:nvPr/>
          </p:nvSpPr>
          <p:spPr>
            <a:xfrm>
              <a:off x="571500" y="64389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ECE7DA"/>
              </a:solidFill>
            </a:ln>
          </p:spPr>
        </p:sp>
        <p:pic>
          <p:nvPicPr>
            <p:cNvPr id="63" name="Image 6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71500" y="6517891"/>
              <a:ext cx="190500" cy="184919"/>
            </a:xfrm>
            <a:prstGeom prst="rect">
              <a:avLst/>
            </a:prstGeom>
          </p:spPr>
        </p:pic>
        <p:sp>
          <p:nvSpPr>
            <p:cNvPr id="64" name="TextBox 64"/>
            <p:cNvSpPr txBox="1"/>
            <p:nvPr/>
          </p:nvSpPr>
          <p:spPr>
            <a:xfrm>
              <a:off x="845820" y="6560820"/>
              <a:ext cx="295722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openfde.net · /products#agents · flowan.com.cn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11207020" y="6560820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19 / 26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5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9" dur="4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  <p:bldP spid="35" grpId="0"/>
      <p:bldP spid="47" grpId="0"/>
      <p:bldP spid="59" grpId="0"/>
      <p:bldP spid="6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</p:sp>
      <p:grpSp>
        <p:nvGrpSpPr>
          <p:cNvPr id="8" name="Group 8"/>
          <p:cNvGrpSpPr/>
          <p:nvPr/>
        </p:nvGrpSpPr>
        <p:grpSpPr>
          <a:xfrm>
            <a:off x="539115" y="571500"/>
            <a:ext cx="11095673" cy="909638"/>
            <a:chOff x="539115" y="571500"/>
            <a:chExt cx="11095673" cy="909638"/>
          </a:xfrm>
        </p:grpSpPr>
        <p:sp>
          <p:nvSpPr>
            <p:cNvPr id="3" name="Rectangle 3"/>
            <p:cNvSpPr/>
            <p:nvPr/>
          </p:nvSpPr>
          <p:spPr>
            <a:xfrm>
              <a:off x="571500" y="571500"/>
              <a:ext cx="381000" cy="28575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557212" y="735806"/>
              <a:ext cx="131236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商业层 · 蒸馏引擎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39115" y="962978"/>
              <a:ext cx="6866470" cy="518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一个人的判断，怎么变成一个能跑的 Agent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9303425" y="1078706"/>
              <a:ext cx="233136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四个 Agent 背后是同一套五步引擎</a:t>
              </a:r>
            </a:p>
          </p:txBody>
        </p:sp>
        <p:sp>
          <p:nvSpPr>
            <p:cNvPr id="7" name="Line 7"/>
            <p:cNvSpPr/>
            <p:nvPr/>
          </p:nvSpPr>
          <p:spPr>
            <a:xfrm>
              <a:off x="571500" y="14478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14288">
              <a:solidFill>
                <a:srgbClr val="D4CDB9"/>
              </a:solidFill>
            </a:ln>
          </p:spPr>
        </p:sp>
      </p:grpSp>
      <p:grpSp>
        <p:nvGrpSpPr>
          <p:cNvPr id="29" name="Group 29"/>
          <p:cNvGrpSpPr/>
          <p:nvPr/>
        </p:nvGrpSpPr>
        <p:grpSpPr>
          <a:xfrm>
            <a:off x="571500" y="1714500"/>
            <a:ext cx="2085975" cy="3048000"/>
            <a:chOff x="571500" y="1714500"/>
            <a:chExt cx="2085975" cy="3048000"/>
          </a:xfrm>
        </p:grpSpPr>
        <p:sp>
          <p:nvSpPr>
            <p:cNvPr id="9" name="Rectangle 9"/>
            <p:cNvSpPr/>
            <p:nvPr/>
          </p:nvSpPr>
          <p:spPr>
            <a:xfrm>
              <a:off x="571500" y="1714500"/>
              <a:ext cx="2085975" cy="304800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71500" y="1714500"/>
              <a:ext cx="2085975" cy="476250"/>
            </a:xfrm>
            <a:prstGeom prst="rect">
              <a:avLst/>
            </a:prstGeom>
            <a:solidFill>
              <a:srgbClr val="17140D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723900" y="1857375"/>
              <a:ext cx="269129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7F5EF"/>
                  </a:solidFill>
                  <a:latin typeface="Georgia"/>
                  <a:ea typeface="KaiTi"/>
                  <a:cs typeface="Georgia"/>
                </a:rPr>
                <a:t>01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106805" y="1873568"/>
              <a:ext cx="412337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7F5EF"/>
                  </a:solidFill>
                  <a:latin typeface="Arial"/>
                  <a:ea typeface="Microsoft YaHei"/>
                  <a:cs typeface="Arial"/>
                </a:rPr>
                <a:t>采集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71500" y="2190750"/>
              <a:ext cx="2085975" cy="266700"/>
            </a:xfrm>
            <a:prstGeom prst="rect">
              <a:avLst/>
            </a:prstGeom>
            <a:solidFill>
              <a:srgbClr val="EFEBE0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334547" y="2266474"/>
              <a:ext cx="55035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Capture</a:t>
              </a:r>
            </a:p>
          </p:txBody>
        </p:sp>
        <p:grpSp>
          <p:nvGrpSpPr>
            <p:cNvPr id="23" name="Group 23"/>
            <p:cNvGrpSpPr/>
            <p:nvPr/>
          </p:nvGrpSpPr>
          <p:grpSpPr>
            <a:xfrm>
              <a:off x="781050" y="2679700"/>
              <a:ext cx="228600" cy="212725"/>
              <a:chOff x="781050" y="2679700"/>
              <a:chExt cx="228600" cy="212725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781050" y="2679700"/>
                <a:ext cx="228600" cy="152400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152400">
                    <a:moveTo>
                      <a:pt x="0" y="12700"/>
                    </a:moveTo>
                    <a:cubicBezTo>
                      <a:pt x="0" y="5686"/>
                      <a:pt x="5686" y="0"/>
                      <a:pt x="12700" y="0"/>
                    </a:cubicBezTo>
                    <a:lnTo>
                      <a:pt x="215900" y="0"/>
                    </a:lnTo>
                    <a:cubicBezTo>
                      <a:pt x="222914" y="0"/>
                      <a:pt x="228600" y="5686"/>
                      <a:pt x="228600" y="12700"/>
                    </a:cubicBezTo>
                    <a:lnTo>
                      <a:pt x="228600" y="139700"/>
                    </a:lnTo>
                    <a:cubicBezTo>
                      <a:pt x="228600" y="146714"/>
                      <a:pt x="222914" y="152400"/>
                      <a:pt x="215900" y="152400"/>
                    </a:cubicBezTo>
                    <a:lnTo>
                      <a:pt x="12700" y="152400"/>
                    </a:lnTo>
                    <a:cubicBezTo>
                      <a:pt x="5686" y="152400"/>
                      <a:pt x="0" y="146714"/>
                      <a:pt x="0" y="139700"/>
                    </a:cubicBezTo>
                    <a:lnTo>
                      <a:pt x="0" y="12700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16" name="Freeform 16"/>
              <p:cNvSpPr/>
              <p:nvPr/>
            </p:nvSpPr>
            <p:spPr>
              <a:xfrm>
                <a:off x="831850" y="2882900"/>
                <a:ext cx="1270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27000" h="9525">
                    <a:moveTo>
                      <a:pt x="0" y="0"/>
                    </a:moveTo>
                    <a:lnTo>
                      <a:pt x="127000" y="0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17" name="Freeform 17"/>
              <p:cNvSpPr/>
              <p:nvPr/>
            </p:nvSpPr>
            <p:spPr>
              <a:xfrm>
                <a:off x="857250" y="2832100"/>
                <a:ext cx="9525" cy="508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50800">
                    <a:moveTo>
                      <a:pt x="0" y="0"/>
                    </a:moveTo>
                    <a:lnTo>
                      <a:pt x="0" y="50800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18" name="Freeform 18"/>
              <p:cNvSpPr/>
              <p:nvPr/>
            </p:nvSpPr>
            <p:spPr>
              <a:xfrm>
                <a:off x="933450" y="2832100"/>
                <a:ext cx="9525" cy="508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50800">
                    <a:moveTo>
                      <a:pt x="0" y="0"/>
                    </a:moveTo>
                    <a:lnTo>
                      <a:pt x="0" y="50800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19" name="Freeform 19"/>
              <p:cNvSpPr/>
              <p:nvPr/>
            </p:nvSpPr>
            <p:spPr>
              <a:xfrm>
                <a:off x="857250" y="2730500"/>
                <a:ext cx="9525" cy="508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50800">
                    <a:moveTo>
                      <a:pt x="0" y="50800"/>
                    </a:moveTo>
                    <a:lnTo>
                      <a:pt x="0" y="0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895350" y="2768600"/>
                <a:ext cx="9525" cy="127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2700">
                    <a:moveTo>
                      <a:pt x="0" y="12700"/>
                    </a:moveTo>
                    <a:lnTo>
                      <a:pt x="0" y="0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933450" y="2755900"/>
                <a:ext cx="9525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5400">
                    <a:moveTo>
                      <a:pt x="0" y="25400"/>
                    </a:moveTo>
                    <a:lnTo>
                      <a:pt x="0" y="0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895350" y="2768600"/>
                <a:ext cx="9525" cy="127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2700">
                    <a:moveTo>
                      <a:pt x="0" y="12700"/>
                    </a:moveTo>
                    <a:lnTo>
                      <a:pt x="0" y="0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</p:grpSp>
        <p:sp>
          <p:nvSpPr>
            <p:cNvPr id="24" name="TextBox 24"/>
            <p:cNvSpPr txBox="1"/>
            <p:nvPr/>
          </p:nvSpPr>
          <p:spPr>
            <a:xfrm>
              <a:off x="728662" y="3136106"/>
              <a:ext cx="1314450" cy="6858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800"/>
                </a:lnSpc>
              </a:pP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桌面助手与微信、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企微低侵入采集，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标注「专家时刻」。</a:t>
              </a:r>
            </a:p>
          </p:txBody>
        </p:sp>
        <p:sp>
          <p:nvSpPr>
            <p:cNvPr id="25" name="Line 25"/>
            <p:cNvSpPr/>
            <p:nvPr/>
          </p:nvSpPr>
          <p:spPr>
            <a:xfrm>
              <a:off x="742950" y="4038600"/>
              <a:ext cx="1743075" cy="9525"/>
            </a:xfrm>
            <a:custGeom>
              <a:avLst/>
              <a:gdLst/>
              <a:ahLst/>
              <a:cxnLst/>
              <a:rect l="l" t="t" r="r" b="b"/>
              <a:pathLst>
                <a:path w="1743075" h="9525">
                  <a:moveTo>
                    <a:pt x="0" y="0"/>
                  </a:moveTo>
                  <a:lnTo>
                    <a:pt x="1743075" y="0"/>
                  </a:lnTo>
                </a:path>
              </a:pathLst>
            </a:custGeom>
            <a:noFill/>
            <a:ln w="9525">
              <a:solidFill>
                <a:srgbClr val="ECE7DA"/>
              </a:solidFill>
              <a:prstDash val="dash"/>
            </a:ln>
          </p:spPr>
        </p:sp>
        <p:sp>
          <p:nvSpPr>
            <p:cNvPr id="26" name="Rectangle 26"/>
            <p:cNvSpPr/>
            <p:nvPr/>
          </p:nvSpPr>
          <p:spPr>
            <a:xfrm>
              <a:off x="742950" y="4171950"/>
              <a:ext cx="1743075" cy="438150"/>
            </a:xfrm>
            <a:prstGeom prst="rect">
              <a:avLst/>
            </a:prstGeom>
            <a:solidFill>
              <a:srgbClr val="EFEBE0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1425976" y="4254341"/>
              <a:ext cx="367498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5" b="1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产出物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122878" y="4412456"/>
              <a:ext cx="97369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专家时刻样本</a:t>
              </a:r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2809875" y="1714500"/>
            <a:ext cx="2085975" cy="3048000"/>
            <a:chOff x="2809875" y="1714500"/>
            <a:chExt cx="2085975" cy="3048000"/>
          </a:xfrm>
        </p:grpSpPr>
        <p:sp>
          <p:nvSpPr>
            <p:cNvPr id="30" name="Rectangle 30"/>
            <p:cNvSpPr/>
            <p:nvPr/>
          </p:nvSpPr>
          <p:spPr>
            <a:xfrm>
              <a:off x="2809875" y="1714500"/>
              <a:ext cx="2085975" cy="3048000"/>
            </a:xfrm>
            <a:prstGeom prst="rect">
              <a:avLst/>
            </a:prstGeom>
            <a:solidFill>
              <a:srgbClr val="FFFDF8"/>
            </a:solidFill>
            <a:ln w="19050">
              <a:solidFill>
                <a:srgbClr val="C4471F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2809875" y="1714500"/>
              <a:ext cx="2085975" cy="476250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2962275" y="1857375"/>
              <a:ext cx="269129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7F5EF"/>
                  </a:solidFill>
                  <a:latin typeface="Georgia"/>
                  <a:ea typeface="KaiTi"/>
                  <a:cs typeface="Georgia"/>
                </a:rPr>
                <a:t>02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3345180" y="1873568"/>
              <a:ext cx="412337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7F5EF"/>
                  </a:solidFill>
                  <a:latin typeface="Arial"/>
                  <a:ea typeface="Microsoft YaHei"/>
                  <a:cs typeface="Arial"/>
                </a:rPr>
                <a:t>引出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4352925" y="1922145"/>
              <a:ext cx="38290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F6E7DD"/>
                  </a:solidFill>
                  <a:latin typeface="Arial"/>
                  <a:ea typeface="Microsoft YaHei"/>
                  <a:cs typeface="Arial"/>
                </a:rPr>
                <a:t>最关键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2809875" y="2190750"/>
              <a:ext cx="2085975" cy="266700"/>
            </a:xfrm>
            <a:prstGeom prst="rect">
              <a:avLst/>
            </a:prstGeom>
            <a:solidFill>
              <a:srgbClr val="F6E7DD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3661658" y="2266474"/>
              <a:ext cx="37288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Elicit</a:t>
              </a:r>
            </a:p>
          </p:txBody>
        </p:sp>
        <p:grpSp>
          <p:nvGrpSpPr>
            <p:cNvPr id="39" name="Group 39"/>
            <p:cNvGrpSpPr/>
            <p:nvPr/>
          </p:nvGrpSpPr>
          <p:grpSpPr>
            <a:xfrm>
              <a:off x="3006420" y="2669858"/>
              <a:ext cx="245377" cy="225742"/>
              <a:chOff x="3006420" y="2669858"/>
              <a:chExt cx="245377" cy="225742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3006420" y="2669858"/>
                <a:ext cx="245377" cy="213043"/>
              </a:xfrm>
              <a:custGeom>
                <a:avLst/>
                <a:gdLst/>
                <a:ahLst/>
                <a:cxnLst/>
                <a:rect l="l" t="t" r="r" b="b"/>
                <a:pathLst>
                  <a:path w="245377" h="213043">
                    <a:moveTo>
                      <a:pt x="115138" y="212192"/>
                    </a:moveTo>
                    <a:cubicBezTo>
                      <a:pt x="100398" y="210798"/>
                      <a:pt x="86025" y="206786"/>
                      <a:pt x="72695" y="200342"/>
                    </a:cubicBezTo>
                    <a:lnTo>
                      <a:pt x="13005" y="213043"/>
                    </a:lnTo>
                    <a:lnTo>
                      <a:pt x="29515" y="163513"/>
                    </a:lnTo>
                    <a:cubicBezTo>
                      <a:pt x="0" y="119863"/>
                      <a:pt x="11405" y="63538"/>
                      <a:pt x="56185" y="31763"/>
                    </a:cubicBezTo>
                    <a:cubicBezTo>
                      <a:pt x="100965" y="0"/>
                      <a:pt x="165278" y="2603"/>
                      <a:pt x="206616" y="37859"/>
                    </a:cubicBezTo>
                    <a:cubicBezTo>
                      <a:pt x="233629" y="60896"/>
                      <a:pt x="245377" y="93231"/>
                      <a:pt x="240830" y="124320"/>
                    </a:cubicBez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3171825" y="2844800"/>
                <a:ext cx="76200" cy="50800"/>
              </a:xfrm>
              <a:custGeom>
                <a:avLst/>
                <a:gdLst/>
                <a:ahLst/>
                <a:cxnLst/>
                <a:rect l="l" t="t" r="r" b="b"/>
                <a:pathLst>
                  <a:path w="76200" h="50800">
                    <a:moveTo>
                      <a:pt x="0" y="25400"/>
                    </a:moveTo>
                    <a:lnTo>
                      <a:pt x="25400" y="50800"/>
                    </a:lnTo>
                    <a:lnTo>
                      <a:pt x="76200" y="0"/>
                    </a:ln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</p:grpSp>
        <p:sp>
          <p:nvSpPr>
            <p:cNvPr id="40" name="TextBox 40"/>
            <p:cNvSpPr txBox="1"/>
            <p:nvPr/>
          </p:nvSpPr>
          <p:spPr>
            <a:xfrm>
              <a:off x="2967038" y="3136106"/>
              <a:ext cx="1193006" cy="6858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800"/>
                </a:lnSpc>
              </a:pP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AI 主动访谈，逼出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专家自己都说不出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口的隐性判断。</a:t>
              </a:r>
            </a:p>
          </p:txBody>
        </p:sp>
        <p:sp>
          <p:nvSpPr>
            <p:cNvPr id="41" name="Line 41"/>
            <p:cNvSpPr/>
            <p:nvPr/>
          </p:nvSpPr>
          <p:spPr>
            <a:xfrm>
              <a:off x="2981325" y="4038600"/>
              <a:ext cx="1743075" cy="9525"/>
            </a:xfrm>
            <a:custGeom>
              <a:avLst/>
              <a:gdLst/>
              <a:ahLst/>
              <a:cxnLst/>
              <a:rect l="l" t="t" r="r" b="b"/>
              <a:pathLst>
                <a:path w="1743075" h="9525">
                  <a:moveTo>
                    <a:pt x="0" y="0"/>
                  </a:moveTo>
                  <a:lnTo>
                    <a:pt x="1743075" y="0"/>
                  </a:lnTo>
                </a:path>
              </a:pathLst>
            </a:custGeom>
            <a:noFill/>
            <a:ln w="9525">
              <a:solidFill>
                <a:srgbClr val="ECE7DA"/>
              </a:solidFill>
              <a:prstDash val="dash"/>
            </a:ln>
          </p:spPr>
        </p:sp>
        <p:sp>
          <p:nvSpPr>
            <p:cNvPr id="42" name="Rectangle 42"/>
            <p:cNvSpPr/>
            <p:nvPr/>
          </p:nvSpPr>
          <p:spPr>
            <a:xfrm>
              <a:off x="2981325" y="4171950"/>
              <a:ext cx="1743075" cy="438150"/>
            </a:xfrm>
            <a:prstGeom prst="rect">
              <a:avLst/>
            </a:prstGeom>
            <a:solidFill>
              <a:srgbClr val="F6E7DD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3664351" y="4254341"/>
              <a:ext cx="367498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5" b="1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产出物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3518773" y="4412456"/>
              <a:ext cx="65865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访谈记录</a:t>
              </a:r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5048250" y="1714500"/>
            <a:ext cx="2085975" cy="3048000"/>
            <a:chOff x="5048250" y="1714500"/>
            <a:chExt cx="2085975" cy="3048000"/>
          </a:xfrm>
        </p:grpSpPr>
        <p:sp>
          <p:nvSpPr>
            <p:cNvPr id="46" name="Rectangle 46"/>
            <p:cNvSpPr/>
            <p:nvPr/>
          </p:nvSpPr>
          <p:spPr>
            <a:xfrm>
              <a:off x="5048250" y="1714500"/>
              <a:ext cx="2085975" cy="304800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47" name="Rectangle 47"/>
            <p:cNvSpPr/>
            <p:nvPr/>
          </p:nvSpPr>
          <p:spPr>
            <a:xfrm>
              <a:off x="5048250" y="1714500"/>
              <a:ext cx="2085975" cy="476250"/>
            </a:xfrm>
            <a:prstGeom prst="rect">
              <a:avLst/>
            </a:prstGeom>
            <a:solidFill>
              <a:srgbClr val="17140D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5200650" y="1857375"/>
              <a:ext cx="269129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7F5EF"/>
                  </a:solidFill>
                  <a:latin typeface="Georgia"/>
                  <a:ea typeface="KaiTi"/>
                  <a:cs typeface="Georgia"/>
                </a:rPr>
                <a:t>03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5583555" y="1873568"/>
              <a:ext cx="412337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7F5EF"/>
                  </a:solidFill>
                  <a:latin typeface="Arial"/>
                  <a:ea typeface="Microsoft YaHei"/>
                  <a:cs typeface="Arial"/>
                </a:rPr>
                <a:t>蒸馏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5048250" y="2190750"/>
              <a:ext cx="2085975" cy="266700"/>
            </a:xfrm>
            <a:prstGeom prst="rect">
              <a:avLst/>
            </a:prstGeom>
            <a:solidFill>
              <a:srgbClr val="EFEBE0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5879556" y="2266474"/>
              <a:ext cx="413839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Distill</a:t>
              </a:r>
            </a:p>
          </p:txBody>
        </p:sp>
        <p:grpSp>
          <p:nvGrpSpPr>
            <p:cNvPr id="56" name="Group 56"/>
            <p:cNvGrpSpPr/>
            <p:nvPr/>
          </p:nvGrpSpPr>
          <p:grpSpPr>
            <a:xfrm>
              <a:off x="5270500" y="2705100"/>
              <a:ext cx="215900" cy="177800"/>
              <a:chOff x="5270500" y="2705100"/>
              <a:chExt cx="215900" cy="177800"/>
            </a:xfrm>
          </p:grpSpPr>
          <p:sp>
            <p:nvSpPr>
              <p:cNvPr id="52" name="Freeform 52"/>
              <p:cNvSpPr/>
              <p:nvPr/>
            </p:nvSpPr>
            <p:spPr>
              <a:xfrm>
                <a:off x="5270500" y="2705100"/>
                <a:ext cx="2032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03200" h="9525">
                    <a:moveTo>
                      <a:pt x="0" y="0"/>
                    </a:moveTo>
                    <a:lnTo>
                      <a:pt x="203200" y="0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53" name="Freeform 53"/>
              <p:cNvSpPr/>
              <p:nvPr/>
            </p:nvSpPr>
            <p:spPr>
              <a:xfrm>
                <a:off x="5295900" y="2781300"/>
                <a:ext cx="1524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2400" h="9525">
                    <a:moveTo>
                      <a:pt x="0" y="0"/>
                    </a:moveTo>
                    <a:lnTo>
                      <a:pt x="152400" y="0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54" name="Freeform 54"/>
              <p:cNvSpPr/>
              <p:nvPr/>
            </p:nvSpPr>
            <p:spPr>
              <a:xfrm>
                <a:off x="5334000" y="2857500"/>
                <a:ext cx="254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9525">
                    <a:moveTo>
                      <a:pt x="0" y="0"/>
                    </a:moveTo>
                    <a:lnTo>
                      <a:pt x="25400" y="0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55" name="Freeform 55"/>
              <p:cNvSpPr/>
              <p:nvPr/>
            </p:nvSpPr>
            <p:spPr>
              <a:xfrm>
                <a:off x="5410200" y="2832100"/>
                <a:ext cx="76200" cy="50800"/>
              </a:xfrm>
              <a:custGeom>
                <a:avLst/>
                <a:gdLst/>
                <a:ahLst/>
                <a:cxnLst/>
                <a:rect l="l" t="t" r="r" b="b"/>
                <a:pathLst>
                  <a:path w="76200" h="50800">
                    <a:moveTo>
                      <a:pt x="0" y="25400"/>
                    </a:moveTo>
                    <a:lnTo>
                      <a:pt x="25400" y="50800"/>
                    </a:lnTo>
                    <a:lnTo>
                      <a:pt x="76200" y="0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</p:grpSp>
        <p:sp>
          <p:nvSpPr>
            <p:cNvPr id="57" name="TextBox 57"/>
            <p:cNvSpPr txBox="1"/>
            <p:nvPr/>
          </p:nvSpPr>
          <p:spPr>
            <a:xfrm>
              <a:off x="5205412" y="3136106"/>
              <a:ext cx="1314450" cy="6858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800"/>
                </a:lnSpc>
              </a:pP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沉淀为结构化档案：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触发条件、信号、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动作、理由、例外。</a:t>
              </a:r>
            </a:p>
          </p:txBody>
        </p:sp>
        <p:sp>
          <p:nvSpPr>
            <p:cNvPr id="58" name="Line 58"/>
            <p:cNvSpPr/>
            <p:nvPr/>
          </p:nvSpPr>
          <p:spPr>
            <a:xfrm>
              <a:off x="5219700" y="4038600"/>
              <a:ext cx="1743075" cy="9525"/>
            </a:xfrm>
            <a:custGeom>
              <a:avLst/>
              <a:gdLst/>
              <a:ahLst/>
              <a:cxnLst/>
              <a:rect l="l" t="t" r="r" b="b"/>
              <a:pathLst>
                <a:path w="1743075" h="9525">
                  <a:moveTo>
                    <a:pt x="0" y="0"/>
                  </a:moveTo>
                  <a:lnTo>
                    <a:pt x="1743075" y="0"/>
                  </a:lnTo>
                </a:path>
              </a:pathLst>
            </a:custGeom>
            <a:noFill/>
            <a:ln w="9525">
              <a:solidFill>
                <a:srgbClr val="ECE7DA"/>
              </a:solidFill>
              <a:prstDash val="dash"/>
            </a:ln>
          </p:spPr>
        </p:sp>
        <p:sp>
          <p:nvSpPr>
            <p:cNvPr id="59" name="Rectangle 59"/>
            <p:cNvSpPr/>
            <p:nvPr/>
          </p:nvSpPr>
          <p:spPr>
            <a:xfrm>
              <a:off x="5219700" y="4171950"/>
              <a:ext cx="1743075" cy="438150"/>
            </a:xfrm>
            <a:prstGeom prst="rect">
              <a:avLst/>
            </a:prstGeom>
            <a:solidFill>
              <a:srgbClr val="EFEBE0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5902726" y="4254341"/>
              <a:ext cx="367498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5" b="1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产出物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5599628" y="4412456"/>
              <a:ext cx="97369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专家判断档案</a:t>
              </a:r>
            </a:p>
          </p:txBody>
        </p:sp>
      </p:grpSp>
      <p:grpSp>
        <p:nvGrpSpPr>
          <p:cNvPr id="78" name="Group 78"/>
          <p:cNvGrpSpPr/>
          <p:nvPr/>
        </p:nvGrpSpPr>
        <p:grpSpPr>
          <a:xfrm>
            <a:off x="7286625" y="1714500"/>
            <a:ext cx="2085975" cy="3048000"/>
            <a:chOff x="7286625" y="1714500"/>
            <a:chExt cx="2085975" cy="3048000"/>
          </a:xfrm>
        </p:grpSpPr>
        <p:sp>
          <p:nvSpPr>
            <p:cNvPr id="63" name="Rectangle 63"/>
            <p:cNvSpPr/>
            <p:nvPr/>
          </p:nvSpPr>
          <p:spPr>
            <a:xfrm>
              <a:off x="7286625" y="1714500"/>
              <a:ext cx="2085975" cy="304800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64" name="Rectangle 64"/>
            <p:cNvSpPr/>
            <p:nvPr/>
          </p:nvSpPr>
          <p:spPr>
            <a:xfrm>
              <a:off x="7286625" y="1714500"/>
              <a:ext cx="2085975" cy="476250"/>
            </a:xfrm>
            <a:prstGeom prst="rect">
              <a:avLst/>
            </a:prstGeom>
            <a:solidFill>
              <a:srgbClr val="2F2B20"/>
            </a:solidFill>
            <a:ln>
              <a:noFill/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7439025" y="1857375"/>
              <a:ext cx="269129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7F5EF"/>
                  </a:solidFill>
                  <a:latin typeface="Georgia"/>
                  <a:ea typeface="KaiTi"/>
                  <a:cs typeface="Georgia"/>
                </a:rPr>
                <a:t>04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7821930" y="1873568"/>
              <a:ext cx="412337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7F5EF"/>
                  </a:solidFill>
                  <a:latin typeface="Arial"/>
                  <a:ea typeface="Microsoft YaHei"/>
                  <a:cs typeface="Arial"/>
                </a:rPr>
                <a:t>构建</a:t>
              </a:r>
            </a:p>
          </p:txBody>
        </p:sp>
        <p:sp>
          <p:nvSpPr>
            <p:cNvPr id="67" name="Rectangle 67"/>
            <p:cNvSpPr/>
            <p:nvPr/>
          </p:nvSpPr>
          <p:spPr>
            <a:xfrm>
              <a:off x="7286625" y="2190750"/>
              <a:ext cx="2085975" cy="266700"/>
            </a:xfrm>
            <a:prstGeom prst="rect">
              <a:avLst/>
            </a:prstGeom>
            <a:solidFill>
              <a:srgbClr val="EFEBE0"/>
            </a:solidFill>
            <a:ln>
              <a:noFill/>
            </a:ln>
          </p:spPr>
        </p:sp>
        <p:sp>
          <p:nvSpPr>
            <p:cNvPr id="68" name="TextBox 68"/>
            <p:cNvSpPr txBox="1"/>
            <p:nvPr/>
          </p:nvSpPr>
          <p:spPr>
            <a:xfrm>
              <a:off x="8158886" y="2266474"/>
              <a:ext cx="331928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Build</a:t>
              </a:r>
            </a:p>
          </p:txBody>
        </p:sp>
        <p:grpSp>
          <p:nvGrpSpPr>
            <p:cNvPr id="72" name="Group 72"/>
            <p:cNvGrpSpPr/>
            <p:nvPr/>
          </p:nvGrpSpPr>
          <p:grpSpPr>
            <a:xfrm>
              <a:off x="7496175" y="2679700"/>
              <a:ext cx="228600" cy="203200"/>
              <a:chOff x="7496175" y="2679700"/>
              <a:chExt cx="228600" cy="203200"/>
            </a:xfrm>
          </p:grpSpPr>
          <p:sp>
            <p:nvSpPr>
              <p:cNvPr id="69" name="Freeform 69"/>
              <p:cNvSpPr/>
              <p:nvPr/>
            </p:nvSpPr>
            <p:spPr>
              <a:xfrm>
                <a:off x="7496175" y="2730500"/>
                <a:ext cx="50800" cy="101600"/>
              </a:xfrm>
              <a:custGeom>
                <a:avLst/>
                <a:gdLst/>
                <a:ahLst/>
                <a:cxnLst/>
                <a:rect l="l" t="t" r="r" b="b"/>
                <a:pathLst>
                  <a:path w="50800" h="101600">
                    <a:moveTo>
                      <a:pt x="50800" y="0"/>
                    </a:moveTo>
                    <a:lnTo>
                      <a:pt x="0" y="50800"/>
                    </a:lnTo>
                    <a:lnTo>
                      <a:pt x="50800" y="101600"/>
                    </a:lnTo>
                  </a:path>
                </a:pathLst>
              </a:custGeom>
              <a:noFill/>
              <a:ln w="19050">
                <a:solidFill>
                  <a:srgbClr val="2F2B20"/>
                </a:solidFill>
              </a:ln>
            </p:spPr>
          </p:sp>
          <p:sp>
            <p:nvSpPr>
              <p:cNvPr id="70" name="Freeform 70"/>
              <p:cNvSpPr/>
              <p:nvPr/>
            </p:nvSpPr>
            <p:spPr>
              <a:xfrm>
                <a:off x="7673975" y="2730500"/>
                <a:ext cx="50800" cy="101600"/>
              </a:xfrm>
              <a:custGeom>
                <a:avLst/>
                <a:gdLst/>
                <a:ahLst/>
                <a:cxnLst/>
                <a:rect l="l" t="t" r="r" b="b"/>
                <a:pathLst>
                  <a:path w="50800" h="101600">
                    <a:moveTo>
                      <a:pt x="0" y="0"/>
                    </a:moveTo>
                    <a:lnTo>
                      <a:pt x="50800" y="50800"/>
                    </a:lnTo>
                    <a:lnTo>
                      <a:pt x="0" y="101600"/>
                    </a:lnTo>
                  </a:path>
                </a:pathLst>
              </a:custGeom>
              <a:noFill/>
              <a:ln w="19050">
                <a:solidFill>
                  <a:srgbClr val="2F2B20"/>
                </a:solidFill>
              </a:ln>
            </p:spPr>
          </p:sp>
          <p:sp>
            <p:nvSpPr>
              <p:cNvPr id="71" name="Freeform 71"/>
              <p:cNvSpPr/>
              <p:nvPr/>
            </p:nvSpPr>
            <p:spPr>
              <a:xfrm>
                <a:off x="7585075" y="2679700"/>
                <a:ext cx="50800" cy="203200"/>
              </a:xfrm>
              <a:custGeom>
                <a:avLst/>
                <a:gdLst/>
                <a:ahLst/>
                <a:cxnLst/>
                <a:rect l="l" t="t" r="r" b="b"/>
                <a:pathLst>
                  <a:path w="50800" h="203200">
                    <a:moveTo>
                      <a:pt x="50800" y="0"/>
                    </a:moveTo>
                    <a:lnTo>
                      <a:pt x="0" y="203200"/>
                    </a:lnTo>
                  </a:path>
                </a:pathLst>
              </a:custGeom>
              <a:noFill/>
              <a:ln w="19050">
                <a:solidFill>
                  <a:srgbClr val="2F2B20"/>
                </a:solidFill>
              </a:ln>
            </p:spPr>
          </p:sp>
        </p:grpSp>
        <p:sp>
          <p:nvSpPr>
            <p:cNvPr id="73" name="TextBox 73"/>
            <p:cNvSpPr txBox="1"/>
            <p:nvPr/>
          </p:nvSpPr>
          <p:spPr>
            <a:xfrm>
              <a:off x="7443788" y="3136106"/>
              <a:ext cx="1171575" cy="6858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800"/>
                </a:lnSpc>
              </a:pP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编译成可运行的智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能体，挂上渠道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直接上线。</a:t>
              </a:r>
            </a:p>
          </p:txBody>
        </p:sp>
        <p:sp>
          <p:nvSpPr>
            <p:cNvPr id="74" name="Line 74"/>
            <p:cNvSpPr/>
            <p:nvPr/>
          </p:nvSpPr>
          <p:spPr>
            <a:xfrm>
              <a:off x="7458075" y="4038600"/>
              <a:ext cx="1743075" cy="9525"/>
            </a:xfrm>
            <a:custGeom>
              <a:avLst/>
              <a:gdLst/>
              <a:ahLst/>
              <a:cxnLst/>
              <a:rect l="l" t="t" r="r" b="b"/>
              <a:pathLst>
                <a:path w="1743075" h="9525">
                  <a:moveTo>
                    <a:pt x="0" y="0"/>
                  </a:moveTo>
                  <a:lnTo>
                    <a:pt x="1743075" y="0"/>
                  </a:lnTo>
                </a:path>
              </a:pathLst>
            </a:custGeom>
            <a:noFill/>
            <a:ln w="9525">
              <a:solidFill>
                <a:srgbClr val="ECE7DA"/>
              </a:solidFill>
              <a:prstDash val="dash"/>
            </a:ln>
          </p:spPr>
        </p:sp>
        <p:sp>
          <p:nvSpPr>
            <p:cNvPr id="75" name="Rectangle 75"/>
            <p:cNvSpPr/>
            <p:nvPr/>
          </p:nvSpPr>
          <p:spPr>
            <a:xfrm>
              <a:off x="7458075" y="4171950"/>
              <a:ext cx="1743075" cy="438150"/>
            </a:xfrm>
            <a:prstGeom prst="rect">
              <a:avLst/>
            </a:prstGeom>
            <a:solidFill>
              <a:srgbClr val="EFEBE0"/>
            </a:solidFill>
            <a:ln>
              <a:noFill/>
            </a:ln>
          </p:spPr>
        </p:sp>
        <p:sp>
          <p:nvSpPr>
            <p:cNvPr id="76" name="TextBox 76"/>
            <p:cNvSpPr txBox="1"/>
            <p:nvPr/>
          </p:nvSpPr>
          <p:spPr>
            <a:xfrm>
              <a:off x="8141101" y="4254341"/>
              <a:ext cx="367498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5" b="1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产出物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7834065" y="4412456"/>
              <a:ext cx="981569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可运行 Agent</a:t>
              </a:r>
            </a:p>
          </p:txBody>
        </p:sp>
      </p:grpSp>
      <p:grpSp>
        <p:nvGrpSpPr>
          <p:cNvPr id="93" name="Group 93"/>
          <p:cNvGrpSpPr/>
          <p:nvPr/>
        </p:nvGrpSpPr>
        <p:grpSpPr>
          <a:xfrm>
            <a:off x="9525000" y="1714500"/>
            <a:ext cx="2095500" cy="3048000"/>
            <a:chOff x="9525000" y="1714500"/>
            <a:chExt cx="2095500" cy="3048000"/>
          </a:xfrm>
        </p:grpSpPr>
        <p:sp>
          <p:nvSpPr>
            <p:cNvPr id="79" name="Rectangle 79"/>
            <p:cNvSpPr/>
            <p:nvPr/>
          </p:nvSpPr>
          <p:spPr>
            <a:xfrm>
              <a:off x="9525000" y="1714500"/>
              <a:ext cx="2095500" cy="304800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80" name="Rectangle 80"/>
            <p:cNvSpPr/>
            <p:nvPr/>
          </p:nvSpPr>
          <p:spPr>
            <a:xfrm>
              <a:off x="9525000" y="1714500"/>
              <a:ext cx="2095500" cy="476250"/>
            </a:xfrm>
            <a:prstGeom prst="rect">
              <a:avLst/>
            </a:prstGeom>
            <a:solidFill>
              <a:srgbClr val="B8552E"/>
            </a:solidFill>
            <a:ln>
              <a:noFill/>
            </a:ln>
          </p:spPr>
        </p:sp>
        <p:sp>
          <p:nvSpPr>
            <p:cNvPr id="81" name="TextBox 81"/>
            <p:cNvSpPr txBox="1"/>
            <p:nvPr/>
          </p:nvSpPr>
          <p:spPr>
            <a:xfrm>
              <a:off x="9677400" y="1857375"/>
              <a:ext cx="269129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7F5EF"/>
                  </a:solidFill>
                  <a:latin typeface="Georgia"/>
                  <a:ea typeface="KaiTi"/>
                  <a:cs typeface="Georgia"/>
                </a:rPr>
                <a:t>05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10060305" y="1873568"/>
              <a:ext cx="412337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7F5EF"/>
                  </a:solidFill>
                  <a:latin typeface="Arial"/>
                  <a:ea typeface="Microsoft YaHei"/>
                  <a:cs typeface="Arial"/>
                </a:rPr>
                <a:t>进化</a:t>
              </a:r>
            </a:p>
          </p:txBody>
        </p:sp>
        <p:sp>
          <p:nvSpPr>
            <p:cNvPr id="83" name="Rectangle 83"/>
            <p:cNvSpPr/>
            <p:nvPr/>
          </p:nvSpPr>
          <p:spPr>
            <a:xfrm>
              <a:off x="9525000" y="2190750"/>
              <a:ext cx="2095500" cy="266700"/>
            </a:xfrm>
            <a:prstGeom prst="rect">
              <a:avLst/>
            </a:prstGeom>
            <a:solidFill>
              <a:srgbClr val="F6E7DD"/>
            </a:solidFill>
            <a:ln>
              <a:noFill/>
            </a:ln>
          </p:spPr>
        </p:sp>
        <p:sp>
          <p:nvSpPr>
            <p:cNvPr id="84" name="TextBox 84"/>
            <p:cNvSpPr txBox="1"/>
            <p:nvPr/>
          </p:nvSpPr>
          <p:spPr>
            <a:xfrm>
              <a:off x="10352179" y="2266474"/>
              <a:ext cx="44114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B8552E"/>
                  </a:solidFill>
                  <a:latin typeface="Arial"/>
                  <a:ea typeface="Microsoft YaHei"/>
                  <a:cs typeface="Arial"/>
                </a:rPr>
                <a:t>Evolve</a:t>
              </a:r>
            </a:p>
          </p:txBody>
        </p:sp>
        <p:grpSp>
          <p:nvGrpSpPr>
            <p:cNvPr id="87" name="Group 87"/>
            <p:cNvGrpSpPr/>
            <p:nvPr/>
          </p:nvGrpSpPr>
          <p:grpSpPr>
            <a:xfrm>
              <a:off x="9747250" y="2674800"/>
              <a:ext cx="203200" cy="213000"/>
              <a:chOff x="9747250" y="2674800"/>
              <a:chExt cx="203200" cy="213000"/>
            </a:xfrm>
          </p:grpSpPr>
          <p:sp>
            <p:nvSpPr>
              <p:cNvPr id="85" name="Freeform 85"/>
              <p:cNvSpPr/>
              <p:nvPr/>
            </p:nvSpPr>
            <p:spPr>
              <a:xfrm>
                <a:off x="9747250" y="2674800"/>
                <a:ext cx="203200" cy="93800"/>
              </a:xfrm>
              <a:custGeom>
                <a:avLst/>
                <a:gdLst/>
                <a:ahLst/>
                <a:cxnLst/>
                <a:rect l="l" t="t" r="r" b="b"/>
                <a:pathLst>
                  <a:path w="203200" h="93800">
                    <a:moveTo>
                      <a:pt x="203200" y="93800"/>
                    </a:moveTo>
                    <a:cubicBezTo>
                      <a:pt x="196815" y="47858"/>
                      <a:pt x="160476" y="11871"/>
                      <a:pt x="114474" y="5936"/>
                    </a:cubicBezTo>
                    <a:cubicBezTo>
                      <a:pt x="68472" y="0"/>
                      <a:pt x="24187" y="25584"/>
                      <a:pt x="6350" y="68400"/>
                    </a:cubicBezTo>
                    <a:moveTo>
                      <a:pt x="0" y="17600"/>
                    </a:moveTo>
                    <a:lnTo>
                      <a:pt x="0" y="68400"/>
                    </a:lnTo>
                    <a:lnTo>
                      <a:pt x="50800" y="68400"/>
                    </a:lnTo>
                  </a:path>
                </a:pathLst>
              </a:custGeom>
              <a:noFill/>
              <a:ln w="19050">
                <a:solidFill>
                  <a:srgbClr val="B8552E"/>
                </a:solidFill>
              </a:ln>
            </p:spPr>
          </p:sp>
          <p:sp>
            <p:nvSpPr>
              <p:cNvPr id="86" name="Freeform 86"/>
              <p:cNvSpPr/>
              <p:nvPr/>
            </p:nvSpPr>
            <p:spPr>
              <a:xfrm>
                <a:off x="9747250" y="2794000"/>
                <a:ext cx="203200" cy="93800"/>
              </a:xfrm>
              <a:custGeom>
                <a:avLst/>
                <a:gdLst/>
                <a:ahLst/>
                <a:cxnLst/>
                <a:rect l="l" t="t" r="r" b="b"/>
                <a:pathLst>
                  <a:path w="203200" h="93800">
                    <a:moveTo>
                      <a:pt x="0" y="0"/>
                    </a:moveTo>
                    <a:cubicBezTo>
                      <a:pt x="6385" y="45942"/>
                      <a:pt x="42724" y="81929"/>
                      <a:pt x="88726" y="87864"/>
                    </a:cubicBezTo>
                    <a:cubicBezTo>
                      <a:pt x="134728" y="93800"/>
                      <a:pt x="179013" y="68216"/>
                      <a:pt x="196850" y="25400"/>
                    </a:cubicBezTo>
                    <a:moveTo>
                      <a:pt x="203200" y="76200"/>
                    </a:moveTo>
                    <a:lnTo>
                      <a:pt x="203200" y="25400"/>
                    </a:lnTo>
                    <a:lnTo>
                      <a:pt x="152400" y="25400"/>
                    </a:lnTo>
                  </a:path>
                </a:pathLst>
              </a:custGeom>
              <a:noFill/>
              <a:ln w="19050">
                <a:solidFill>
                  <a:srgbClr val="B8552E"/>
                </a:solidFill>
              </a:ln>
            </p:spPr>
          </p:sp>
        </p:grpSp>
        <p:sp>
          <p:nvSpPr>
            <p:cNvPr id="88" name="TextBox 88"/>
            <p:cNvSpPr txBox="1"/>
            <p:nvPr/>
          </p:nvSpPr>
          <p:spPr>
            <a:xfrm>
              <a:off x="9682162" y="3136106"/>
              <a:ext cx="1193006" cy="6858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800"/>
                </a:lnSpc>
              </a:pP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多维评估 + 反思式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进化，只升不降，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越跑越强。</a:t>
              </a:r>
            </a:p>
          </p:txBody>
        </p:sp>
        <p:sp>
          <p:nvSpPr>
            <p:cNvPr id="89" name="Line 89"/>
            <p:cNvSpPr/>
            <p:nvPr/>
          </p:nvSpPr>
          <p:spPr>
            <a:xfrm>
              <a:off x="9696450" y="4038600"/>
              <a:ext cx="1752600" cy="9525"/>
            </a:xfrm>
            <a:custGeom>
              <a:avLst/>
              <a:gdLst/>
              <a:ahLst/>
              <a:cxnLst/>
              <a:rect l="l" t="t" r="r" b="b"/>
              <a:pathLst>
                <a:path w="1752600" h="9525">
                  <a:moveTo>
                    <a:pt x="0" y="0"/>
                  </a:moveTo>
                  <a:lnTo>
                    <a:pt x="1752600" y="0"/>
                  </a:lnTo>
                </a:path>
              </a:pathLst>
            </a:custGeom>
            <a:noFill/>
            <a:ln w="9525">
              <a:solidFill>
                <a:srgbClr val="ECE7DA"/>
              </a:solidFill>
              <a:prstDash val="dash"/>
            </a:ln>
          </p:spPr>
        </p:sp>
        <p:sp>
          <p:nvSpPr>
            <p:cNvPr id="90" name="Rectangle 90"/>
            <p:cNvSpPr/>
            <p:nvPr/>
          </p:nvSpPr>
          <p:spPr>
            <a:xfrm>
              <a:off x="9696450" y="4171950"/>
              <a:ext cx="1752600" cy="438150"/>
            </a:xfrm>
            <a:prstGeom prst="rect">
              <a:avLst/>
            </a:prstGeom>
            <a:solidFill>
              <a:srgbClr val="F6E7DD"/>
            </a:solidFill>
            <a:ln>
              <a:noFill/>
            </a:ln>
          </p:spPr>
        </p:sp>
        <p:sp>
          <p:nvSpPr>
            <p:cNvPr id="91" name="TextBox 91"/>
            <p:cNvSpPr txBox="1"/>
            <p:nvPr/>
          </p:nvSpPr>
          <p:spPr>
            <a:xfrm>
              <a:off x="10389001" y="4254341"/>
              <a:ext cx="367498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5" b="1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产出物</a:t>
              </a:r>
            </a:p>
          </p:txBody>
        </p:sp>
        <p:sp>
          <p:nvSpPr>
            <p:cNvPr id="92" name="TextBox 92"/>
            <p:cNvSpPr txBox="1"/>
            <p:nvPr/>
          </p:nvSpPr>
          <p:spPr>
            <a:xfrm>
              <a:off x="10007144" y="4412456"/>
              <a:ext cx="113121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B8552E"/>
                  </a:solidFill>
                  <a:latin typeface="Arial"/>
                  <a:ea typeface="Microsoft YaHei"/>
                  <a:cs typeface="Arial"/>
                </a:rPr>
                <a:t>评估分与新版本</a:t>
              </a:r>
            </a:p>
          </p:txBody>
        </p:sp>
      </p:grpSp>
      <p:grpSp>
        <p:nvGrpSpPr>
          <p:cNvPr id="98" name="Group 98"/>
          <p:cNvGrpSpPr/>
          <p:nvPr/>
        </p:nvGrpSpPr>
        <p:grpSpPr>
          <a:xfrm>
            <a:off x="2676525" y="3086100"/>
            <a:ext cx="6829425" cy="228600"/>
            <a:chOff x="2676525" y="3086100"/>
            <a:chExt cx="6829425" cy="228600"/>
          </a:xfrm>
        </p:grpSpPr>
        <p:sp>
          <p:nvSpPr>
            <p:cNvPr id="94" name="Polygon 94"/>
            <p:cNvSpPr/>
            <p:nvPr/>
          </p:nvSpPr>
          <p:spPr>
            <a:xfrm>
              <a:off x="2676525" y="3086100"/>
              <a:ext cx="114300" cy="228600"/>
            </a:xfrm>
            <a:custGeom>
              <a:avLst/>
              <a:gdLst/>
              <a:ahLst/>
              <a:cxnLst/>
              <a:rect l="l" t="t" r="r" b="b"/>
              <a:pathLst>
                <a:path w="114300" h="228600">
                  <a:moveTo>
                    <a:pt x="0" y="76200"/>
                  </a:moveTo>
                  <a:lnTo>
                    <a:pt x="66675" y="76200"/>
                  </a:lnTo>
                  <a:lnTo>
                    <a:pt x="66675" y="0"/>
                  </a:lnTo>
                  <a:lnTo>
                    <a:pt x="114300" y="114300"/>
                  </a:lnTo>
                  <a:lnTo>
                    <a:pt x="66675" y="228600"/>
                  </a:lnTo>
                  <a:lnTo>
                    <a:pt x="66675" y="152400"/>
                  </a:lnTo>
                  <a:lnTo>
                    <a:pt x="0" y="152400"/>
                  </a:lnTo>
                  <a:close/>
                </a:path>
              </a:pathLst>
            </a:custGeom>
            <a:solidFill>
              <a:srgbClr val="C4471F"/>
            </a:solidFill>
            <a:ln>
              <a:noFill/>
            </a:ln>
          </p:spPr>
        </p:sp>
        <p:sp>
          <p:nvSpPr>
            <p:cNvPr id="95" name="Polygon 95"/>
            <p:cNvSpPr/>
            <p:nvPr/>
          </p:nvSpPr>
          <p:spPr>
            <a:xfrm>
              <a:off x="4914900" y="3086100"/>
              <a:ext cx="114300" cy="228600"/>
            </a:xfrm>
            <a:custGeom>
              <a:avLst/>
              <a:gdLst/>
              <a:ahLst/>
              <a:cxnLst/>
              <a:rect l="l" t="t" r="r" b="b"/>
              <a:pathLst>
                <a:path w="114300" h="228600">
                  <a:moveTo>
                    <a:pt x="0" y="76200"/>
                  </a:moveTo>
                  <a:lnTo>
                    <a:pt x="66675" y="76200"/>
                  </a:lnTo>
                  <a:lnTo>
                    <a:pt x="66675" y="0"/>
                  </a:lnTo>
                  <a:lnTo>
                    <a:pt x="114300" y="114300"/>
                  </a:lnTo>
                  <a:lnTo>
                    <a:pt x="66675" y="228600"/>
                  </a:lnTo>
                  <a:lnTo>
                    <a:pt x="66675" y="152400"/>
                  </a:lnTo>
                  <a:lnTo>
                    <a:pt x="0" y="152400"/>
                  </a:lnTo>
                  <a:close/>
                </a:path>
              </a:pathLst>
            </a:custGeom>
            <a:solidFill>
              <a:srgbClr val="C4471F"/>
            </a:solidFill>
            <a:ln>
              <a:noFill/>
            </a:ln>
          </p:spPr>
        </p:sp>
        <p:sp>
          <p:nvSpPr>
            <p:cNvPr id="96" name="Polygon 96"/>
            <p:cNvSpPr/>
            <p:nvPr/>
          </p:nvSpPr>
          <p:spPr>
            <a:xfrm>
              <a:off x="7153275" y="3086100"/>
              <a:ext cx="114300" cy="228600"/>
            </a:xfrm>
            <a:custGeom>
              <a:avLst/>
              <a:gdLst/>
              <a:ahLst/>
              <a:cxnLst/>
              <a:rect l="l" t="t" r="r" b="b"/>
              <a:pathLst>
                <a:path w="114300" h="228600">
                  <a:moveTo>
                    <a:pt x="0" y="76200"/>
                  </a:moveTo>
                  <a:lnTo>
                    <a:pt x="66675" y="76200"/>
                  </a:lnTo>
                  <a:lnTo>
                    <a:pt x="66675" y="0"/>
                  </a:lnTo>
                  <a:lnTo>
                    <a:pt x="114300" y="114300"/>
                  </a:lnTo>
                  <a:lnTo>
                    <a:pt x="66675" y="228600"/>
                  </a:lnTo>
                  <a:lnTo>
                    <a:pt x="66675" y="152400"/>
                  </a:lnTo>
                  <a:lnTo>
                    <a:pt x="0" y="152400"/>
                  </a:lnTo>
                  <a:close/>
                </a:path>
              </a:pathLst>
            </a:custGeom>
            <a:solidFill>
              <a:srgbClr val="C4471F"/>
            </a:solidFill>
            <a:ln>
              <a:noFill/>
            </a:ln>
          </p:spPr>
        </p:sp>
        <p:sp>
          <p:nvSpPr>
            <p:cNvPr id="97" name="Polygon 97"/>
            <p:cNvSpPr/>
            <p:nvPr/>
          </p:nvSpPr>
          <p:spPr>
            <a:xfrm>
              <a:off x="9391650" y="3086100"/>
              <a:ext cx="114300" cy="228600"/>
            </a:xfrm>
            <a:custGeom>
              <a:avLst/>
              <a:gdLst/>
              <a:ahLst/>
              <a:cxnLst/>
              <a:rect l="l" t="t" r="r" b="b"/>
              <a:pathLst>
                <a:path w="114300" h="228600">
                  <a:moveTo>
                    <a:pt x="0" y="76200"/>
                  </a:moveTo>
                  <a:lnTo>
                    <a:pt x="66675" y="76200"/>
                  </a:lnTo>
                  <a:lnTo>
                    <a:pt x="66675" y="0"/>
                  </a:lnTo>
                  <a:lnTo>
                    <a:pt x="114300" y="114300"/>
                  </a:lnTo>
                  <a:lnTo>
                    <a:pt x="66675" y="228600"/>
                  </a:lnTo>
                  <a:lnTo>
                    <a:pt x="66675" y="152400"/>
                  </a:lnTo>
                  <a:lnTo>
                    <a:pt x="0" y="152400"/>
                  </a:lnTo>
                  <a:close/>
                </a:path>
              </a:pathLst>
            </a:custGeom>
            <a:solidFill>
              <a:srgbClr val="C4471F"/>
            </a:solidFill>
            <a:ln>
              <a:noFill/>
            </a:ln>
          </p:spPr>
        </p:sp>
      </p:grpSp>
      <p:grpSp>
        <p:nvGrpSpPr>
          <p:cNvPr id="103" name="Group 103"/>
          <p:cNvGrpSpPr/>
          <p:nvPr/>
        </p:nvGrpSpPr>
        <p:grpSpPr>
          <a:xfrm>
            <a:off x="571500" y="4991100"/>
            <a:ext cx="11049000" cy="1181100"/>
            <a:chOff x="571500" y="4991100"/>
            <a:chExt cx="11049000" cy="1181100"/>
          </a:xfrm>
        </p:grpSpPr>
        <p:sp>
          <p:nvSpPr>
            <p:cNvPr id="99" name="Rectangle 99"/>
            <p:cNvSpPr/>
            <p:nvPr/>
          </p:nvSpPr>
          <p:spPr>
            <a:xfrm>
              <a:off x="571500" y="4991100"/>
              <a:ext cx="11049000" cy="1181100"/>
            </a:xfrm>
            <a:prstGeom prst="rect">
              <a:avLst/>
            </a:prstGeom>
            <a:solidFill>
              <a:srgbClr val="EFEBE0"/>
            </a:solidFill>
            <a:ln>
              <a:noFill/>
            </a:ln>
          </p:spPr>
        </p:sp>
        <p:sp>
          <p:nvSpPr>
            <p:cNvPr id="100" name="Rectangle 100"/>
            <p:cNvSpPr/>
            <p:nvPr/>
          </p:nvSpPr>
          <p:spPr>
            <a:xfrm>
              <a:off x="571500" y="4991100"/>
              <a:ext cx="38100" cy="1181100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sp>
          <p:nvSpPr>
            <p:cNvPr id="101" name="TextBox 101"/>
            <p:cNvSpPr txBox="1"/>
            <p:nvPr/>
          </p:nvSpPr>
          <p:spPr>
            <a:xfrm>
              <a:off x="851535" y="5104448"/>
              <a:ext cx="3790098" cy="396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整条流水线的难点只在第 02 步</a:t>
              </a:r>
            </a:p>
          </p:txBody>
        </p:sp>
        <p:sp>
          <p:nvSpPr>
            <p:cNvPr id="102" name="TextBox 102"/>
            <p:cNvSpPr txBox="1"/>
            <p:nvPr/>
          </p:nvSpPr>
          <p:spPr>
            <a:xfrm>
              <a:off x="857250" y="5514975"/>
              <a:ext cx="7867650" cy="609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2400"/>
                </a:lnSpc>
              </a:pP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采集、构建、上线都是工程活；</a:t>
              </a:r>
              <a:r>
                <a:rPr lang="zh-CN" sz="1500" b="1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「逼出说不出口的判断」才是真正稀缺的能力</a:t>
              </a: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——顶尖销售自己</a:t>
              </a: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也讲不清为什么这句话该这么说。这一步做不到，后面三步产出的就只是个普通话术机器人。</a:t>
              </a:r>
            </a:p>
          </p:txBody>
        </p:sp>
      </p:grpSp>
      <p:grpSp>
        <p:nvGrpSpPr>
          <p:cNvPr id="108" name="Group 108"/>
          <p:cNvGrpSpPr/>
          <p:nvPr/>
        </p:nvGrpSpPr>
        <p:grpSpPr>
          <a:xfrm>
            <a:off x="571500" y="6438900"/>
            <a:ext cx="11060430" cy="304800"/>
            <a:chOff x="571500" y="6438900"/>
            <a:chExt cx="11060430" cy="304800"/>
          </a:xfrm>
        </p:grpSpPr>
        <p:sp>
          <p:nvSpPr>
            <p:cNvPr id="104" name="Line 104"/>
            <p:cNvSpPr/>
            <p:nvPr/>
          </p:nvSpPr>
          <p:spPr>
            <a:xfrm>
              <a:off x="571500" y="64389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ECE7DA"/>
              </a:solidFill>
            </a:ln>
          </p:spPr>
        </p:sp>
        <p:pic>
          <p:nvPicPr>
            <p:cNvPr id="105" name="Image 105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71500" y="6517891"/>
              <a:ext cx="190500" cy="184919"/>
            </a:xfrm>
            <a:prstGeom prst="rect">
              <a:avLst/>
            </a:prstGeom>
          </p:spPr>
        </p:pic>
        <p:sp>
          <p:nvSpPr>
            <p:cNvPr id="106" name="TextBox 106"/>
            <p:cNvSpPr txBox="1"/>
            <p:nvPr/>
          </p:nvSpPr>
          <p:spPr>
            <a:xfrm>
              <a:off x="845820" y="6560820"/>
              <a:ext cx="191309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openfde.net · /products#engine</a:t>
              </a:r>
            </a:p>
          </p:txBody>
        </p:sp>
        <p:sp>
          <p:nvSpPr>
            <p:cNvPr id="107" name="TextBox 107"/>
            <p:cNvSpPr txBox="1"/>
            <p:nvPr/>
          </p:nvSpPr>
          <p:spPr>
            <a:xfrm>
              <a:off x="11207020" y="6560820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20 / 26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5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9" dur="4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23" dur="4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0"/>
                            </p:stCondLst>
                            <p:childTnLst>
                              <p:par>
                                <p:cTn id="2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27" dur="4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400"/>
                            </p:stCondLst>
                            <p:childTnLst>
                              <p:par>
                                <p:cTn id="29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31" dur="4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45" grpId="0"/>
      <p:bldP spid="62" grpId="0"/>
      <p:bldP spid="78" grpId="0"/>
      <p:bldP spid="93" grpId="0"/>
      <p:bldP spid="98" grpId="0"/>
      <p:bldP spid="103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</p:sp>
      <p:grpSp>
        <p:nvGrpSpPr>
          <p:cNvPr id="7" name="Group 7"/>
          <p:cNvGrpSpPr/>
          <p:nvPr/>
        </p:nvGrpSpPr>
        <p:grpSpPr>
          <a:xfrm>
            <a:off x="539115" y="571500"/>
            <a:ext cx="11081385" cy="909638"/>
            <a:chOff x="539115" y="571500"/>
            <a:chExt cx="11081385" cy="909638"/>
          </a:xfrm>
        </p:grpSpPr>
        <p:sp>
          <p:nvSpPr>
            <p:cNvPr id="3" name="Rectangle 3"/>
            <p:cNvSpPr/>
            <p:nvPr/>
          </p:nvSpPr>
          <p:spPr>
            <a:xfrm>
              <a:off x="571500" y="571500"/>
              <a:ext cx="381000" cy="28575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557212" y="735806"/>
              <a:ext cx="146988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商业层 · 渠道与边界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39115" y="962978"/>
              <a:ext cx="6134529" cy="518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客户在哪它就在哪，但数据不出你的门</a:t>
              </a:r>
            </a:p>
          </p:txBody>
        </p:sp>
        <p:sp>
          <p:nvSpPr>
            <p:cNvPr id="6" name="Line 6"/>
            <p:cNvSpPr/>
            <p:nvPr/>
          </p:nvSpPr>
          <p:spPr>
            <a:xfrm>
              <a:off x="571500" y="14478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14288">
              <a:solidFill>
                <a:srgbClr val="D4CDB9"/>
              </a:solidFill>
            </a:ln>
          </p:spPr>
        </p:sp>
      </p:grpSp>
      <p:grpSp>
        <p:nvGrpSpPr>
          <p:cNvPr id="13" name="Group 13"/>
          <p:cNvGrpSpPr/>
          <p:nvPr/>
        </p:nvGrpSpPr>
        <p:grpSpPr>
          <a:xfrm>
            <a:off x="571500" y="1676400"/>
            <a:ext cx="11049000" cy="1009650"/>
            <a:chOff x="571500" y="1676400"/>
            <a:chExt cx="11049000" cy="1009650"/>
          </a:xfrm>
        </p:grpSpPr>
        <p:sp>
          <p:nvSpPr>
            <p:cNvPr id="8" name="Rectangle 8"/>
            <p:cNvSpPr/>
            <p:nvPr/>
          </p:nvSpPr>
          <p:spPr>
            <a:xfrm>
              <a:off x="571500" y="1676400"/>
              <a:ext cx="11049000" cy="1009650"/>
            </a:xfrm>
            <a:prstGeom prst="rect">
              <a:avLst/>
            </a:prstGeom>
            <a:solidFill>
              <a:srgbClr val="EFEBE0"/>
            </a:solidFill>
            <a:ln>
              <a:noFill/>
            </a:ln>
          </p:spPr>
        </p:sp>
        <p:sp>
          <p:nvSpPr>
            <p:cNvPr id="9" name="Freeform 9"/>
            <p:cNvSpPr/>
            <p:nvPr/>
          </p:nvSpPr>
          <p:spPr>
            <a:xfrm>
              <a:off x="800100" y="1953574"/>
              <a:ext cx="323850" cy="264801"/>
            </a:xfrm>
            <a:custGeom>
              <a:avLst/>
              <a:gdLst/>
              <a:ahLst/>
              <a:cxnLst/>
              <a:rect l="l" t="t" r="r" b="b"/>
              <a:pathLst>
                <a:path w="323850" h="264801">
                  <a:moveTo>
                    <a:pt x="117274" y="0"/>
                  </a:moveTo>
                  <a:cubicBezTo>
                    <a:pt x="52504" y="0"/>
                    <a:pt x="0" y="44367"/>
                    <a:pt x="0" y="99071"/>
                  </a:cubicBezTo>
                  <a:cubicBezTo>
                    <a:pt x="0" y="128919"/>
                    <a:pt x="15788" y="155785"/>
                    <a:pt x="40508" y="173961"/>
                  </a:cubicBezTo>
                  <a:cubicBezTo>
                    <a:pt x="43323" y="176004"/>
                    <a:pt x="44487" y="179637"/>
                    <a:pt x="43382" y="182935"/>
                  </a:cubicBezTo>
                  <a:lnTo>
                    <a:pt x="38120" y="202906"/>
                  </a:lnTo>
                  <a:cubicBezTo>
                    <a:pt x="37863" y="203850"/>
                    <a:pt x="37472" y="204808"/>
                    <a:pt x="37472" y="205780"/>
                  </a:cubicBezTo>
                  <a:cubicBezTo>
                    <a:pt x="37472" y="207979"/>
                    <a:pt x="39226" y="209760"/>
                    <a:pt x="41385" y="209760"/>
                  </a:cubicBezTo>
                  <a:cubicBezTo>
                    <a:pt x="42189" y="209728"/>
                    <a:pt x="42968" y="209476"/>
                    <a:pt x="43639" y="209032"/>
                  </a:cubicBezTo>
                  <a:lnTo>
                    <a:pt x="69317" y="194000"/>
                  </a:lnTo>
                  <a:cubicBezTo>
                    <a:pt x="72194" y="192164"/>
                    <a:pt x="75729" y="191681"/>
                    <a:pt x="78992" y="192677"/>
                  </a:cubicBezTo>
                  <a:cubicBezTo>
                    <a:pt x="91432" y="196289"/>
                    <a:pt x="104321" y="198120"/>
                    <a:pt x="117274" y="198115"/>
                  </a:cubicBezTo>
                  <a:cubicBezTo>
                    <a:pt x="120998" y="198115"/>
                    <a:pt x="124601" y="197751"/>
                    <a:pt x="128218" y="197441"/>
                  </a:cubicBezTo>
                  <a:cubicBezTo>
                    <a:pt x="116653" y="162654"/>
                    <a:pt x="130336" y="130350"/>
                    <a:pt x="154288" y="110460"/>
                  </a:cubicBezTo>
                  <a:cubicBezTo>
                    <a:pt x="177267" y="91366"/>
                    <a:pt x="206670" y="83742"/>
                    <a:pt x="233266" y="85658"/>
                  </a:cubicBezTo>
                  <a:cubicBezTo>
                    <a:pt x="225494" y="37310"/>
                    <a:pt x="176647" y="0"/>
                    <a:pt x="117274" y="0"/>
                  </a:cubicBezTo>
                  <a:close/>
                  <a:moveTo>
                    <a:pt x="78061" y="51317"/>
                  </a:moveTo>
                  <a:cubicBezTo>
                    <a:pt x="86724" y="51317"/>
                    <a:pt x="93741" y="58455"/>
                    <a:pt x="93741" y="67239"/>
                  </a:cubicBezTo>
                  <a:cubicBezTo>
                    <a:pt x="93770" y="71427"/>
                    <a:pt x="92134" y="75454"/>
                    <a:pt x="89193" y="78435"/>
                  </a:cubicBezTo>
                  <a:cubicBezTo>
                    <a:pt x="86253" y="81416"/>
                    <a:pt x="82249" y="83106"/>
                    <a:pt x="78061" y="83135"/>
                  </a:cubicBezTo>
                  <a:cubicBezTo>
                    <a:pt x="73872" y="83106"/>
                    <a:pt x="69865" y="81414"/>
                    <a:pt x="66924" y="78430"/>
                  </a:cubicBezTo>
                  <a:cubicBezTo>
                    <a:pt x="63984" y="75446"/>
                    <a:pt x="62349" y="71415"/>
                    <a:pt x="62382" y="67226"/>
                  </a:cubicBezTo>
                  <a:cubicBezTo>
                    <a:pt x="62382" y="58441"/>
                    <a:pt x="69398" y="51303"/>
                    <a:pt x="78061" y="51303"/>
                  </a:cubicBezTo>
                  <a:close/>
                  <a:moveTo>
                    <a:pt x="156501" y="51317"/>
                  </a:moveTo>
                  <a:cubicBezTo>
                    <a:pt x="165164" y="51317"/>
                    <a:pt x="172180" y="58455"/>
                    <a:pt x="172180" y="67239"/>
                  </a:cubicBezTo>
                  <a:cubicBezTo>
                    <a:pt x="172209" y="71427"/>
                    <a:pt x="170573" y="75454"/>
                    <a:pt x="167633" y="78435"/>
                  </a:cubicBezTo>
                  <a:cubicBezTo>
                    <a:pt x="164692" y="81416"/>
                    <a:pt x="160688" y="83106"/>
                    <a:pt x="156501" y="83135"/>
                  </a:cubicBezTo>
                  <a:cubicBezTo>
                    <a:pt x="152313" y="83106"/>
                    <a:pt x="148309" y="81416"/>
                    <a:pt x="145368" y="78435"/>
                  </a:cubicBezTo>
                  <a:cubicBezTo>
                    <a:pt x="142428" y="75454"/>
                    <a:pt x="140792" y="71427"/>
                    <a:pt x="140821" y="67239"/>
                  </a:cubicBezTo>
                  <a:cubicBezTo>
                    <a:pt x="140821" y="58455"/>
                    <a:pt x="147838" y="51317"/>
                    <a:pt x="156501" y="51317"/>
                  </a:cubicBezTo>
                  <a:close/>
                  <a:moveTo>
                    <a:pt x="228557" y="90003"/>
                  </a:moveTo>
                  <a:cubicBezTo>
                    <a:pt x="204309" y="89302"/>
                    <a:pt x="178010" y="96912"/>
                    <a:pt x="157310" y="114103"/>
                  </a:cubicBezTo>
                  <a:cubicBezTo>
                    <a:pt x="134101" y="133372"/>
                    <a:pt x="121052" y="164300"/>
                    <a:pt x="133291" y="198034"/>
                  </a:cubicBezTo>
                  <a:cubicBezTo>
                    <a:pt x="146002" y="231134"/>
                    <a:pt x="182759" y="255099"/>
                    <a:pt x="226182" y="255099"/>
                  </a:cubicBezTo>
                  <a:cubicBezTo>
                    <a:pt x="237328" y="255099"/>
                    <a:pt x="248069" y="253480"/>
                    <a:pt x="258041" y="250565"/>
                  </a:cubicBezTo>
                  <a:cubicBezTo>
                    <a:pt x="260763" y="249738"/>
                    <a:pt x="263711" y="250143"/>
                    <a:pt x="266110" y="251672"/>
                  </a:cubicBezTo>
                  <a:lnTo>
                    <a:pt x="287484" y="264167"/>
                  </a:lnTo>
                  <a:cubicBezTo>
                    <a:pt x="288044" y="264549"/>
                    <a:pt x="288697" y="264768"/>
                    <a:pt x="289373" y="264801"/>
                  </a:cubicBezTo>
                  <a:cubicBezTo>
                    <a:pt x="291182" y="264801"/>
                    <a:pt x="292612" y="263304"/>
                    <a:pt x="292612" y="261468"/>
                  </a:cubicBezTo>
                  <a:cubicBezTo>
                    <a:pt x="292612" y="260659"/>
                    <a:pt x="292302" y="259849"/>
                    <a:pt x="292099" y="259080"/>
                  </a:cubicBezTo>
                  <a:lnTo>
                    <a:pt x="287687" y="242442"/>
                  </a:lnTo>
                  <a:cubicBezTo>
                    <a:pt x="287488" y="241758"/>
                    <a:pt x="287384" y="241050"/>
                    <a:pt x="287376" y="240337"/>
                  </a:cubicBezTo>
                  <a:cubicBezTo>
                    <a:pt x="287366" y="238216"/>
                    <a:pt x="288375" y="236218"/>
                    <a:pt x="290089" y="234967"/>
                  </a:cubicBezTo>
                  <a:cubicBezTo>
                    <a:pt x="310680" y="219840"/>
                    <a:pt x="323850" y="197441"/>
                    <a:pt x="323850" y="172612"/>
                  </a:cubicBezTo>
                  <a:cubicBezTo>
                    <a:pt x="323850" y="129297"/>
                    <a:pt x="284300" y="93849"/>
                    <a:pt x="234036" y="90462"/>
                  </a:cubicBezTo>
                  <a:lnTo>
                    <a:pt x="234036" y="90435"/>
                  </a:lnTo>
                  <a:cubicBezTo>
                    <a:pt x="232214" y="90300"/>
                    <a:pt x="230392" y="90071"/>
                    <a:pt x="228544" y="90030"/>
                  </a:cubicBezTo>
                  <a:close/>
                  <a:moveTo>
                    <a:pt x="194418" y="134182"/>
                  </a:moveTo>
                  <a:cubicBezTo>
                    <a:pt x="201637" y="134182"/>
                    <a:pt x="207493" y="140119"/>
                    <a:pt x="207493" y="147433"/>
                  </a:cubicBezTo>
                  <a:cubicBezTo>
                    <a:pt x="207519" y="150926"/>
                    <a:pt x="206155" y="154285"/>
                    <a:pt x="203703" y="156773"/>
                  </a:cubicBezTo>
                  <a:cubicBezTo>
                    <a:pt x="201251" y="159261"/>
                    <a:pt x="197911" y="160672"/>
                    <a:pt x="194418" y="160697"/>
                  </a:cubicBezTo>
                  <a:cubicBezTo>
                    <a:pt x="190925" y="160672"/>
                    <a:pt x="187585" y="159261"/>
                    <a:pt x="185133" y="156773"/>
                  </a:cubicBezTo>
                  <a:cubicBezTo>
                    <a:pt x="182681" y="154285"/>
                    <a:pt x="181317" y="150926"/>
                    <a:pt x="181343" y="147433"/>
                  </a:cubicBezTo>
                  <a:cubicBezTo>
                    <a:pt x="181343" y="140119"/>
                    <a:pt x="187199" y="134182"/>
                    <a:pt x="194431" y="134182"/>
                  </a:cubicBezTo>
                  <a:close/>
                  <a:moveTo>
                    <a:pt x="259782" y="134182"/>
                  </a:moveTo>
                  <a:cubicBezTo>
                    <a:pt x="267001" y="134182"/>
                    <a:pt x="272857" y="140119"/>
                    <a:pt x="272857" y="147433"/>
                  </a:cubicBezTo>
                  <a:cubicBezTo>
                    <a:pt x="272882" y="150926"/>
                    <a:pt x="271519" y="154285"/>
                    <a:pt x="269067" y="156773"/>
                  </a:cubicBezTo>
                  <a:cubicBezTo>
                    <a:pt x="266614" y="159261"/>
                    <a:pt x="263275" y="160672"/>
                    <a:pt x="259782" y="160697"/>
                  </a:cubicBezTo>
                  <a:cubicBezTo>
                    <a:pt x="256289" y="160672"/>
                    <a:pt x="252949" y="159261"/>
                    <a:pt x="250497" y="156773"/>
                  </a:cubicBezTo>
                  <a:cubicBezTo>
                    <a:pt x="248045" y="154285"/>
                    <a:pt x="246681" y="150926"/>
                    <a:pt x="246706" y="147433"/>
                  </a:cubicBezTo>
                  <a:cubicBezTo>
                    <a:pt x="246706" y="140119"/>
                    <a:pt x="252563" y="134182"/>
                    <a:pt x="259782" y="134182"/>
                  </a:cubicBezTo>
                  <a:close/>
                </a:path>
              </a:pathLst>
            </a:custGeom>
            <a:solidFill>
              <a:srgbClr val="17140D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243012" y="1897856"/>
              <a:ext cx="101307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支持 50+ 渠道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238250" y="2124075"/>
              <a:ext cx="8049101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个人微信 · 企业微信 · 小红书 · 抖音 · 视频号 · 飞书 · 钉钉 · WhatsApp · Web 专属页……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243012" y="2412206"/>
              <a:ext cx="558677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这一条决定了它的适用面：只要你的客户在某个聊天窗口里，Agent 就能进去工作。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546735" y="2856548"/>
            <a:ext cx="5537516" cy="396240"/>
            <a:chOff x="546735" y="2856548"/>
            <a:chExt cx="5537516" cy="396240"/>
          </a:xfrm>
        </p:grpSpPr>
        <p:sp>
          <p:nvSpPr>
            <p:cNvPr id="14" name="TextBox 14"/>
            <p:cNvSpPr txBox="1"/>
            <p:nvPr/>
          </p:nvSpPr>
          <p:spPr>
            <a:xfrm>
              <a:off x="546735" y="2856548"/>
              <a:ext cx="5537516" cy="396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四条硬边界——回答「我的数据会不会被拿走」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571500" y="3257550"/>
            <a:ext cx="2647950" cy="2190750"/>
            <a:chOff x="571500" y="3257550"/>
            <a:chExt cx="2647950" cy="2190750"/>
          </a:xfrm>
        </p:grpSpPr>
        <p:sp>
          <p:nvSpPr>
            <p:cNvPr id="16" name="Rectangle 16"/>
            <p:cNvSpPr/>
            <p:nvPr/>
          </p:nvSpPr>
          <p:spPr>
            <a:xfrm>
              <a:off x="571500" y="3257550"/>
              <a:ext cx="2647950" cy="219075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571500" y="3257550"/>
              <a:ext cx="2647950" cy="38100"/>
            </a:xfrm>
            <a:prstGeom prst="rect">
              <a:avLst/>
            </a:prstGeom>
            <a:solidFill>
              <a:srgbClr val="17140D"/>
            </a:solidFill>
            <a:ln>
              <a:noFill/>
            </a:ln>
          </p:spPr>
        </p:sp>
        <p:grpSp>
          <p:nvGrpSpPr>
            <p:cNvPr id="20" name="Group 20"/>
            <p:cNvGrpSpPr/>
            <p:nvPr/>
          </p:nvGrpSpPr>
          <p:grpSpPr>
            <a:xfrm>
              <a:off x="826301" y="3533775"/>
              <a:ext cx="310011" cy="285750"/>
              <a:chOff x="826301" y="3533775"/>
              <a:chExt cx="310011" cy="285750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826301" y="3533775"/>
                <a:ext cx="310011" cy="283305"/>
              </a:xfrm>
              <a:custGeom>
                <a:avLst/>
                <a:gdLst/>
                <a:ahLst/>
                <a:cxnLst/>
                <a:rect l="l" t="t" r="r" b="b"/>
                <a:pathLst>
                  <a:path w="310011" h="283305">
                    <a:moveTo>
                      <a:pt x="155727" y="283305"/>
                    </a:moveTo>
                    <a:cubicBezTo>
                      <a:pt x="56277" y="252478"/>
                      <a:pt x="0" y="147517"/>
                      <a:pt x="29362" y="47625"/>
                    </a:cubicBezTo>
                    <a:cubicBezTo>
                      <a:pt x="78821" y="49888"/>
                      <a:pt x="127218" y="32807"/>
                      <a:pt x="164299" y="0"/>
                    </a:cubicBezTo>
                    <a:cubicBezTo>
                      <a:pt x="201380" y="32807"/>
                      <a:pt x="249778" y="49888"/>
                      <a:pt x="299237" y="47625"/>
                    </a:cubicBezTo>
                    <a:cubicBezTo>
                      <a:pt x="310011" y="84282"/>
                      <a:pt x="309513" y="123332"/>
                      <a:pt x="297808" y="159702"/>
                    </a:cubicBez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19" name="Freeform 19"/>
              <p:cNvSpPr/>
              <p:nvPr/>
            </p:nvSpPr>
            <p:spPr>
              <a:xfrm>
                <a:off x="1038225" y="3756025"/>
                <a:ext cx="9525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63500">
                    <a:moveTo>
                      <a:pt x="0" y="31750"/>
                    </a:moveTo>
                    <a:lnTo>
                      <a:pt x="31750" y="63500"/>
                    </a:lnTo>
                    <a:lnTo>
                      <a:pt x="95250" y="0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</p:grpSp>
        <p:sp>
          <p:nvSpPr>
            <p:cNvPr id="21" name="TextBox 21"/>
            <p:cNvSpPr txBox="1"/>
            <p:nvPr/>
          </p:nvSpPr>
          <p:spPr>
            <a:xfrm>
              <a:off x="781050" y="4086225"/>
              <a:ext cx="878205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数据归你</a:t>
              </a:r>
            </a:p>
          </p:txBody>
        </p:sp>
        <p:sp>
          <p:nvSpPr>
            <p:cNvPr id="22" name="Line 22"/>
            <p:cNvSpPr/>
            <p:nvPr/>
          </p:nvSpPr>
          <p:spPr>
            <a:xfrm>
              <a:off x="800100" y="4400550"/>
              <a:ext cx="2190750" cy="9525"/>
            </a:xfrm>
            <a:custGeom>
              <a:avLst/>
              <a:gdLst/>
              <a:ahLst/>
              <a:cxnLst/>
              <a:rect l="l" t="t" r="r" b="b"/>
              <a:pathLst>
                <a:path w="2190750" h="9525">
                  <a:moveTo>
                    <a:pt x="0" y="0"/>
                  </a:moveTo>
                  <a:lnTo>
                    <a:pt x="2190750" y="0"/>
                  </a:lnTo>
                </a:path>
              </a:pathLst>
            </a:custGeom>
            <a:noFill/>
            <a:ln w="9525">
              <a:solidFill>
                <a:srgbClr val="D4CDB9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783908" y="4548664"/>
              <a:ext cx="1651635" cy="7543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950"/>
                </a:lnSpc>
              </a:pP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只读接入、传输加密、</a:t>
              </a: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严格隔离，随时可</a:t>
              </a: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撤回。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3371850" y="3257550"/>
            <a:ext cx="2647950" cy="2190750"/>
            <a:chOff x="3371850" y="3257550"/>
            <a:chExt cx="2647950" cy="2190750"/>
          </a:xfrm>
        </p:grpSpPr>
        <p:sp>
          <p:nvSpPr>
            <p:cNvPr id="25" name="Rectangle 25"/>
            <p:cNvSpPr/>
            <p:nvPr/>
          </p:nvSpPr>
          <p:spPr>
            <a:xfrm>
              <a:off x="3371850" y="3257550"/>
              <a:ext cx="2647950" cy="219075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3371850" y="3257550"/>
              <a:ext cx="2647950" cy="38100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grpSp>
          <p:nvGrpSpPr>
            <p:cNvPr id="31" name="Group 31"/>
            <p:cNvGrpSpPr/>
            <p:nvPr/>
          </p:nvGrpSpPr>
          <p:grpSpPr>
            <a:xfrm>
              <a:off x="3648075" y="3533775"/>
              <a:ext cx="285750" cy="285750"/>
              <a:chOff x="3648075" y="3533775"/>
              <a:chExt cx="285750" cy="285750"/>
            </a:xfrm>
          </p:grpSpPr>
          <p:sp>
            <p:nvSpPr>
              <p:cNvPr id="27" name="Freeform 27"/>
              <p:cNvSpPr/>
              <p:nvPr/>
            </p:nvSpPr>
            <p:spPr>
              <a:xfrm>
                <a:off x="3679825" y="3533775"/>
                <a:ext cx="127000" cy="127000"/>
              </a:xfrm>
              <a:custGeom>
                <a:avLst/>
                <a:gdLst/>
                <a:ahLst/>
                <a:cxnLst/>
                <a:rect l="l" t="t" r="r" b="b"/>
                <a:pathLst>
                  <a:path w="127000" h="127000">
                    <a:moveTo>
                      <a:pt x="0" y="63500"/>
                    </a:moveTo>
                    <a:cubicBezTo>
                      <a:pt x="0" y="98570"/>
                      <a:pt x="28430" y="127000"/>
                      <a:pt x="63500" y="127000"/>
                    </a:cubicBezTo>
                    <a:cubicBezTo>
                      <a:pt x="98570" y="127000"/>
                      <a:pt x="127000" y="98570"/>
                      <a:pt x="127000" y="63500"/>
                    </a:cubicBezTo>
                    <a:cubicBezTo>
                      <a:pt x="127000" y="28430"/>
                      <a:pt x="98570" y="0"/>
                      <a:pt x="63500" y="0"/>
                    </a:cubicBezTo>
                    <a:cubicBezTo>
                      <a:pt x="28430" y="0"/>
                      <a:pt x="0" y="28430"/>
                      <a:pt x="0" y="63500"/>
                    </a:cubicBez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3648075" y="3724275"/>
                <a:ext cx="190500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95250">
                    <a:moveTo>
                      <a:pt x="0" y="95250"/>
                    </a:moveTo>
                    <a:lnTo>
                      <a:pt x="0" y="63500"/>
                    </a:lnTo>
                    <a:cubicBezTo>
                      <a:pt x="0" y="28430"/>
                      <a:pt x="28430" y="0"/>
                      <a:pt x="63500" y="0"/>
                    </a:cubicBezTo>
                    <a:lnTo>
                      <a:pt x="127000" y="0"/>
                    </a:lnTo>
                    <a:cubicBezTo>
                      <a:pt x="162070" y="0"/>
                      <a:pt x="190500" y="28430"/>
                      <a:pt x="190500" y="63500"/>
                    </a:cubicBezTo>
                    <a:lnTo>
                      <a:pt x="190500" y="95250"/>
                    </a:ln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3854450" y="3535839"/>
                <a:ext cx="47750" cy="123031"/>
              </a:xfrm>
              <a:custGeom>
                <a:avLst/>
                <a:gdLst/>
                <a:ahLst/>
                <a:cxnLst/>
                <a:rect l="l" t="t" r="r" b="b"/>
                <a:pathLst>
                  <a:path w="47750" h="123031">
                    <a:moveTo>
                      <a:pt x="0" y="0"/>
                    </a:moveTo>
                    <a:cubicBezTo>
                      <a:pt x="28097" y="7194"/>
                      <a:pt x="47750" y="32512"/>
                      <a:pt x="47750" y="61516"/>
                    </a:cubicBezTo>
                    <a:cubicBezTo>
                      <a:pt x="47750" y="90519"/>
                      <a:pt x="28097" y="115837"/>
                      <a:pt x="0" y="123031"/>
                    </a:cubicBez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3886200" y="3726656"/>
                <a:ext cx="47625" cy="92869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92869">
                    <a:moveTo>
                      <a:pt x="47625" y="92869"/>
                    </a:moveTo>
                    <a:lnTo>
                      <a:pt x="47625" y="61119"/>
                    </a:lnTo>
                    <a:cubicBezTo>
                      <a:pt x="47459" y="32299"/>
                      <a:pt x="27905" y="7205"/>
                      <a:pt x="0" y="0"/>
                    </a:cubicBez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</p:grpSp>
        <p:sp>
          <p:nvSpPr>
            <p:cNvPr id="32" name="TextBox 32"/>
            <p:cNvSpPr txBox="1"/>
            <p:nvPr/>
          </p:nvSpPr>
          <p:spPr>
            <a:xfrm>
              <a:off x="3581400" y="4086225"/>
              <a:ext cx="878205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品牌归你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3600450" y="4400550"/>
              <a:ext cx="2190750" cy="9525"/>
            </a:xfrm>
            <a:custGeom>
              <a:avLst/>
              <a:gdLst/>
              <a:ahLst/>
              <a:cxnLst/>
              <a:rect l="l" t="t" r="r" b="b"/>
              <a:pathLst>
                <a:path w="2190750" h="9525">
                  <a:moveTo>
                    <a:pt x="0" y="0"/>
                  </a:moveTo>
                  <a:lnTo>
                    <a:pt x="2190750" y="0"/>
                  </a:lnTo>
                </a:path>
              </a:pathLst>
            </a:custGeom>
            <a:noFill/>
            <a:ln w="9525">
              <a:solidFill>
                <a:srgbClr val="D4CDB9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3584258" y="4548664"/>
              <a:ext cx="1522095" cy="7543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950"/>
                </a:lnSpc>
              </a:pP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客户感受到的是「你</a:t>
              </a: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的 AI 员工」，Agent</a:t>
              </a: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可独立部署。</a:t>
              </a:r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6172200" y="3257550"/>
            <a:ext cx="2647950" cy="2190750"/>
            <a:chOff x="6172200" y="3257550"/>
            <a:chExt cx="2647950" cy="2190750"/>
          </a:xfrm>
        </p:grpSpPr>
        <p:sp>
          <p:nvSpPr>
            <p:cNvPr id="36" name="Rectangle 36"/>
            <p:cNvSpPr/>
            <p:nvPr/>
          </p:nvSpPr>
          <p:spPr>
            <a:xfrm>
              <a:off x="6172200" y="3257550"/>
              <a:ext cx="2647950" cy="219075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6172200" y="3257550"/>
              <a:ext cx="2647950" cy="38100"/>
            </a:xfrm>
            <a:prstGeom prst="rect">
              <a:avLst/>
            </a:prstGeom>
            <a:solidFill>
              <a:srgbClr val="17140D"/>
            </a:solidFill>
            <a:ln>
              <a:noFill/>
            </a:ln>
          </p:spPr>
        </p:sp>
        <p:grpSp>
          <p:nvGrpSpPr>
            <p:cNvPr id="41" name="Group 41"/>
            <p:cNvGrpSpPr/>
            <p:nvPr/>
          </p:nvGrpSpPr>
          <p:grpSpPr>
            <a:xfrm>
              <a:off x="6480175" y="3533775"/>
              <a:ext cx="222250" cy="285750"/>
              <a:chOff x="6480175" y="3533775"/>
              <a:chExt cx="222250" cy="285750"/>
            </a:xfrm>
          </p:grpSpPr>
          <p:sp>
            <p:nvSpPr>
              <p:cNvPr id="38" name="Freeform 38"/>
              <p:cNvSpPr/>
              <p:nvPr/>
            </p:nvSpPr>
            <p:spPr>
              <a:xfrm>
                <a:off x="6480175" y="3660775"/>
                <a:ext cx="222250" cy="158750"/>
              </a:xfrm>
              <a:custGeom>
                <a:avLst/>
                <a:gdLst/>
                <a:ahLst/>
                <a:cxnLst/>
                <a:rect l="l" t="t" r="r" b="b"/>
                <a:pathLst>
                  <a:path w="222250" h="158750">
                    <a:moveTo>
                      <a:pt x="0" y="31750"/>
                    </a:moveTo>
                    <a:cubicBezTo>
                      <a:pt x="0" y="14215"/>
                      <a:pt x="14215" y="0"/>
                      <a:pt x="31750" y="0"/>
                    </a:cubicBezTo>
                    <a:lnTo>
                      <a:pt x="190500" y="0"/>
                    </a:lnTo>
                    <a:cubicBezTo>
                      <a:pt x="208035" y="0"/>
                      <a:pt x="222250" y="14215"/>
                      <a:pt x="222250" y="31750"/>
                    </a:cubicBezTo>
                    <a:lnTo>
                      <a:pt x="222250" y="127000"/>
                    </a:lnTo>
                    <a:cubicBezTo>
                      <a:pt x="222250" y="144535"/>
                      <a:pt x="208035" y="158750"/>
                      <a:pt x="190500" y="158750"/>
                    </a:cubicBezTo>
                    <a:lnTo>
                      <a:pt x="31750" y="158750"/>
                    </a:lnTo>
                    <a:cubicBezTo>
                      <a:pt x="14215" y="158750"/>
                      <a:pt x="0" y="144535"/>
                      <a:pt x="0" y="127000"/>
                    </a:cubicBezTo>
                    <a:lnTo>
                      <a:pt x="0" y="31750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6575425" y="3724275"/>
                <a:ext cx="31750" cy="31750"/>
              </a:xfrm>
              <a:custGeom>
                <a:avLst/>
                <a:gdLst/>
                <a:ahLst/>
                <a:cxnLst/>
                <a:rect l="l" t="t" r="r" b="b"/>
                <a:pathLst>
                  <a:path w="31750" h="31750">
                    <a:moveTo>
                      <a:pt x="0" y="15875"/>
                    </a:moveTo>
                    <a:cubicBezTo>
                      <a:pt x="0" y="24643"/>
                      <a:pt x="7107" y="31750"/>
                      <a:pt x="15875" y="31750"/>
                    </a:cubicBezTo>
                    <a:cubicBezTo>
                      <a:pt x="24643" y="31750"/>
                      <a:pt x="31750" y="24643"/>
                      <a:pt x="31750" y="15875"/>
                    </a:cubicBezTo>
                    <a:cubicBezTo>
                      <a:pt x="31750" y="7107"/>
                      <a:pt x="24643" y="0"/>
                      <a:pt x="15875" y="0"/>
                    </a:cubicBezTo>
                    <a:cubicBezTo>
                      <a:pt x="7107" y="0"/>
                      <a:pt x="0" y="7107"/>
                      <a:pt x="0" y="15875"/>
                    </a:cubicBez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40" name="Freeform 40"/>
              <p:cNvSpPr/>
              <p:nvPr/>
            </p:nvSpPr>
            <p:spPr>
              <a:xfrm>
                <a:off x="6527800" y="3533775"/>
                <a:ext cx="127000" cy="127000"/>
              </a:xfrm>
              <a:custGeom>
                <a:avLst/>
                <a:gdLst/>
                <a:ahLst/>
                <a:cxnLst/>
                <a:rect l="l" t="t" r="r" b="b"/>
                <a:pathLst>
                  <a:path w="127000" h="127000">
                    <a:moveTo>
                      <a:pt x="0" y="127000"/>
                    </a:moveTo>
                    <a:lnTo>
                      <a:pt x="0" y="63500"/>
                    </a:lnTo>
                    <a:cubicBezTo>
                      <a:pt x="0" y="28430"/>
                      <a:pt x="28430" y="0"/>
                      <a:pt x="63500" y="0"/>
                    </a:cubicBezTo>
                    <a:cubicBezTo>
                      <a:pt x="98570" y="0"/>
                      <a:pt x="127000" y="28430"/>
                      <a:pt x="127000" y="63500"/>
                    </a:cubicBezTo>
                    <a:lnTo>
                      <a:pt x="127000" y="127000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</p:grpSp>
        <p:sp>
          <p:nvSpPr>
            <p:cNvPr id="42" name="TextBox 42"/>
            <p:cNvSpPr txBox="1"/>
            <p:nvPr/>
          </p:nvSpPr>
          <p:spPr>
            <a:xfrm>
              <a:off x="6381750" y="4086225"/>
              <a:ext cx="878205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本地脱敏</a:t>
              </a:r>
            </a:p>
          </p:txBody>
        </p:sp>
        <p:sp>
          <p:nvSpPr>
            <p:cNvPr id="43" name="Line 43"/>
            <p:cNvSpPr/>
            <p:nvPr/>
          </p:nvSpPr>
          <p:spPr>
            <a:xfrm>
              <a:off x="6400800" y="4400550"/>
              <a:ext cx="2190750" cy="9525"/>
            </a:xfrm>
            <a:custGeom>
              <a:avLst/>
              <a:gdLst/>
              <a:ahLst/>
              <a:cxnLst/>
              <a:rect l="l" t="t" r="r" b="b"/>
              <a:pathLst>
                <a:path w="2190750" h="9525">
                  <a:moveTo>
                    <a:pt x="0" y="0"/>
                  </a:moveTo>
                  <a:lnTo>
                    <a:pt x="2190750" y="0"/>
                  </a:lnTo>
                </a:path>
              </a:pathLst>
            </a:custGeom>
            <a:noFill/>
            <a:ln w="9525">
              <a:solidFill>
                <a:srgbClr val="D4CDB9"/>
              </a:solidFill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384608" y="4548664"/>
              <a:ext cx="1489710" cy="7543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950"/>
                </a:lnSpc>
              </a:pP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敏感信息在本地就地</a:t>
              </a: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脱敏，原文不出你的</a:t>
              </a: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设备。</a:t>
              </a:r>
            </a:p>
          </p:txBody>
        </p:sp>
      </p:grpSp>
      <p:grpSp>
        <p:nvGrpSpPr>
          <p:cNvPr id="56" name="Group 56"/>
          <p:cNvGrpSpPr/>
          <p:nvPr/>
        </p:nvGrpSpPr>
        <p:grpSpPr>
          <a:xfrm>
            <a:off x="8972550" y="3257550"/>
            <a:ext cx="2647950" cy="2190750"/>
            <a:chOff x="8972550" y="3257550"/>
            <a:chExt cx="2647950" cy="2190750"/>
          </a:xfrm>
        </p:grpSpPr>
        <p:sp>
          <p:nvSpPr>
            <p:cNvPr id="46" name="Rectangle 46"/>
            <p:cNvSpPr/>
            <p:nvPr/>
          </p:nvSpPr>
          <p:spPr>
            <a:xfrm>
              <a:off x="8972550" y="3257550"/>
              <a:ext cx="2647950" cy="2190750"/>
            </a:xfrm>
            <a:prstGeom prst="rect">
              <a:avLst/>
            </a:prstGeom>
            <a:solidFill>
              <a:srgbClr val="FFFDF8"/>
            </a:solidFill>
            <a:ln w="19050">
              <a:solidFill>
                <a:srgbClr val="C4471F"/>
              </a:solidFill>
            </a:ln>
          </p:spPr>
        </p:sp>
        <p:sp>
          <p:nvSpPr>
            <p:cNvPr id="47" name="Rectangle 47"/>
            <p:cNvSpPr/>
            <p:nvPr/>
          </p:nvSpPr>
          <p:spPr>
            <a:xfrm>
              <a:off x="8972550" y="3257550"/>
              <a:ext cx="2647950" cy="38100"/>
            </a:xfrm>
            <a:prstGeom prst="rect">
              <a:avLst/>
            </a:prstGeom>
            <a:solidFill>
              <a:srgbClr val="B8552E"/>
            </a:solidFill>
            <a:ln>
              <a:noFill/>
            </a:ln>
          </p:spPr>
        </p:sp>
        <p:grpSp>
          <p:nvGrpSpPr>
            <p:cNvPr id="52" name="Group 52"/>
            <p:cNvGrpSpPr/>
            <p:nvPr/>
          </p:nvGrpSpPr>
          <p:grpSpPr>
            <a:xfrm>
              <a:off x="9264650" y="3581400"/>
              <a:ext cx="269875" cy="222250"/>
              <a:chOff x="9264650" y="3581400"/>
              <a:chExt cx="269875" cy="222250"/>
            </a:xfrm>
          </p:grpSpPr>
          <p:sp>
            <p:nvSpPr>
              <p:cNvPr id="48" name="Freeform 48"/>
              <p:cNvSpPr/>
              <p:nvPr/>
            </p:nvSpPr>
            <p:spPr>
              <a:xfrm>
                <a:off x="9264650" y="3581400"/>
                <a:ext cx="2540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54000" h="9525">
                    <a:moveTo>
                      <a:pt x="0" y="0"/>
                    </a:moveTo>
                    <a:lnTo>
                      <a:pt x="254000" y="0"/>
                    </a:lnTo>
                  </a:path>
                </a:pathLst>
              </a:custGeom>
              <a:noFill/>
              <a:ln w="19050">
                <a:solidFill>
                  <a:srgbClr val="B8552E"/>
                </a:solidFill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9296400" y="3676650"/>
                <a:ext cx="1905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9525">
                    <a:moveTo>
                      <a:pt x="0" y="0"/>
                    </a:moveTo>
                    <a:lnTo>
                      <a:pt x="190500" y="0"/>
                    </a:lnTo>
                  </a:path>
                </a:pathLst>
              </a:custGeom>
              <a:noFill/>
              <a:ln w="19050">
                <a:solidFill>
                  <a:srgbClr val="B8552E"/>
                </a:solidFill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9344025" y="3771900"/>
                <a:ext cx="317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1750" h="9525">
                    <a:moveTo>
                      <a:pt x="0" y="0"/>
                    </a:moveTo>
                    <a:lnTo>
                      <a:pt x="31750" y="0"/>
                    </a:lnTo>
                  </a:path>
                </a:pathLst>
              </a:custGeom>
              <a:noFill/>
              <a:ln w="19050">
                <a:solidFill>
                  <a:srgbClr val="B8552E"/>
                </a:solidFill>
              </a:ln>
            </p:spPr>
          </p:sp>
          <p:sp>
            <p:nvSpPr>
              <p:cNvPr id="51" name="Freeform 51"/>
              <p:cNvSpPr/>
              <p:nvPr/>
            </p:nvSpPr>
            <p:spPr>
              <a:xfrm>
                <a:off x="9439275" y="3740150"/>
                <a:ext cx="9525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63500">
                    <a:moveTo>
                      <a:pt x="0" y="31750"/>
                    </a:moveTo>
                    <a:lnTo>
                      <a:pt x="31750" y="63500"/>
                    </a:lnTo>
                    <a:lnTo>
                      <a:pt x="95250" y="0"/>
                    </a:lnTo>
                  </a:path>
                </a:pathLst>
              </a:custGeom>
              <a:noFill/>
              <a:ln w="19050">
                <a:solidFill>
                  <a:srgbClr val="B8552E"/>
                </a:solidFill>
              </a:ln>
            </p:spPr>
          </p:sp>
        </p:grpSp>
        <p:sp>
          <p:nvSpPr>
            <p:cNvPr id="53" name="TextBox 53"/>
            <p:cNvSpPr txBox="1"/>
            <p:nvPr/>
          </p:nvSpPr>
          <p:spPr>
            <a:xfrm>
              <a:off x="9182100" y="4086225"/>
              <a:ext cx="1928336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B8552E"/>
                  </a:solidFill>
                  <a:latin typeface="Arial"/>
                  <a:ea typeface="Microsoft YaHei"/>
                  <a:cs typeface="Arial"/>
                </a:rPr>
                <a:t>只学模式，不学数据</a:t>
              </a:r>
            </a:p>
          </p:txBody>
        </p:sp>
        <p:sp>
          <p:nvSpPr>
            <p:cNvPr id="54" name="Line 54"/>
            <p:cNvSpPr/>
            <p:nvPr/>
          </p:nvSpPr>
          <p:spPr>
            <a:xfrm>
              <a:off x="9201150" y="4400550"/>
              <a:ext cx="2190750" cy="9525"/>
            </a:xfrm>
            <a:custGeom>
              <a:avLst/>
              <a:gdLst/>
              <a:ahLst/>
              <a:cxnLst/>
              <a:rect l="l" t="t" r="r" b="b"/>
              <a:pathLst>
                <a:path w="2190750" h="9525">
                  <a:moveTo>
                    <a:pt x="0" y="0"/>
                  </a:moveTo>
                  <a:lnTo>
                    <a:pt x="2190750" y="0"/>
                  </a:lnTo>
                </a:path>
              </a:pathLst>
            </a:custGeom>
            <a:noFill/>
            <a:ln w="9525">
              <a:solidFill>
                <a:srgbClr val="D4CDB9"/>
              </a:solidFill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9184958" y="4548664"/>
              <a:ext cx="1489710" cy="7543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950"/>
                </a:lnSpc>
              </a:pP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蒸馏的是判断模式而</a:t>
              </a: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非原始数据，金融 /</a:t>
              </a: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信创环境可适配。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571500" y="5638800"/>
            <a:ext cx="11049000" cy="564356"/>
            <a:chOff x="571500" y="5638800"/>
            <a:chExt cx="11049000" cy="564356"/>
          </a:xfrm>
        </p:grpSpPr>
        <p:sp>
          <p:nvSpPr>
            <p:cNvPr id="57" name="Rectangle 57"/>
            <p:cNvSpPr/>
            <p:nvPr/>
          </p:nvSpPr>
          <p:spPr>
            <a:xfrm>
              <a:off x="571500" y="5638800"/>
              <a:ext cx="11049000" cy="533400"/>
            </a:xfrm>
            <a:prstGeom prst="rect">
              <a:avLst/>
            </a:prstGeom>
            <a:solidFill>
              <a:srgbClr val="F6E7DD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781050" y="5743575"/>
              <a:ext cx="9459278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第四条是这一页的</a:t>
              </a:r>
              <a:r>
                <a:rPr lang="zh-CN" sz="1500" b="1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技术承诺</a:t>
              </a: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：它声称蒸馏出来的是「怎么判断」的模式，而不是你的客户名单和聊天原文——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785812" y="5974556"/>
              <a:ext cx="602932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这也是它敢进金融、信创环境的前提。真要签约，这条值得让你的法务和安全团队重点核。</a:t>
              </a:r>
            </a:p>
          </p:txBody>
        </p:sp>
      </p:grpSp>
      <p:grpSp>
        <p:nvGrpSpPr>
          <p:cNvPr id="65" name="Group 65"/>
          <p:cNvGrpSpPr/>
          <p:nvPr/>
        </p:nvGrpSpPr>
        <p:grpSpPr>
          <a:xfrm>
            <a:off x="571500" y="6438900"/>
            <a:ext cx="11060430" cy="304800"/>
            <a:chOff x="571500" y="6438900"/>
            <a:chExt cx="11060430" cy="304800"/>
          </a:xfrm>
        </p:grpSpPr>
        <p:sp>
          <p:nvSpPr>
            <p:cNvPr id="61" name="Line 61"/>
            <p:cNvSpPr/>
            <p:nvPr/>
          </p:nvSpPr>
          <p:spPr>
            <a:xfrm>
              <a:off x="571500" y="64389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ECE7DA"/>
              </a:solidFill>
            </a:ln>
          </p:spPr>
        </p:sp>
        <p:pic>
          <p:nvPicPr>
            <p:cNvPr id="62" name="Image 62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71500" y="6517891"/>
              <a:ext cx="190500" cy="184919"/>
            </a:xfrm>
            <a:prstGeom prst="rect">
              <a:avLst/>
            </a:prstGeom>
          </p:spPr>
        </p:pic>
        <p:sp>
          <p:nvSpPr>
            <p:cNvPr id="63" name="TextBox 63"/>
            <p:cNvSpPr txBox="1"/>
            <p:nvPr/>
          </p:nvSpPr>
          <p:spPr>
            <a:xfrm>
              <a:off x="845820" y="6560820"/>
              <a:ext cx="148104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openfde.net · /products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11207020" y="6560820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21 / 26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5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9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0"/>
                            </p:stCondLst>
                            <p:childTnLst>
                              <p:par>
                                <p:cTn id="2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4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5" grpId="0"/>
      <p:bldP spid="24" grpId="0"/>
      <p:bldP spid="35" grpId="0"/>
      <p:bldP spid="45" grpId="0"/>
      <p:bldP spid="56" grpId="0"/>
      <p:bldP spid="60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</p:sp>
      <p:grpSp>
        <p:nvGrpSpPr>
          <p:cNvPr id="8" name="Group 8"/>
          <p:cNvGrpSpPr/>
          <p:nvPr/>
        </p:nvGrpSpPr>
        <p:grpSpPr>
          <a:xfrm>
            <a:off x="539115" y="571500"/>
            <a:ext cx="11095673" cy="909638"/>
            <a:chOff x="539115" y="571500"/>
            <a:chExt cx="11095673" cy="909638"/>
          </a:xfrm>
        </p:grpSpPr>
        <p:sp>
          <p:nvSpPr>
            <p:cNvPr id="3" name="Rectangle 3"/>
            <p:cNvSpPr/>
            <p:nvPr/>
          </p:nvSpPr>
          <p:spPr>
            <a:xfrm>
              <a:off x="571500" y="571500"/>
              <a:ext cx="381000" cy="28575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557212" y="735806"/>
              <a:ext cx="146988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商业层 · 服务与定价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39115" y="962978"/>
              <a:ext cx="4706350" cy="518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四种合作方式，一条定价原则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9055894" y="1078706"/>
              <a:ext cx="257889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入口很低，但结算跟你的业务结果绑死</a:t>
              </a:r>
            </a:p>
          </p:txBody>
        </p:sp>
        <p:sp>
          <p:nvSpPr>
            <p:cNvPr id="7" name="Line 7"/>
            <p:cNvSpPr/>
            <p:nvPr/>
          </p:nvSpPr>
          <p:spPr>
            <a:xfrm>
              <a:off x="571500" y="14478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14288">
              <a:solidFill>
                <a:srgbClr val="D4CDB9"/>
              </a:solidFill>
            </a:ln>
          </p:spPr>
        </p:sp>
      </p:grpSp>
      <p:grpSp>
        <p:nvGrpSpPr>
          <p:cNvPr id="24" name="Group 24"/>
          <p:cNvGrpSpPr/>
          <p:nvPr/>
        </p:nvGrpSpPr>
        <p:grpSpPr>
          <a:xfrm>
            <a:off x="571500" y="1676400"/>
            <a:ext cx="3396113" cy="3905250"/>
            <a:chOff x="571500" y="1676400"/>
            <a:chExt cx="3396113" cy="3905250"/>
          </a:xfrm>
        </p:grpSpPr>
        <p:sp>
          <p:nvSpPr>
            <p:cNvPr id="9" name="Rectangle 9"/>
            <p:cNvSpPr/>
            <p:nvPr/>
          </p:nvSpPr>
          <p:spPr>
            <a:xfrm>
              <a:off x="571500" y="1676400"/>
              <a:ext cx="2619375" cy="3905250"/>
            </a:xfrm>
            <a:prstGeom prst="rect">
              <a:avLst/>
            </a:prstGeom>
            <a:solidFill>
              <a:srgbClr val="FFFDF8"/>
            </a:solidFill>
            <a:ln w="19050">
              <a:solidFill>
                <a:srgbClr val="C4471F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71500" y="1676400"/>
              <a:ext cx="2619375" cy="723900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749618" y="1818799"/>
              <a:ext cx="1084397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F6E7DD"/>
                  </a:solidFill>
                  <a:latin typeface="Arial"/>
                  <a:ea typeface="Microsoft YaHei"/>
                  <a:cs typeface="Arial"/>
                </a:rPr>
                <a:t>灵活用工 · 主入口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41045" y="2050732"/>
              <a:ext cx="1416532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7F5EF"/>
                  </a:solidFill>
                  <a:latin typeface="Georgia"/>
                  <a:ea typeface="KaiTi"/>
                  <a:cs typeface="Georgia"/>
                </a:rPr>
                <a:t>FDE 驻场诊断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71500" y="2400300"/>
              <a:ext cx="2619375" cy="495300"/>
            </a:xfrm>
            <a:prstGeom prst="rect">
              <a:avLst/>
            </a:prstGeom>
            <a:solidFill>
              <a:srgbClr val="F6E7DD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737235" y="2513648"/>
              <a:ext cx="3230378" cy="396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C4471F"/>
                  </a:solidFill>
                  <a:latin typeface="Georgia"/>
                  <a:ea typeface="KaiTi"/>
                  <a:cs typeface="Georgia"/>
                </a:rPr>
                <a:t>2000 元</a:t>
              </a:r>
              <a:r>
                <a:rPr lang="zh-CN" sz="112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/ 月起 基础服务费</a:t>
              </a:r>
            </a:p>
          </p:txBody>
        </p:sp>
        <p:grpSp>
          <p:nvGrpSpPr>
            <p:cNvPr id="19" name="Group 19"/>
            <p:cNvGrpSpPr/>
            <p:nvPr/>
          </p:nvGrpSpPr>
          <p:grpSpPr>
            <a:xfrm>
              <a:off x="797719" y="3102769"/>
              <a:ext cx="214313" cy="214313"/>
              <a:chOff x="797719" y="3102769"/>
              <a:chExt cx="214313" cy="214313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821531" y="3102769"/>
                <a:ext cx="95250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95250">
                    <a:moveTo>
                      <a:pt x="0" y="47625"/>
                    </a:moveTo>
                    <a:cubicBezTo>
                      <a:pt x="0" y="73928"/>
                      <a:pt x="21322" y="95250"/>
                      <a:pt x="47625" y="95250"/>
                    </a:cubicBezTo>
                    <a:cubicBezTo>
                      <a:pt x="73928" y="95250"/>
                      <a:pt x="95250" y="73928"/>
                      <a:pt x="95250" y="47625"/>
                    </a:cubicBezTo>
                    <a:cubicBezTo>
                      <a:pt x="95250" y="21322"/>
                      <a:pt x="73928" y="0"/>
                      <a:pt x="47625" y="0"/>
                    </a:cubicBezTo>
                    <a:cubicBezTo>
                      <a:pt x="21322" y="0"/>
                      <a:pt x="0" y="21322"/>
                      <a:pt x="0" y="47625"/>
                    </a:cubicBez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  <p:sp>
            <p:nvSpPr>
              <p:cNvPr id="16" name="Freeform 16"/>
              <p:cNvSpPr/>
              <p:nvPr/>
            </p:nvSpPr>
            <p:spPr>
              <a:xfrm>
                <a:off x="797719" y="3245644"/>
                <a:ext cx="142875" cy="71438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71438">
                    <a:moveTo>
                      <a:pt x="0" y="71438"/>
                    </a:moveTo>
                    <a:lnTo>
                      <a:pt x="0" y="47625"/>
                    </a:lnTo>
                    <a:cubicBezTo>
                      <a:pt x="0" y="21322"/>
                      <a:pt x="21322" y="0"/>
                      <a:pt x="47625" y="0"/>
                    </a:cubicBezTo>
                    <a:lnTo>
                      <a:pt x="95250" y="0"/>
                    </a:lnTo>
                    <a:cubicBezTo>
                      <a:pt x="121553" y="0"/>
                      <a:pt x="142875" y="21322"/>
                      <a:pt x="142875" y="47625"/>
                    </a:cubicBezTo>
                    <a:lnTo>
                      <a:pt x="142875" y="71438"/>
                    </a:ln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  <p:sp>
            <p:nvSpPr>
              <p:cNvPr id="17" name="Freeform 17"/>
              <p:cNvSpPr/>
              <p:nvPr/>
            </p:nvSpPr>
            <p:spPr>
              <a:xfrm>
                <a:off x="952500" y="3104317"/>
                <a:ext cx="35812" cy="92273"/>
              </a:xfrm>
              <a:custGeom>
                <a:avLst/>
                <a:gdLst/>
                <a:ahLst/>
                <a:cxnLst/>
                <a:rect l="l" t="t" r="r" b="b"/>
                <a:pathLst>
                  <a:path w="35812" h="92273">
                    <a:moveTo>
                      <a:pt x="0" y="0"/>
                    </a:moveTo>
                    <a:cubicBezTo>
                      <a:pt x="21073" y="5396"/>
                      <a:pt x="35812" y="24384"/>
                      <a:pt x="35812" y="46137"/>
                    </a:cubicBezTo>
                    <a:cubicBezTo>
                      <a:pt x="35812" y="67890"/>
                      <a:pt x="21073" y="86878"/>
                      <a:pt x="0" y="92273"/>
                    </a:cubicBez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  <p:sp>
            <p:nvSpPr>
              <p:cNvPr id="18" name="Freeform 18"/>
              <p:cNvSpPr/>
              <p:nvPr/>
            </p:nvSpPr>
            <p:spPr>
              <a:xfrm>
                <a:off x="976313" y="3247430"/>
                <a:ext cx="35719" cy="69652"/>
              </a:xfrm>
              <a:custGeom>
                <a:avLst/>
                <a:gdLst/>
                <a:ahLst/>
                <a:cxnLst/>
                <a:rect l="l" t="t" r="r" b="b"/>
                <a:pathLst>
                  <a:path w="35719" h="69652">
                    <a:moveTo>
                      <a:pt x="35719" y="69652"/>
                    </a:moveTo>
                    <a:lnTo>
                      <a:pt x="35719" y="45839"/>
                    </a:lnTo>
                    <a:cubicBezTo>
                      <a:pt x="35594" y="24224"/>
                      <a:pt x="20929" y="5403"/>
                      <a:pt x="0" y="0"/>
                    </a:cubicBez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</p:grpSp>
        <p:sp>
          <p:nvSpPr>
            <p:cNvPr id="20" name="TextBox 20"/>
            <p:cNvSpPr txBox="1"/>
            <p:nvPr/>
          </p:nvSpPr>
          <p:spPr>
            <a:xfrm>
              <a:off x="747712" y="3555206"/>
              <a:ext cx="1485900" cy="4381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650"/>
                </a:lnSpc>
              </a:pP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2–3 人 FDE 特种兵小队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先进场诊断业务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47712" y="4126706"/>
              <a:ext cx="1457325" cy="4381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650"/>
                </a:lnSpc>
              </a:pP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先诊断流程、系统与数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据，再决定要不要立项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47712" y="4698206"/>
              <a:ext cx="1493044" cy="4381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650"/>
                </a:lnSpc>
              </a:pP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按项目匹配 FDE 与行业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专家，对结果负责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47712" y="5212556"/>
              <a:ext cx="160377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+ 成果奖金 · 项目提成</a:t>
              </a:r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3381375" y="1676400"/>
            <a:ext cx="3041168" cy="3905250"/>
            <a:chOff x="3381375" y="1676400"/>
            <a:chExt cx="3041168" cy="3905250"/>
          </a:xfrm>
        </p:grpSpPr>
        <p:sp>
          <p:nvSpPr>
            <p:cNvPr id="25" name="Rectangle 25"/>
            <p:cNvSpPr/>
            <p:nvPr/>
          </p:nvSpPr>
          <p:spPr>
            <a:xfrm>
              <a:off x="3381375" y="1676400"/>
              <a:ext cx="2619375" cy="390525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3381375" y="1676400"/>
              <a:ext cx="2619375" cy="723900"/>
            </a:xfrm>
            <a:prstGeom prst="rect">
              <a:avLst/>
            </a:prstGeom>
            <a:solidFill>
              <a:srgbClr val="17140D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3559492" y="1818799"/>
              <a:ext cx="54483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EFEBE0"/>
                  </a:solidFill>
                  <a:latin typeface="Arial"/>
                  <a:ea typeface="Microsoft YaHei"/>
                  <a:cs typeface="Arial"/>
                </a:rPr>
                <a:t>人机协同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3550920" y="2050732"/>
              <a:ext cx="1324120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7F5EF"/>
                  </a:solidFill>
                  <a:latin typeface="Georgia"/>
                  <a:ea typeface="KaiTi"/>
                  <a:cs typeface="Georgia"/>
                </a:rPr>
                <a:t>FDE + Agent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3381375" y="2400300"/>
              <a:ext cx="2619375" cy="495300"/>
            </a:xfrm>
            <a:prstGeom prst="rect">
              <a:avLst/>
            </a:prstGeom>
            <a:solidFill>
              <a:srgbClr val="EFEBE0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3547110" y="2513648"/>
              <a:ext cx="2875433" cy="396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20 → 10</a:t>
              </a:r>
              <a:r>
                <a:rPr lang="zh-CN" sz="112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人天（第二家）</a:t>
              </a:r>
            </a:p>
          </p:txBody>
        </p:sp>
        <p:grpSp>
          <p:nvGrpSpPr>
            <p:cNvPr id="40" name="Group 40"/>
            <p:cNvGrpSpPr/>
            <p:nvPr/>
          </p:nvGrpSpPr>
          <p:grpSpPr>
            <a:xfrm>
              <a:off x="3631406" y="3090862"/>
              <a:ext cx="166688" cy="226219"/>
              <a:chOff x="3631406" y="3090862"/>
              <a:chExt cx="166688" cy="226219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3643312" y="3114675"/>
                <a:ext cx="142875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95250">
                    <a:moveTo>
                      <a:pt x="0" y="23812"/>
                    </a:moveTo>
                    <a:cubicBezTo>
                      <a:pt x="0" y="10661"/>
                      <a:pt x="10661" y="0"/>
                      <a:pt x="23812" y="0"/>
                    </a:cubicBezTo>
                    <a:lnTo>
                      <a:pt x="119062" y="0"/>
                    </a:lnTo>
                    <a:cubicBezTo>
                      <a:pt x="132214" y="0"/>
                      <a:pt x="142875" y="10661"/>
                      <a:pt x="142875" y="23812"/>
                    </a:cubicBezTo>
                    <a:lnTo>
                      <a:pt x="142875" y="71438"/>
                    </a:lnTo>
                    <a:cubicBezTo>
                      <a:pt x="142875" y="84589"/>
                      <a:pt x="132214" y="95250"/>
                      <a:pt x="119062" y="95250"/>
                    </a:cubicBezTo>
                    <a:lnTo>
                      <a:pt x="23812" y="95250"/>
                    </a:lnTo>
                    <a:cubicBezTo>
                      <a:pt x="10661" y="95250"/>
                      <a:pt x="0" y="84589"/>
                      <a:pt x="0" y="71438"/>
                    </a:cubicBezTo>
                    <a:lnTo>
                      <a:pt x="0" y="23812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3714750" y="3090862"/>
                <a:ext cx="9525" cy="23812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3812">
                    <a:moveTo>
                      <a:pt x="0" y="0"/>
                    </a:moveTo>
                    <a:lnTo>
                      <a:pt x="0" y="23812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3679031" y="3209925"/>
                <a:ext cx="9525" cy="107156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7156">
                    <a:moveTo>
                      <a:pt x="0" y="0"/>
                    </a:moveTo>
                    <a:lnTo>
                      <a:pt x="0" y="107156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3750469" y="3209925"/>
                <a:ext cx="9525" cy="107156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7156">
                    <a:moveTo>
                      <a:pt x="0" y="0"/>
                    </a:moveTo>
                    <a:lnTo>
                      <a:pt x="0" y="107156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3631406" y="3233738"/>
                <a:ext cx="47625" cy="23812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23812">
                    <a:moveTo>
                      <a:pt x="0" y="23812"/>
                    </a:moveTo>
                    <a:lnTo>
                      <a:pt x="47625" y="0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3750469" y="3233738"/>
                <a:ext cx="47625" cy="23812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23812">
                    <a:moveTo>
                      <a:pt x="0" y="0"/>
                    </a:moveTo>
                    <a:lnTo>
                      <a:pt x="47625" y="23812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3679031" y="3281362"/>
                <a:ext cx="7143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71438" h="9525">
                    <a:moveTo>
                      <a:pt x="0" y="0"/>
                    </a:moveTo>
                    <a:lnTo>
                      <a:pt x="71438" y="0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3690938" y="31623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119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3738562" y="31623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119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</p:grpSp>
        <p:sp>
          <p:nvSpPr>
            <p:cNvPr id="41" name="TextBox 41"/>
            <p:cNvSpPr txBox="1"/>
            <p:nvPr/>
          </p:nvSpPr>
          <p:spPr>
            <a:xfrm>
              <a:off x="3557588" y="3555206"/>
              <a:ext cx="1493044" cy="4381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650"/>
                </a:lnSpc>
              </a:pP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FDE 带着 FDE Agent 进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场，Agent 跟学与执行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3557588" y="4126706"/>
              <a:ext cx="1485900" cy="4381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650"/>
                </a:lnSpc>
              </a:pP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三段演进：FDE 先行 →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人机协同 → Agent 驻场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3557588" y="4698206"/>
              <a:ext cx="1457325" cy="4381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650"/>
                </a:lnSpc>
              </a:pP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人只处理判断与高价值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例外，标准任务交机器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3557588" y="5212556"/>
              <a:ext cx="191881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越交付越快，越交付越便宜</a:t>
              </a:r>
            </a:p>
          </p:txBody>
        </p:sp>
      </p:grpSp>
      <p:grpSp>
        <p:nvGrpSpPr>
          <p:cNvPr id="63" name="Group 63"/>
          <p:cNvGrpSpPr/>
          <p:nvPr/>
        </p:nvGrpSpPr>
        <p:grpSpPr>
          <a:xfrm>
            <a:off x="6191250" y="1676400"/>
            <a:ext cx="3134749" cy="3905250"/>
            <a:chOff x="6191250" y="1676400"/>
            <a:chExt cx="3134749" cy="3905250"/>
          </a:xfrm>
        </p:grpSpPr>
        <p:sp>
          <p:nvSpPr>
            <p:cNvPr id="46" name="Rectangle 46"/>
            <p:cNvSpPr/>
            <p:nvPr/>
          </p:nvSpPr>
          <p:spPr>
            <a:xfrm>
              <a:off x="6191250" y="1676400"/>
              <a:ext cx="2619375" cy="390525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47" name="Rectangle 47"/>
            <p:cNvSpPr/>
            <p:nvPr/>
          </p:nvSpPr>
          <p:spPr>
            <a:xfrm>
              <a:off x="6191250" y="1676400"/>
              <a:ext cx="2619375" cy="723900"/>
            </a:xfrm>
            <a:prstGeom prst="rect">
              <a:avLst/>
            </a:prstGeom>
            <a:solidFill>
              <a:srgbClr val="17140D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6369368" y="1818799"/>
              <a:ext cx="934879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EFEBE0"/>
                  </a:solidFill>
                  <a:latin typeface="Arial"/>
                  <a:ea typeface="Microsoft YaHei"/>
                  <a:cs typeface="Arial"/>
                </a:rPr>
                <a:t>企业实战工作坊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6360795" y="2050732"/>
              <a:ext cx="1555149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7F5EF"/>
                  </a:solidFill>
                  <a:latin typeface="Georgia"/>
                  <a:ea typeface="KaiTi"/>
                  <a:cs typeface="Georgia"/>
                </a:rPr>
                <a:t>FDE Workshop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6191250" y="2400300"/>
              <a:ext cx="2619375" cy="495300"/>
            </a:xfrm>
            <a:prstGeom prst="rect">
              <a:avLst/>
            </a:prstGeom>
            <a:solidFill>
              <a:srgbClr val="EFEBE0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6367462" y="2507456"/>
              <a:ext cx="113121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按团队规模分档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6369368" y="2714149"/>
              <a:ext cx="2956631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≤20 小队 / 21–50 部门 / 51–100 公司 / 100+ 陪跑</a:t>
              </a:r>
            </a:p>
          </p:txBody>
        </p:sp>
        <p:grpSp>
          <p:nvGrpSpPr>
            <p:cNvPr id="58" name="Group 58"/>
            <p:cNvGrpSpPr/>
            <p:nvPr/>
          </p:nvGrpSpPr>
          <p:grpSpPr>
            <a:xfrm>
              <a:off x="6417469" y="3114675"/>
              <a:ext cx="214312" cy="200025"/>
              <a:chOff x="6417469" y="3114675"/>
              <a:chExt cx="214312" cy="200025"/>
            </a:xfrm>
          </p:grpSpPr>
          <p:sp>
            <p:nvSpPr>
              <p:cNvPr id="53" name="Freeform 53"/>
              <p:cNvSpPr/>
              <p:nvPr/>
            </p:nvSpPr>
            <p:spPr>
              <a:xfrm>
                <a:off x="6417469" y="3114675"/>
                <a:ext cx="21431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14312" h="9525">
                    <a:moveTo>
                      <a:pt x="0" y="0"/>
                    </a:moveTo>
                    <a:lnTo>
                      <a:pt x="214312" y="0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54" name="Freeform 54"/>
              <p:cNvSpPr/>
              <p:nvPr/>
            </p:nvSpPr>
            <p:spPr>
              <a:xfrm>
                <a:off x="6429375" y="3114675"/>
                <a:ext cx="190500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142875">
                    <a:moveTo>
                      <a:pt x="0" y="0"/>
                    </a:moveTo>
                    <a:lnTo>
                      <a:pt x="0" y="119062"/>
                    </a:lnTo>
                    <a:cubicBezTo>
                      <a:pt x="0" y="132214"/>
                      <a:pt x="10661" y="142875"/>
                      <a:pt x="23812" y="142875"/>
                    </a:cubicBezTo>
                    <a:lnTo>
                      <a:pt x="166688" y="142875"/>
                    </a:lnTo>
                    <a:cubicBezTo>
                      <a:pt x="179839" y="142875"/>
                      <a:pt x="190500" y="132214"/>
                      <a:pt x="190500" y="119062"/>
                    </a:cubicBezTo>
                    <a:lnTo>
                      <a:pt x="190500" y="0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55" name="Freeform 55"/>
              <p:cNvSpPr/>
              <p:nvPr/>
            </p:nvSpPr>
            <p:spPr>
              <a:xfrm>
                <a:off x="6524625" y="3257550"/>
                <a:ext cx="95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7625">
                    <a:moveTo>
                      <a:pt x="0" y="0"/>
                    </a:moveTo>
                    <a:lnTo>
                      <a:pt x="0" y="47625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56" name="Freeform 56"/>
              <p:cNvSpPr/>
              <p:nvPr/>
            </p:nvSpPr>
            <p:spPr>
              <a:xfrm>
                <a:off x="6488906" y="3305175"/>
                <a:ext cx="7143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71438" h="9525">
                    <a:moveTo>
                      <a:pt x="0" y="0"/>
                    </a:moveTo>
                    <a:lnTo>
                      <a:pt x="71438" y="0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57" name="Freeform 57"/>
              <p:cNvSpPr/>
              <p:nvPr/>
            </p:nvSpPr>
            <p:spPr>
              <a:xfrm>
                <a:off x="6477000" y="3162300"/>
                <a:ext cx="95250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47625">
                    <a:moveTo>
                      <a:pt x="0" y="47625"/>
                    </a:moveTo>
                    <a:lnTo>
                      <a:pt x="35719" y="11906"/>
                    </a:lnTo>
                    <a:lnTo>
                      <a:pt x="59531" y="35719"/>
                    </a:lnTo>
                    <a:lnTo>
                      <a:pt x="95250" y="0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</p:grpSp>
        <p:sp>
          <p:nvSpPr>
            <p:cNvPr id="59" name="TextBox 59"/>
            <p:cNvSpPr txBox="1"/>
            <p:nvPr/>
          </p:nvSpPr>
          <p:spPr>
            <a:xfrm>
              <a:off x="6367462" y="3555206"/>
              <a:ext cx="1435894" cy="4381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650"/>
                </a:lnSpc>
              </a:pP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① 诊断：产出用例优先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级地图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6367462" y="4126706"/>
              <a:ext cx="1435894" cy="4381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650"/>
                </a:lnSpc>
              </a:pP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② 拆解：把用例拆成可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上线的 MVP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6367462" y="4698206"/>
              <a:ext cx="1435894" cy="4381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650"/>
                </a:lnSpc>
              </a:pP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③ 交付：一周内在真实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业务上线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6367462" y="5212556"/>
              <a:ext cx="205270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④ 留下自运转机制，不是课件</a:t>
              </a:r>
            </a:p>
          </p:txBody>
        </p:sp>
      </p:grpSp>
      <p:grpSp>
        <p:nvGrpSpPr>
          <p:cNvPr id="78" name="Group 78"/>
          <p:cNvGrpSpPr/>
          <p:nvPr/>
        </p:nvGrpSpPr>
        <p:grpSpPr>
          <a:xfrm>
            <a:off x="9001125" y="1676400"/>
            <a:ext cx="2619375" cy="3905250"/>
            <a:chOff x="9001125" y="1676400"/>
            <a:chExt cx="2619375" cy="3905250"/>
          </a:xfrm>
        </p:grpSpPr>
        <p:sp>
          <p:nvSpPr>
            <p:cNvPr id="64" name="Rectangle 64"/>
            <p:cNvSpPr/>
            <p:nvPr/>
          </p:nvSpPr>
          <p:spPr>
            <a:xfrm>
              <a:off x="9001125" y="1676400"/>
              <a:ext cx="2619375" cy="390525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65" name="Rectangle 65"/>
            <p:cNvSpPr/>
            <p:nvPr/>
          </p:nvSpPr>
          <p:spPr>
            <a:xfrm>
              <a:off x="9001125" y="1676400"/>
              <a:ext cx="2619375" cy="723900"/>
            </a:xfrm>
            <a:prstGeom prst="rect">
              <a:avLst/>
            </a:prstGeom>
            <a:solidFill>
              <a:srgbClr val="B8552E"/>
            </a:solidFill>
            <a:ln>
              <a:noFill/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9179242" y="1818799"/>
              <a:ext cx="54483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F6E7DD"/>
                  </a:solidFill>
                  <a:latin typeface="Arial"/>
                  <a:ea typeface="Microsoft YaHei"/>
                  <a:cs typeface="Arial"/>
                </a:rPr>
                <a:t>快速起步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9170670" y="2050732"/>
              <a:ext cx="1693766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7F5EF"/>
                  </a:solidFill>
                  <a:latin typeface="Georgia"/>
                  <a:ea typeface="KaiTi"/>
                  <a:cs typeface="Georgia"/>
                </a:rPr>
                <a:t>AI 赋能轻量方案</a:t>
              </a:r>
            </a:p>
          </p:txBody>
        </p:sp>
        <p:sp>
          <p:nvSpPr>
            <p:cNvPr id="68" name="Rectangle 68"/>
            <p:cNvSpPr/>
            <p:nvPr/>
          </p:nvSpPr>
          <p:spPr>
            <a:xfrm>
              <a:off x="9001125" y="2400300"/>
              <a:ext cx="2619375" cy="495300"/>
            </a:xfrm>
            <a:prstGeom prst="rect">
              <a:avLst/>
            </a:prstGeom>
            <a:solidFill>
              <a:srgbClr val="F6E7DD"/>
            </a:solidFill>
            <a:ln>
              <a:noFill/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9166860" y="2513648"/>
              <a:ext cx="2220151" cy="396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B8552E"/>
                  </a:solidFill>
                  <a:latin typeface="Georgia"/>
                  <a:ea typeface="KaiTi"/>
                  <a:cs typeface="Georgia"/>
                </a:rPr>
                <a:t>1–2 天</a:t>
              </a:r>
              <a:r>
                <a:rPr lang="zh-CN" sz="112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最快出演示</a:t>
              </a:r>
            </a:p>
          </p:txBody>
        </p:sp>
        <p:grpSp>
          <p:nvGrpSpPr>
            <p:cNvPr id="73" name="Group 73"/>
            <p:cNvGrpSpPr/>
            <p:nvPr/>
          </p:nvGrpSpPr>
          <p:grpSpPr>
            <a:xfrm>
              <a:off x="9235489" y="3114675"/>
              <a:ext cx="194261" cy="194261"/>
              <a:chOff x="9235489" y="3114675"/>
              <a:chExt cx="194261" cy="194261"/>
            </a:xfrm>
          </p:grpSpPr>
          <p:sp>
            <p:nvSpPr>
              <p:cNvPr id="70" name="Freeform 70"/>
              <p:cNvSpPr/>
              <p:nvPr/>
            </p:nvSpPr>
            <p:spPr>
              <a:xfrm>
                <a:off x="9239250" y="3114675"/>
                <a:ext cx="190500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190500">
                    <a:moveTo>
                      <a:pt x="0" y="107156"/>
                    </a:moveTo>
                    <a:cubicBezTo>
                      <a:pt x="43698" y="112349"/>
                      <a:pt x="78151" y="146802"/>
                      <a:pt x="83344" y="190500"/>
                    </a:cubicBezTo>
                    <a:cubicBezTo>
                      <a:pt x="104740" y="178165"/>
                      <a:pt x="118247" y="155653"/>
                      <a:pt x="119062" y="130969"/>
                    </a:cubicBezTo>
                    <a:cubicBezTo>
                      <a:pt x="159946" y="116587"/>
                      <a:pt x="188140" y="78994"/>
                      <a:pt x="190500" y="35719"/>
                    </a:cubicBezTo>
                    <a:cubicBezTo>
                      <a:pt x="190500" y="15992"/>
                      <a:pt x="174508" y="0"/>
                      <a:pt x="154781" y="0"/>
                    </a:cubicBezTo>
                    <a:cubicBezTo>
                      <a:pt x="111506" y="2360"/>
                      <a:pt x="73913" y="30554"/>
                      <a:pt x="59531" y="71438"/>
                    </a:cubicBezTo>
                    <a:cubicBezTo>
                      <a:pt x="34847" y="72253"/>
                      <a:pt x="12335" y="85760"/>
                      <a:pt x="0" y="107156"/>
                    </a:cubicBezTo>
                  </a:path>
                </a:pathLst>
              </a:custGeom>
              <a:noFill/>
              <a:ln w="19050">
                <a:solidFill>
                  <a:srgbClr val="B8552E"/>
                </a:solidFill>
              </a:ln>
            </p:spPr>
          </p:sp>
          <p:sp>
            <p:nvSpPr>
              <p:cNvPr id="71" name="Freeform 71"/>
              <p:cNvSpPr/>
              <p:nvPr/>
            </p:nvSpPr>
            <p:spPr>
              <a:xfrm>
                <a:off x="9235489" y="3233738"/>
                <a:ext cx="75198" cy="75198"/>
              </a:xfrm>
              <a:custGeom>
                <a:avLst/>
                <a:gdLst/>
                <a:ahLst/>
                <a:cxnLst/>
                <a:rect l="l" t="t" r="r" b="b"/>
                <a:pathLst>
                  <a:path w="75198" h="75198">
                    <a:moveTo>
                      <a:pt x="39479" y="0"/>
                    </a:moveTo>
                    <a:cubicBezTo>
                      <a:pt x="14130" y="14311"/>
                      <a:pt x="0" y="42572"/>
                      <a:pt x="3761" y="71438"/>
                    </a:cubicBezTo>
                    <a:cubicBezTo>
                      <a:pt x="32627" y="75198"/>
                      <a:pt x="60887" y="61068"/>
                      <a:pt x="75198" y="35719"/>
                    </a:cubicBezTo>
                  </a:path>
                </a:pathLst>
              </a:custGeom>
              <a:noFill/>
              <a:ln w="19050">
                <a:solidFill>
                  <a:srgbClr val="B8552E"/>
                </a:solidFill>
              </a:ln>
            </p:spPr>
          </p:sp>
          <p:sp>
            <p:nvSpPr>
              <p:cNvPr id="72" name="Freeform 72"/>
              <p:cNvSpPr/>
              <p:nvPr/>
            </p:nvSpPr>
            <p:spPr>
              <a:xfrm>
                <a:off x="9358312" y="3162300"/>
                <a:ext cx="23812" cy="23812"/>
              </a:xfrm>
              <a:custGeom>
                <a:avLst/>
                <a:gdLst/>
                <a:ahLst/>
                <a:cxnLst/>
                <a:rect l="l" t="t" r="r" b="b"/>
                <a:pathLst>
                  <a:path w="23812" h="23812">
                    <a:moveTo>
                      <a:pt x="0" y="11906"/>
                    </a:moveTo>
                    <a:cubicBezTo>
                      <a:pt x="0" y="18482"/>
                      <a:pt x="5331" y="23812"/>
                      <a:pt x="11906" y="23812"/>
                    </a:cubicBezTo>
                    <a:cubicBezTo>
                      <a:pt x="18482" y="23812"/>
                      <a:pt x="23812" y="18482"/>
                      <a:pt x="23812" y="11906"/>
                    </a:cubicBezTo>
                    <a:cubicBezTo>
                      <a:pt x="23812" y="5331"/>
                      <a:pt x="18482" y="0"/>
                      <a:pt x="11906" y="0"/>
                    </a:cubicBezTo>
                    <a:cubicBezTo>
                      <a:pt x="5331" y="0"/>
                      <a:pt x="0" y="5331"/>
                      <a:pt x="0" y="11906"/>
                    </a:cubicBezTo>
                  </a:path>
                </a:pathLst>
              </a:custGeom>
              <a:noFill/>
              <a:ln w="19050">
                <a:solidFill>
                  <a:srgbClr val="B8552E"/>
                </a:solidFill>
              </a:ln>
            </p:spPr>
          </p:sp>
        </p:grpSp>
        <p:sp>
          <p:nvSpPr>
            <p:cNvPr id="74" name="TextBox 74"/>
            <p:cNvSpPr txBox="1"/>
            <p:nvPr/>
          </p:nvSpPr>
          <p:spPr>
            <a:xfrm>
              <a:off x="9177338" y="3555206"/>
              <a:ext cx="1314450" cy="4381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650"/>
                </a:lnSpc>
              </a:pP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全网热点选题引擎：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3–5 天交付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9177338" y="4126706"/>
              <a:ext cx="1600200" cy="4381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650"/>
                </a:lnSpc>
              </a:pP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公众号文章智能体：约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1 周（文风蒸馏 + 排版）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9177338" y="4698206"/>
              <a:ext cx="1578769" cy="4381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650"/>
                </a:lnSpc>
              </a:pP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12 个企业智能体标准化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模板（4 岗位 × 3 等级）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9177338" y="5212556"/>
              <a:ext cx="176129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B8552E"/>
                  </a:solidFill>
                  <a:latin typeface="Arial"/>
                  <a:ea typeface="Microsoft YaHei"/>
                  <a:cs typeface="Arial"/>
                </a:rPr>
                <a:t>先跑小闭环，再谈深水区</a:t>
              </a:r>
            </a:p>
          </p:txBody>
        </p:sp>
      </p:grpSp>
      <p:grpSp>
        <p:nvGrpSpPr>
          <p:cNvPr id="82" name="Group 82"/>
          <p:cNvGrpSpPr/>
          <p:nvPr/>
        </p:nvGrpSpPr>
        <p:grpSpPr>
          <a:xfrm>
            <a:off x="571500" y="5734050"/>
            <a:ext cx="11049000" cy="564356"/>
            <a:chOff x="571500" y="5734050"/>
            <a:chExt cx="11049000" cy="564356"/>
          </a:xfrm>
        </p:grpSpPr>
        <p:sp>
          <p:nvSpPr>
            <p:cNvPr id="79" name="Rectangle 79"/>
            <p:cNvSpPr/>
            <p:nvPr/>
          </p:nvSpPr>
          <p:spPr>
            <a:xfrm>
              <a:off x="571500" y="5734050"/>
              <a:ext cx="11049000" cy="552450"/>
            </a:xfrm>
            <a:prstGeom prst="rect">
              <a:avLst/>
            </a:prstGeom>
            <a:solidFill>
              <a:srgbClr val="17140D"/>
            </a:solidFill>
            <a:ln>
              <a:noFill/>
            </a:ln>
          </p:spPr>
        </p:sp>
        <p:sp>
          <p:nvSpPr>
            <p:cNvPr id="80" name="TextBox 80"/>
            <p:cNvSpPr txBox="1"/>
            <p:nvPr/>
          </p:nvSpPr>
          <p:spPr>
            <a:xfrm>
              <a:off x="777240" y="5787390"/>
              <a:ext cx="6119679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F7F5EF"/>
                  </a:solidFill>
                  <a:latin typeface="Georgia"/>
                  <a:ea typeface="KaiTi"/>
                  <a:cs typeface="Georgia"/>
                </a:rPr>
                <a:t>不卖人天，不卖标准软件——收入和你的结果绑在一起。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785812" y="6069806"/>
              <a:ext cx="6224349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EFEBE0"/>
                  </a:solidFill>
                  <a:latin typeface="Arial"/>
                  <a:ea typeface="Microsoft YaHei"/>
                  <a:cs typeface="Arial"/>
                </a:rPr>
                <a:t>基础服务费 + 成果奖金 / 归因抽成：项目按业务结果验收归因，做不出结果，我们赚不到钱。</a:t>
              </a:r>
            </a:p>
          </p:txBody>
        </p:sp>
      </p:grpSp>
      <p:grpSp>
        <p:nvGrpSpPr>
          <p:cNvPr id="86" name="Group 86"/>
          <p:cNvGrpSpPr/>
          <p:nvPr/>
        </p:nvGrpSpPr>
        <p:grpSpPr>
          <a:xfrm>
            <a:off x="571500" y="6517891"/>
            <a:ext cx="11060430" cy="225809"/>
            <a:chOff x="571500" y="6517891"/>
            <a:chExt cx="11060430" cy="225809"/>
          </a:xfrm>
        </p:grpSpPr>
        <p:pic>
          <p:nvPicPr>
            <p:cNvPr id="83" name="Image 8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71500" y="6517891"/>
              <a:ext cx="190500" cy="184919"/>
            </a:xfrm>
            <a:prstGeom prst="rect">
              <a:avLst/>
            </a:prstGeom>
          </p:spPr>
        </p:pic>
        <p:sp>
          <p:nvSpPr>
            <p:cNvPr id="84" name="TextBox 84"/>
            <p:cNvSpPr txBox="1"/>
            <p:nvPr/>
          </p:nvSpPr>
          <p:spPr>
            <a:xfrm>
              <a:off x="845820" y="6560820"/>
              <a:ext cx="208711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openfde.net · /services · /hirefde</a:t>
              </a:r>
            </a:p>
          </p:txBody>
        </p:sp>
        <p:sp>
          <p:nvSpPr>
            <p:cNvPr id="85" name="TextBox 85"/>
            <p:cNvSpPr txBox="1"/>
            <p:nvPr/>
          </p:nvSpPr>
          <p:spPr>
            <a:xfrm>
              <a:off x="11207020" y="6560820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22 / 26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9" dur="4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23" dur="4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  <p:bldP spid="45" grpId="0"/>
      <p:bldP spid="63" grpId="0"/>
      <p:bldP spid="78" grpId="0"/>
      <p:bldP spid="82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</p:sp>
      <p:grpSp>
        <p:nvGrpSpPr>
          <p:cNvPr id="7" name="Group 7"/>
          <p:cNvGrpSpPr/>
          <p:nvPr/>
        </p:nvGrpSpPr>
        <p:grpSpPr>
          <a:xfrm>
            <a:off x="539115" y="571500"/>
            <a:ext cx="11081385" cy="909638"/>
            <a:chOff x="539115" y="571500"/>
            <a:chExt cx="11081385" cy="909638"/>
          </a:xfrm>
        </p:grpSpPr>
        <p:sp>
          <p:nvSpPr>
            <p:cNvPr id="3" name="Rectangle 3"/>
            <p:cNvSpPr/>
            <p:nvPr/>
          </p:nvSpPr>
          <p:spPr>
            <a:xfrm>
              <a:off x="571500" y="571500"/>
              <a:ext cx="381000" cy="28575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557212" y="735806"/>
              <a:ext cx="16274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第四部分 · 开源与参与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39115" y="962978"/>
              <a:ext cx="7062845" cy="518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免费的那一半：16 章白皮书 + 1,251 条资料</a:t>
              </a:r>
            </a:p>
          </p:txBody>
        </p:sp>
        <p:sp>
          <p:nvSpPr>
            <p:cNvPr id="6" name="Line 6"/>
            <p:cNvSpPr/>
            <p:nvPr/>
          </p:nvSpPr>
          <p:spPr>
            <a:xfrm>
              <a:off x="571500" y="14478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14288">
              <a:solidFill>
                <a:srgbClr val="D4CDB9"/>
              </a:solidFill>
            </a:ln>
          </p:spPr>
        </p:sp>
      </p:grpSp>
      <p:grpSp>
        <p:nvGrpSpPr>
          <p:cNvPr id="9" name="Group 9"/>
          <p:cNvGrpSpPr/>
          <p:nvPr/>
        </p:nvGrpSpPr>
        <p:grpSpPr>
          <a:xfrm>
            <a:off x="1047750" y="1714500"/>
            <a:ext cx="9525" cy="4000500"/>
            <a:chOff x="1047750" y="1714500"/>
            <a:chExt cx="9525" cy="4000500"/>
          </a:xfrm>
        </p:grpSpPr>
        <p:sp>
          <p:nvSpPr>
            <p:cNvPr id="8" name="Line 8"/>
            <p:cNvSpPr/>
            <p:nvPr/>
          </p:nvSpPr>
          <p:spPr>
            <a:xfrm>
              <a:off x="1047750" y="1714500"/>
              <a:ext cx="9525" cy="4000500"/>
            </a:xfrm>
            <a:custGeom>
              <a:avLst/>
              <a:gdLst/>
              <a:ahLst/>
              <a:cxnLst/>
              <a:rect l="l" t="t" r="r" b="b"/>
              <a:pathLst>
                <a:path w="9525" h="4000500">
                  <a:moveTo>
                    <a:pt x="0" y="0"/>
                  </a:moveTo>
                  <a:lnTo>
                    <a:pt x="0" y="4000500"/>
                  </a:lnTo>
                </a:path>
              </a:pathLst>
            </a:custGeom>
            <a:noFill/>
            <a:ln w="28575">
              <a:solidFill>
                <a:srgbClr val="D4CDB9"/>
              </a:solidFill>
            </a:ln>
          </p:spPr>
        </p:sp>
      </p:grpSp>
      <p:grpSp>
        <p:nvGrpSpPr>
          <p:cNvPr id="14" name="Group 14"/>
          <p:cNvGrpSpPr/>
          <p:nvPr/>
        </p:nvGrpSpPr>
        <p:grpSpPr>
          <a:xfrm>
            <a:off x="838200" y="1688782"/>
            <a:ext cx="4612791" cy="547212"/>
            <a:chOff x="838200" y="1688782"/>
            <a:chExt cx="4612791" cy="547212"/>
          </a:xfrm>
        </p:grpSpPr>
        <p:sp>
          <p:nvSpPr>
            <p:cNvPr id="10" name="Ellipse 10"/>
            <p:cNvSpPr/>
            <p:nvPr/>
          </p:nvSpPr>
          <p:spPr>
            <a:xfrm>
              <a:off x="838200" y="1695450"/>
              <a:ext cx="419100" cy="419100"/>
            </a:xfrm>
            <a:prstGeom prst="ellipse">
              <a:avLst/>
            </a:prstGeom>
            <a:solidFill>
              <a:srgbClr val="FFFDF8"/>
            </a:solidFill>
            <a:ln w="28575">
              <a:solidFill>
                <a:srgbClr val="C4471F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46827" y="1850231"/>
              <a:ext cx="201847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C4471F"/>
                  </a:solidFill>
                  <a:latin typeface="Georgia"/>
                  <a:ea typeface="KaiTi"/>
                  <a:cs typeface="Georgia"/>
                </a:rPr>
                <a:t>01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426845" y="1688782"/>
              <a:ext cx="3264763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认知 FDE</a:t>
              </a:r>
              <a:r>
                <a:rPr lang="zh-CN" sz="975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3 章 · 新手从这里开始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431608" y="1976914"/>
              <a:ext cx="4019383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什么是 FDE · 为什么现在爆火 · 起源：Palantir 模式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838200" y="2450782"/>
            <a:ext cx="4893326" cy="547212"/>
            <a:chOff x="838200" y="2450782"/>
            <a:chExt cx="4893326" cy="547212"/>
          </a:xfrm>
        </p:grpSpPr>
        <p:sp>
          <p:nvSpPr>
            <p:cNvPr id="15" name="Ellipse 15"/>
            <p:cNvSpPr/>
            <p:nvPr/>
          </p:nvSpPr>
          <p:spPr>
            <a:xfrm>
              <a:off x="838200" y="2457450"/>
              <a:ext cx="419100" cy="419100"/>
            </a:xfrm>
            <a:prstGeom prst="ellipse">
              <a:avLst/>
            </a:prstGeom>
            <a:solidFill>
              <a:srgbClr val="FFFDF8"/>
            </a:solidFill>
            <a:ln w="28575">
              <a:solidFill>
                <a:srgbClr val="C4471F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6827" y="2612231"/>
              <a:ext cx="201847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C4471F"/>
                  </a:solidFill>
                  <a:latin typeface="Georgia"/>
                  <a:ea typeface="KaiTi"/>
                  <a:cs typeface="Georgia"/>
                </a:rPr>
                <a:t>02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426845" y="2450782"/>
              <a:ext cx="1393429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岗位全景</a:t>
              </a:r>
              <a:r>
                <a:rPr lang="zh-CN" sz="975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2 章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31608" y="2738914"/>
              <a:ext cx="4299918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各公司岗位形态 · 与相邻岗位的区别（怎么认出真 FDE）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838200" y="3212782"/>
            <a:ext cx="4095988" cy="547212"/>
            <a:chOff x="838200" y="3212782"/>
            <a:chExt cx="4095988" cy="547212"/>
          </a:xfrm>
        </p:grpSpPr>
        <p:sp>
          <p:nvSpPr>
            <p:cNvPr id="20" name="Ellipse 20"/>
            <p:cNvSpPr/>
            <p:nvPr/>
          </p:nvSpPr>
          <p:spPr>
            <a:xfrm>
              <a:off x="838200" y="3219450"/>
              <a:ext cx="419100" cy="419100"/>
            </a:xfrm>
            <a:prstGeom prst="ellipse">
              <a:avLst/>
            </a:prstGeom>
            <a:solidFill>
              <a:srgbClr val="FFFDF8"/>
            </a:solidFill>
            <a:ln w="28575">
              <a:solidFill>
                <a:srgbClr val="C4471F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46827" y="3374231"/>
              <a:ext cx="201847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C4471F"/>
                  </a:solidFill>
                  <a:latin typeface="Georgia"/>
                  <a:ea typeface="KaiTi"/>
                  <a:cs typeface="Georgia"/>
                </a:rPr>
                <a:t>03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426845" y="3212782"/>
              <a:ext cx="3507343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从你的岗位转型</a:t>
              </a:r>
              <a:r>
                <a:rPr lang="zh-CN" sz="975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2 章 · 求职者重点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431608" y="3500914"/>
              <a:ext cx="3449812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从你的岗位看 FDE · 七类背景的具体转型路线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819150" y="3962400"/>
            <a:ext cx="4612006" cy="807244"/>
            <a:chOff x="819150" y="3962400"/>
            <a:chExt cx="4612006" cy="807244"/>
          </a:xfrm>
        </p:grpSpPr>
        <p:sp>
          <p:nvSpPr>
            <p:cNvPr id="25" name="Ellipse 25"/>
            <p:cNvSpPr/>
            <p:nvPr/>
          </p:nvSpPr>
          <p:spPr>
            <a:xfrm>
              <a:off x="819150" y="3962400"/>
              <a:ext cx="457200" cy="457200"/>
            </a:xfrm>
            <a:prstGeom prst="ellipse">
              <a:avLst/>
            </a:prstGeom>
            <a:solidFill>
              <a:srgbClr val="C4471F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46827" y="4136231"/>
              <a:ext cx="201847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F7F5EF"/>
                  </a:solidFill>
                  <a:latin typeface="Georgia"/>
                  <a:ea typeface="KaiTi"/>
                  <a:cs typeface="Georgia"/>
                </a:rPr>
                <a:t>04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426845" y="3974782"/>
              <a:ext cx="2583228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落地实战</a:t>
              </a:r>
              <a:r>
                <a:rPr lang="zh-CN" sz="975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6 章 · 分量最重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431608" y="4262914"/>
              <a:ext cx="3999548" cy="50673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950"/>
                </a:lnSpc>
              </a:pP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10 步工作流闭环 · FDE 实战白皮书 · 能力模型（8 维）</a:t>
              </a: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技术栈全景 · 90 天学习路线 · 面试准备（六类题）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838200" y="4984432"/>
            <a:ext cx="3633930" cy="794862"/>
            <a:chOff x="838200" y="4984432"/>
            <a:chExt cx="3633930" cy="794862"/>
          </a:xfrm>
        </p:grpSpPr>
        <p:sp>
          <p:nvSpPr>
            <p:cNvPr id="30" name="Ellipse 30"/>
            <p:cNvSpPr/>
            <p:nvPr/>
          </p:nvSpPr>
          <p:spPr>
            <a:xfrm>
              <a:off x="838200" y="4991100"/>
              <a:ext cx="419100" cy="419100"/>
            </a:xfrm>
            <a:prstGeom prst="ellipse">
              <a:avLst/>
            </a:prstGeom>
            <a:solidFill>
              <a:srgbClr val="FFFDF8"/>
            </a:solidFill>
            <a:ln w="28575">
              <a:solidFill>
                <a:srgbClr val="C4471F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946827" y="5145881"/>
              <a:ext cx="201847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C4471F"/>
                  </a:solidFill>
                  <a:latin typeface="Georgia"/>
                  <a:ea typeface="KaiTi"/>
                  <a:cs typeface="Georgia"/>
                </a:rPr>
                <a:t>05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26845" y="4984432"/>
              <a:ext cx="3045285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组织与洞察</a:t>
              </a:r>
              <a:r>
                <a:rPr lang="zh-CN" sz="975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4 章 · 管理者视角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431608" y="5272564"/>
              <a:ext cx="2801302" cy="50673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950"/>
                </a:lnSpc>
              </a:pP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组织与商业模式 · FDE 对各岗位的价值</a:t>
              </a: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FDE 与 Agent 时代 · 资料地图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8096250" y="1714500"/>
            <a:ext cx="3524250" cy="4000500"/>
            <a:chOff x="8096250" y="1714500"/>
            <a:chExt cx="3524250" cy="4000500"/>
          </a:xfrm>
        </p:grpSpPr>
        <p:sp>
          <p:nvSpPr>
            <p:cNvPr id="35" name="Rectangle 35"/>
            <p:cNvSpPr/>
            <p:nvPr/>
          </p:nvSpPr>
          <p:spPr>
            <a:xfrm>
              <a:off x="8096250" y="1714500"/>
              <a:ext cx="3524250" cy="400050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8096250" y="1714500"/>
              <a:ext cx="3524250" cy="47625"/>
            </a:xfrm>
            <a:prstGeom prst="rect">
              <a:avLst/>
            </a:prstGeom>
            <a:solidFill>
              <a:srgbClr val="17140D"/>
            </a:solidFill>
            <a:ln>
              <a:noFill/>
            </a:ln>
          </p:spPr>
        </p:sp>
        <p:grpSp>
          <p:nvGrpSpPr>
            <p:cNvPr id="40" name="Group 40"/>
            <p:cNvGrpSpPr/>
            <p:nvPr/>
          </p:nvGrpSpPr>
          <p:grpSpPr>
            <a:xfrm>
              <a:off x="8382000" y="2005012"/>
              <a:ext cx="228600" cy="257176"/>
              <a:chOff x="8382000" y="2005012"/>
              <a:chExt cx="228600" cy="257176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8382000" y="2005012"/>
                <a:ext cx="228600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85725">
                    <a:moveTo>
                      <a:pt x="0" y="42862"/>
                    </a:moveTo>
                    <a:cubicBezTo>
                      <a:pt x="0" y="66535"/>
                      <a:pt x="51174" y="85725"/>
                      <a:pt x="114300" y="85725"/>
                    </a:cubicBezTo>
                    <a:cubicBezTo>
                      <a:pt x="177426" y="85725"/>
                      <a:pt x="228600" y="66535"/>
                      <a:pt x="228600" y="42862"/>
                    </a:cubicBezTo>
                    <a:cubicBezTo>
                      <a:pt x="228600" y="19190"/>
                      <a:pt x="177426" y="0"/>
                      <a:pt x="114300" y="0"/>
                    </a:cubicBezTo>
                    <a:cubicBezTo>
                      <a:pt x="51174" y="0"/>
                      <a:pt x="0" y="19190"/>
                      <a:pt x="0" y="42862"/>
                    </a:cubicBez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8382000" y="2047875"/>
                <a:ext cx="228600" cy="128588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128588">
                    <a:moveTo>
                      <a:pt x="0" y="0"/>
                    </a:moveTo>
                    <a:lnTo>
                      <a:pt x="0" y="85725"/>
                    </a:lnTo>
                    <a:cubicBezTo>
                      <a:pt x="0" y="109397"/>
                      <a:pt x="51174" y="128588"/>
                      <a:pt x="114300" y="128588"/>
                    </a:cubicBezTo>
                    <a:cubicBezTo>
                      <a:pt x="177426" y="128588"/>
                      <a:pt x="228600" y="109397"/>
                      <a:pt x="228600" y="85725"/>
                    </a:cubicBezTo>
                    <a:lnTo>
                      <a:pt x="228600" y="0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8382000" y="2133600"/>
                <a:ext cx="228600" cy="128588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128588">
                    <a:moveTo>
                      <a:pt x="0" y="0"/>
                    </a:moveTo>
                    <a:lnTo>
                      <a:pt x="0" y="85725"/>
                    </a:lnTo>
                    <a:cubicBezTo>
                      <a:pt x="0" y="109397"/>
                      <a:pt x="51174" y="128588"/>
                      <a:pt x="114300" y="128588"/>
                    </a:cubicBezTo>
                    <a:cubicBezTo>
                      <a:pt x="177426" y="128588"/>
                      <a:pt x="228600" y="109397"/>
                      <a:pt x="228600" y="85725"/>
                    </a:cubicBezTo>
                    <a:lnTo>
                      <a:pt x="228600" y="0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</p:grpSp>
        <p:sp>
          <p:nvSpPr>
            <p:cNvPr id="41" name="TextBox 41"/>
            <p:cNvSpPr txBox="1"/>
            <p:nvPr/>
          </p:nvSpPr>
          <p:spPr>
            <a:xfrm>
              <a:off x="8300085" y="2494598"/>
              <a:ext cx="1401049" cy="396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FDE 信号库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310562" y="2831306"/>
              <a:ext cx="167878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可检索、可筛选、可溯源</a:t>
              </a:r>
            </a:p>
          </p:txBody>
        </p:sp>
        <p:sp>
          <p:nvSpPr>
            <p:cNvPr id="43" name="Line 43"/>
            <p:cNvSpPr/>
            <p:nvPr/>
          </p:nvSpPr>
          <p:spPr>
            <a:xfrm>
              <a:off x="8324850" y="3124200"/>
              <a:ext cx="3067050" cy="9525"/>
            </a:xfrm>
            <a:custGeom>
              <a:avLst/>
              <a:gdLst/>
              <a:ahLst/>
              <a:cxnLst/>
              <a:rect l="l" t="t" r="r" b="b"/>
              <a:pathLst>
                <a:path w="3067050" h="9525">
                  <a:moveTo>
                    <a:pt x="0" y="0"/>
                  </a:moveTo>
                  <a:lnTo>
                    <a:pt x="3067050" y="0"/>
                  </a:lnTo>
                </a:path>
              </a:pathLst>
            </a:custGeom>
            <a:noFill/>
            <a:ln w="9525">
              <a:solidFill>
                <a:srgbClr val="D4CDB9"/>
              </a:solidFill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8292465" y="3210878"/>
              <a:ext cx="1046643" cy="518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9A9284"/>
                  </a:solidFill>
                  <a:latin typeface="Georgia"/>
                  <a:ea typeface="KaiTi"/>
                  <a:cs typeface="Georgia"/>
                </a:rPr>
                <a:t>1,550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9415462" y="3364706"/>
              <a:ext cx="778669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条检索命中</a:t>
              </a:r>
            </a:p>
          </p:txBody>
        </p:sp>
        <p:sp>
          <p:nvSpPr>
            <p:cNvPr id="46" name="Polygon 46"/>
            <p:cNvSpPr/>
            <p:nvPr/>
          </p:nvSpPr>
          <p:spPr>
            <a:xfrm>
              <a:off x="8420100" y="3581400"/>
              <a:ext cx="266700" cy="228600"/>
            </a:xfrm>
            <a:custGeom>
              <a:avLst/>
              <a:gdLst/>
              <a:ahLst/>
              <a:cxnLst/>
              <a:rect l="l" t="t" r="r" b="b"/>
              <a:pathLst>
                <a:path w="266700" h="228600">
                  <a:moveTo>
                    <a:pt x="0" y="57150"/>
                  </a:moveTo>
                  <a:lnTo>
                    <a:pt x="152400" y="57150"/>
                  </a:lnTo>
                  <a:lnTo>
                    <a:pt x="152400" y="0"/>
                  </a:lnTo>
                  <a:lnTo>
                    <a:pt x="266700" y="114300"/>
                  </a:lnTo>
                  <a:lnTo>
                    <a:pt x="152400" y="228600"/>
                  </a:lnTo>
                  <a:lnTo>
                    <a:pt x="152400" y="171450"/>
                  </a:lnTo>
                  <a:lnTo>
                    <a:pt x="0" y="171450"/>
                  </a:lnTo>
                  <a:close/>
                </a:path>
              </a:pathLst>
            </a:custGeom>
            <a:solidFill>
              <a:srgbClr val="C4471F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8279130" y="3821430"/>
              <a:ext cx="1477613" cy="7315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C4471F"/>
                  </a:solidFill>
                  <a:latin typeface="Georgia"/>
                  <a:ea typeface="KaiTi"/>
                  <a:cs typeface="Georgia"/>
                </a:rPr>
                <a:t>1,251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9815512" y="4088606"/>
              <a:ext cx="81617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条去重保留</a:t>
              </a:r>
            </a:p>
          </p:txBody>
        </p:sp>
        <p:sp>
          <p:nvSpPr>
            <p:cNvPr id="49" name="Line 49"/>
            <p:cNvSpPr/>
            <p:nvPr/>
          </p:nvSpPr>
          <p:spPr>
            <a:xfrm>
              <a:off x="8324850" y="4419600"/>
              <a:ext cx="3067050" cy="9525"/>
            </a:xfrm>
            <a:custGeom>
              <a:avLst/>
              <a:gdLst/>
              <a:ahLst/>
              <a:cxnLst/>
              <a:rect l="l" t="t" r="r" b="b"/>
              <a:pathLst>
                <a:path w="3067050" h="9525">
                  <a:moveTo>
                    <a:pt x="0" y="0"/>
                  </a:moveTo>
                  <a:lnTo>
                    <a:pt x="3067050" y="0"/>
                  </a:lnTo>
                </a:path>
              </a:pathLst>
            </a:custGeom>
            <a:noFill/>
            <a:ln w="9525">
              <a:solidFill>
                <a:srgbClr val="ECE7DA"/>
              </a:solidFill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8310562" y="4583906"/>
              <a:ext cx="2514600" cy="6858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800"/>
                </a:lnSpc>
              </a:pP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官方岗位描述、公司公告、媒体报道、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VC 分析、开源项目、播客与社区讨论，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覆盖 13 个领域标签。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8324850" y="5257800"/>
              <a:ext cx="3067050" cy="285750"/>
            </a:xfrm>
            <a:prstGeom prst="rect">
              <a:avLst/>
            </a:prstGeom>
            <a:solidFill>
              <a:srgbClr val="F6E7DD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8424862" y="5326856"/>
              <a:ext cx="22788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区分「已核实」与「仅检索命中」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552450" y="5934075"/>
            <a:ext cx="9449276" cy="304800"/>
            <a:chOff x="552450" y="5934075"/>
            <a:chExt cx="9449276" cy="304800"/>
          </a:xfrm>
        </p:grpSpPr>
        <p:sp>
          <p:nvSpPr>
            <p:cNvPr id="54" name="TextBox 54"/>
            <p:cNvSpPr txBox="1"/>
            <p:nvPr/>
          </p:nvSpPr>
          <p:spPr>
            <a:xfrm>
              <a:off x="552450" y="5934075"/>
              <a:ext cx="9449276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这一半</a:t>
              </a:r>
              <a:r>
                <a:rPr lang="zh-CN" sz="1500" b="1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完全免费、不需要注册</a:t>
              </a: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——只想搞懂 FDE 的话，看完这 16 章就够了，前面那些商业页可以直接跳过。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571500" y="6438900"/>
            <a:ext cx="11060430" cy="304800"/>
            <a:chOff x="571500" y="6438900"/>
            <a:chExt cx="11060430" cy="304800"/>
          </a:xfrm>
        </p:grpSpPr>
        <p:sp>
          <p:nvSpPr>
            <p:cNvPr id="56" name="Line 56"/>
            <p:cNvSpPr/>
            <p:nvPr/>
          </p:nvSpPr>
          <p:spPr>
            <a:xfrm>
              <a:off x="571500" y="64389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ECE7DA"/>
              </a:solidFill>
            </a:ln>
          </p:spPr>
        </p:sp>
        <p:pic>
          <p:nvPicPr>
            <p:cNvPr id="57" name="Image 57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71500" y="6517891"/>
              <a:ext cx="190500" cy="184919"/>
            </a:xfrm>
            <a:prstGeom prst="rect">
              <a:avLst/>
            </a:prstGeom>
          </p:spPr>
        </p:pic>
        <p:sp>
          <p:nvSpPr>
            <p:cNvPr id="58" name="TextBox 58"/>
            <p:cNvSpPr txBox="1"/>
            <p:nvPr/>
          </p:nvSpPr>
          <p:spPr>
            <a:xfrm>
              <a:off x="845820" y="6560820"/>
              <a:ext cx="19491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openfde.net · /docs · /research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1207020" y="6560820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23 / 26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5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9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0"/>
                            </p:stCondLst>
                            <p:childTnLst>
                              <p:par>
                                <p:cTn id="2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400"/>
                            </p:stCondLst>
                            <p:childTnLst>
                              <p:par>
                                <p:cTn id="2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31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300"/>
                            </p:stCondLst>
                            <p:childTnLst>
                              <p:par>
                                <p:cTn id="3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4" grpId="0"/>
      <p:bldP spid="19" grpId="0"/>
      <p:bldP spid="24" grpId="0"/>
      <p:bldP spid="29" grpId="0"/>
      <p:bldP spid="34" grpId="0"/>
      <p:bldP spid="53" grpId="0"/>
      <p:bldP spid="55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</p:sp>
      <p:grpSp>
        <p:nvGrpSpPr>
          <p:cNvPr id="8" name="Group 8"/>
          <p:cNvGrpSpPr/>
          <p:nvPr/>
        </p:nvGrpSpPr>
        <p:grpSpPr>
          <a:xfrm>
            <a:off x="539115" y="571500"/>
            <a:ext cx="11095673" cy="909638"/>
            <a:chOff x="539115" y="571500"/>
            <a:chExt cx="11095673" cy="909638"/>
          </a:xfrm>
        </p:grpSpPr>
        <p:sp>
          <p:nvSpPr>
            <p:cNvPr id="3" name="Rectangle 3"/>
            <p:cNvSpPr/>
            <p:nvPr/>
          </p:nvSpPr>
          <p:spPr>
            <a:xfrm>
              <a:off x="571500" y="571500"/>
              <a:ext cx="381000" cy="28575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557212" y="735806"/>
              <a:ext cx="131236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开源与参与 · 加入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39115" y="962978"/>
              <a:ext cx="5313326" cy="518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首批 20 人：先有项目，再有网络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9805988" y="1078706"/>
              <a:ext cx="18288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不是人才市场，也不是招聘</a:t>
              </a:r>
            </a:p>
          </p:txBody>
        </p:sp>
        <p:sp>
          <p:nvSpPr>
            <p:cNvPr id="7" name="Line 7"/>
            <p:cNvSpPr/>
            <p:nvPr/>
          </p:nvSpPr>
          <p:spPr>
            <a:xfrm>
              <a:off x="571500" y="14478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14288">
              <a:solidFill>
                <a:srgbClr val="D4CDB9"/>
              </a:solidFill>
            </a:ln>
          </p:spPr>
        </p:sp>
      </p:grpSp>
      <p:grpSp>
        <p:nvGrpSpPr>
          <p:cNvPr id="19" name="Group 19"/>
          <p:cNvGrpSpPr/>
          <p:nvPr/>
        </p:nvGrpSpPr>
        <p:grpSpPr>
          <a:xfrm>
            <a:off x="1619250" y="1581150"/>
            <a:ext cx="4381500" cy="4774406"/>
            <a:chOff x="1619250" y="1581150"/>
            <a:chExt cx="4381500" cy="4774406"/>
          </a:xfrm>
        </p:grpSpPr>
        <p:sp>
          <p:nvSpPr>
            <p:cNvPr id="9" name="Ellipse 9"/>
            <p:cNvSpPr/>
            <p:nvPr/>
          </p:nvSpPr>
          <p:spPr>
            <a:xfrm>
              <a:off x="1619250" y="1581150"/>
              <a:ext cx="4381500" cy="4381500"/>
            </a:xfrm>
            <a:prstGeom prst="ellipse">
              <a:avLst/>
            </a:prstGeom>
            <a:solidFill>
              <a:srgbClr val="EFEBE0"/>
            </a:solidFill>
            <a:ln w="14288">
              <a:solidFill>
                <a:srgbClr val="E2DCCD"/>
              </a:solidFill>
            </a:ln>
          </p:spPr>
        </p:sp>
        <p:sp>
          <p:nvSpPr>
            <p:cNvPr id="10" name="Ellipse 10"/>
            <p:cNvSpPr/>
            <p:nvPr/>
          </p:nvSpPr>
          <p:spPr>
            <a:xfrm>
              <a:off x="2190750" y="2152650"/>
              <a:ext cx="3238500" cy="3238500"/>
            </a:xfrm>
            <a:prstGeom prst="ellipse">
              <a:avLst/>
            </a:prstGeom>
            <a:solidFill>
              <a:srgbClr val="F6E7DD"/>
            </a:solidFill>
            <a:ln w="14288">
              <a:solidFill>
                <a:srgbClr val="E2DCCD"/>
              </a:solidFill>
            </a:ln>
          </p:spPr>
        </p:sp>
        <p:sp>
          <p:nvSpPr>
            <p:cNvPr id="11" name="Ellipse 11"/>
            <p:cNvSpPr/>
            <p:nvPr/>
          </p:nvSpPr>
          <p:spPr>
            <a:xfrm>
              <a:off x="2714625" y="2676525"/>
              <a:ext cx="2190750" cy="2190750"/>
            </a:xfrm>
            <a:prstGeom prst="ellipse">
              <a:avLst/>
            </a:prstGeom>
            <a:solidFill>
              <a:srgbClr val="B8552E"/>
            </a:solidFill>
            <a:ln>
              <a:noFill/>
            </a:ln>
          </p:spPr>
        </p:sp>
        <p:sp>
          <p:nvSpPr>
            <p:cNvPr id="12" name="Ellipse 12"/>
            <p:cNvSpPr/>
            <p:nvPr/>
          </p:nvSpPr>
          <p:spPr>
            <a:xfrm>
              <a:off x="3257550" y="3219450"/>
              <a:ext cx="1104900" cy="1104900"/>
            </a:xfrm>
            <a:prstGeom prst="ellipse">
              <a:avLst/>
            </a:prstGeom>
            <a:solidFill>
              <a:srgbClr val="C4471F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3323153" y="1669256"/>
              <a:ext cx="97369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已有供给网络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248332" y="2240756"/>
              <a:ext cx="1123337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B8552E"/>
                  </a:solidFill>
                  <a:latin typeface="Arial"/>
                  <a:ea typeface="Microsoft YaHei"/>
                  <a:cs typeface="Arial"/>
                </a:rPr>
                <a:t>3–5 家交付伙伴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295587" y="2793206"/>
              <a:ext cx="102882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F7F5EF"/>
                  </a:solidFill>
                  <a:latin typeface="Arial"/>
                  <a:ea typeface="Microsoft YaHei"/>
                  <a:cs typeface="Arial"/>
                </a:rPr>
                <a:t>20 名核心 FDE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532678" y="3523298"/>
              <a:ext cx="554643" cy="396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950" b="1" dirty="0">
                  <a:solidFill>
                    <a:srgbClr val="F7F5EF"/>
                  </a:solidFill>
                  <a:latin typeface="Georgia"/>
                  <a:ea typeface="KaiTi"/>
                  <a:cs typeface="Georgia"/>
                </a:rPr>
                <a:t>3 名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446621" y="3849052"/>
              <a:ext cx="72675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F6E7DD"/>
                  </a:solidFill>
                  <a:latin typeface="Arial"/>
                  <a:ea typeface="Microsoft YaHei"/>
                  <a:cs typeface="Arial"/>
                </a:rPr>
                <a:t>交付负责人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595562" y="6126956"/>
              <a:ext cx="242887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越靠中心，责任越重、认证要求越高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7239000" y="1714500"/>
            <a:ext cx="4381500" cy="952500"/>
            <a:chOff x="7239000" y="1714500"/>
            <a:chExt cx="4381500" cy="952500"/>
          </a:xfrm>
        </p:grpSpPr>
        <p:sp>
          <p:nvSpPr>
            <p:cNvPr id="20" name="Rectangle 20"/>
            <p:cNvSpPr/>
            <p:nvPr/>
          </p:nvSpPr>
          <p:spPr>
            <a:xfrm>
              <a:off x="7239000" y="1714500"/>
              <a:ext cx="4381500" cy="95250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7239000" y="1714500"/>
              <a:ext cx="47625" cy="952500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7475220" y="1884045"/>
              <a:ext cx="65293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b="1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核心 · 3 人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465695" y="2069782"/>
              <a:ext cx="1197054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交付负责人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472362" y="2393156"/>
              <a:ext cx="332898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业务发现、范围控制、客户沟通、方案取舍与验收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7239000" y="2819400"/>
            <a:ext cx="4912518" cy="952500"/>
            <a:chOff x="7239000" y="2819400"/>
            <a:chExt cx="4912518" cy="952500"/>
          </a:xfrm>
        </p:grpSpPr>
        <p:sp>
          <p:nvSpPr>
            <p:cNvPr id="26" name="Rectangle 26"/>
            <p:cNvSpPr/>
            <p:nvPr/>
          </p:nvSpPr>
          <p:spPr>
            <a:xfrm>
              <a:off x="7239000" y="2819400"/>
              <a:ext cx="4381500" cy="95250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7239000" y="2819400"/>
              <a:ext cx="47625" cy="952500"/>
            </a:xfrm>
            <a:prstGeom prst="rect">
              <a:avLst/>
            </a:prstGeom>
            <a:solidFill>
              <a:srgbClr val="B8552E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7475220" y="2988945"/>
              <a:ext cx="72224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b="1" dirty="0">
                  <a:solidFill>
                    <a:srgbClr val="B8552E"/>
                  </a:solidFill>
                  <a:latin typeface="Arial"/>
                  <a:ea typeface="Microsoft YaHei"/>
                  <a:cs typeface="Arial"/>
                </a:rPr>
                <a:t>骨干 · 20 人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465695" y="3174682"/>
              <a:ext cx="2144273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核心 FDE · 三类方向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472362" y="3498056"/>
              <a:ext cx="4679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工程与 Agent（RAG / 工具调用 / 生产部署）· 评估与数据 · 行业专家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7239000" y="3924300"/>
            <a:ext cx="4381500" cy="952500"/>
            <a:chOff x="7239000" y="3924300"/>
            <a:chExt cx="4381500" cy="952500"/>
          </a:xfrm>
        </p:grpSpPr>
        <p:sp>
          <p:nvSpPr>
            <p:cNvPr id="32" name="Rectangle 32"/>
            <p:cNvSpPr/>
            <p:nvPr/>
          </p:nvSpPr>
          <p:spPr>
            <a:xfrm>
              <a:off x="7239000" y="3924300"/>
              <a:ext cx="4381500" cy="95250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7239000" y="3924300"/>
              <a:ext cx="47625" cy="952500"/>
            </a:xfrm>
            <a:prstGeom prst="rect">
              <a:avLst/>
            </a:prstGeom>
            <a:solidFill>
              <a:srgbClr val="17140D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7475220" y="4093845"/>
              <a:ext cx="79155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伙伴 · 3–5 家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7465695" y="4279582"/>
              <a:ext cx="1890141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小型交付伙伴公司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472362" y="4602956"/>
              <a:ext cx="407158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每家至少两名可认证 FDE，采用统一的交付、治理与复盘标准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7239000" y="5029200"/>
            <a:ext cx="4381500" cy="952500"/>
            <a:chOff x="7239000" y="5029200"/>
            <a:chExt cx="4381500" cy="952500"/>
          </a:xfrm>
        </p:grpSpPr>
        <p:sp>
          <p:nvSpPr>
            <p:cNvPr id="38" name="Rectangle 38"/>
            <p:cNvSpPr/>
            <p:nvPr/>
          </p:nvSpPr>
          <p:spPr>
            <a:xfrm>
              <a:off x="7239000" y="5029200"/>
              <a:ext cx="4381500" cy="952500"/>
            </a:xfrm>
            <a:prstGeom prst="rect">
              <a:avLst/>
            </a:prstGeom>
            <a:solidFill>
              <a:srgbClr val="EFEBE0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7239000" y="5029200"/>
              <a:ext cx="47625" cy="952500"/>
            </a:xfrm>
            <a:prstGeom prst="rect">
              <a:avLst/>
            </a:prstGeom>
            <a:solidFill>
              <a:srgbClr val="9A9284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7475220" y="5198745"/>
              <a:ext cx="67184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b="1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外围 · 已有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7465695" y="5384482"/>
              <a:ext cx="2513919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100+ 公司 · 1000+ 专家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472362" y="5707856"/>
              <a:ext cx="404907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项目按需从这里调人；另有一处 200㎡ 联合办公室可共同工作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7239000" y="6096000"/>
            <a:ext cx="4381500" cy="273844"/>
            <a:chOff x="7239000" y="6096000"/>
            <a:chExt cx="4381500" cy="273844"/>
          </a:xfrm>
        </p:grpSpPr>
        <p:sp>
          <p:nvSpPr>
            <p:cNvPr id="44" name="Rectangle 44"/>
            <p:cNvSpPr/>
            <p:nvPr/>
          </p:nvSpPr>
          <p:spPr>
            <a:xfrm>
              <a:off x="7239000" y="6096000"/>
              <a:ext cx="4381500" cy="266700"/>
            </a:xfrm>
            <a:prstGeom prst="rect">
              <a:avLst/>
            </a:prstGeom>
            <a:solidFill>
              <a:srgbClr val="F6E7DD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7340918" y="6171724"/>
              <a:ext cx="3288173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加入不收费、不等于入职、不发固定工资——费率你自己报</a:t>
              </a:r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571500" y="6438900"/>
            <a:ext cx="11060430" cy="304800"/>
            <a:chOff x="571500" y="6438900"/>
            <a:chExt cx="11060430" cy="304800"/>
          </a:xfrm>
        </p:grpSpPr>
        <p:sp>
          <p:nvSpPr>
            <p:cNvPr id="47" name="Line 47"/>
            <p:cNvSpPr/>
            <p:nvPr/>
          </p:nvSpPr>
          <p:spPr>
            <a:xfrm>
              <a:off x="571500" y="64389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ECE7DA"/>
              </a:solidFill>
            </a:ln>
          </p:spPr>
        </p:sp>
        <p:pic>
          <p:nvPicPr>
            <p:cNvPr id="48" name="Image 48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71500" y="6517891"/>
              <a:ext cx="190500" cy="184919"/>
            </a:xfrm>
            <a:prstGeom prst="rect">
              <a:avLst/>
            </a:prstGeom>
          </p:spPr>
        </p:pic>
        <p:sp>
          <p:nvSpPr>
            <p:cNvPr id="49" name="TextBox 49"/>
            <p:cNvSpPr txBox="1"/>
            <p:nvPr/>
          </p:nvSpPr>
          <p:spPr>
            <a:xfrm>
              <a:off x="845820" y="6560820"/>
              <a:ext cx="115700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openfde.net · /join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1207020" y="6560820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24 / 26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5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9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23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5" grpId="0"/>
      <p:bldP spid="31" grpId="0"/>
      <p:bldP spid="37" grpId="0"/>
      <p:bldP spid="43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</p:sp>
      <p:grpSp>
        <p:nvGrpSpPr>
          <p:cNvPr id="8" name="Group 8"/>
          <p:cNvGrpSpPr/>
          <p:nvPr/>
        </p:nvGrpSpPr>
        <p:grpSpPr>
          <a:xfrm>
            <a:off x="539115" y="571500"/>
            <a:ext cx="11095673" cy="909638"/>
            <a:chOff x="539115" y="571500"/>
            <a:chExt cx="11095673" cy="909638"/>
          </a:xfrm>
        </p:grpSpPr>
        <p:sp>
          <p:nvSpPr>
            <p:cNvPr id="3" name="Rectangle 3"/>
            <p:cNvSpPr/>
            <p:nvPr/>
          </p:nvSpPr>
          <p:spPr>
            <a:xfrm>
              <a:off x="571500" y="571500"/>
              <a:ext cx="381000" cy="28575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557212" y="735806"/>
              <a:ext cx="16274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开源与参与 · 入口对照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39115" y="962978"/>
              <a:ext cx="3992261" cy="518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我想做这件事，该点哪里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9550956" y="1078706"/>
              <a:ext cx="208383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全站 30 多个入口，压缩成六行</a:t>
              </a:r>
            </a:p>
          </p:txBody>
        </p:sp>
        <p:sp>
          <p:nvSpPr>
            <p:cNvPr id="7" name="Line 7"/>
            <p:cNvSpPr/>
            <p:nvPr/>
          </p:nvSpPr>
          <p:spPr>
            <a:xfrm>
              <a:off x="571500" y="14478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14288">
              <a:solidFill>
                <a:srgbClr val="D4CDB9"/>
              </a:solidFill>
            </a:ln>
          </p:spPr>
        </p:sp>
      </p:grpSp>
      <p:grpSp>
        <p:nvGrpSpPr>
          <p:cNvPr id="13" name="Group 13"/>
          <p:cNvGrpSpPr/>
          <p:nvPr/>
        </p:nvGrpSpPr>
        <p:grpSpPr>
          <a:xfrm>
            <a:off x="571500" y="1714500"/>
            <a:ext cx="11049000" cy="400050"/>
            <a:chOff x="571500" y="1714500"/>
            <a:chExt cx="11049000" cy="400050"/>
          </a:xfrm>
        </p:grpSpPr>
        <p:sp>
          <p:nvSpPr>
            <p:cNvPr id="9" name="Rectangle 9"/>
            <p:cNvSpPr/>
            <p:nvPr/>
          </p:nvSpPr>
          <p:spPr>
            <a:xfrm>
              <a:off x="571500" y="1714500"/>
              <a:ext cx="11049000" cy="400050"/>
            </a:xfrm>
            <a:prstGeom prst="rect">
              <a:avLst/>
            </a:prstGeom>
            <a:solidFill>
              <a:srgbClr val="17140D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38212" y="1850231"/>
              <a:ext cx="81617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7F5EF"/>
                  </a:solidFill>
                  <a:latin typeface="Arial"/>
                  <a:ea typeface="Microsoft YaHei"/>
                  <a:cs typeface="Arial"/>
                </a:rPr>
                <a:t>我想做什么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5319712" y="1850231"/>
              <a:ext cx="50113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7F5EF"/>
                  </a:solidFill>
                  <a:latin typeface="Arial"/>
                  <a:ea typeface="Microsoft YaHei"/>
                  <a:cs typeface="Arial"/>
                </a:rPr>
                <a:t>去哪里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8558212" y="1850231"/>
              <a:ext cx="81617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7F5EF"/>
                  </a:solidFill>
                  <a:latin typeface="Arial"/>
                  <a:ea typeface="Microsoft YaHei"/>
                  <a:cs typeface="Arial"/>
                </a:rPr>
                <a:t>具体怎么做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5143500" y="2114550"/>
            <a:ext cx="3248025" cy="3657600"/>
            <a:chOff x="5143500" y="2114550"/>
            <a:chExt cx="3248025" cy="3657600"/>
          </a:xfrm>
        </p:grpSpPr>
        <p:sp>
          <p:nvSpPr>
            <p:cNvPr id="14" name="Line 14"/>
            <p:cNvSpPr/>
            <p:nvPr/>
          </p:nvSpPr>
          <p:spPr>
            <a:xfrm>
              <a:off x="5143500" y="2114550"/>
              <a:ext cx="9525" cy="3657600"/>
            </a:xfrm>
            <a:custGeom>
              <a:avLst/>
              <a:gdLst/>
              <a:ahLst/>
              <a:cxnLst/>
              <a:rect l="l" t="t" r="r" b="b"/>
              <a:pathLst>
                <a:path w="9525" h="3657600">
                  <a:moveTo>
                    <a:pt x="0" y="0"/>
                  </a:moveTo>
                  <a:lnTo>
                    <a:pt x="0" y="3657600"/>
                  </a:lnTo>
                </a:path>
              </a:pathLst>
            </a:custGeom>
            <a:noFill/>
            <a:ln w="9525">
              <a:solidFill>
                <a:srgbClr val="E2DCCD"/>
              </a:solidFill>
            </a:ln>
          </p:spPr>
        </p:sp>
        <p:sp>
          <p:nvSpPr>
            <p:cNvPr id="15" name="Line 15"/>
            <p:cNvSpPr/>
            <p:nvPr/>
          </p:nvSpPr>
          <p:spPr>
            <a:xfrm>
              <a:off x="8382000" y="2114550"/>
              <a:ext cx="9525" cy="3657600"/>
            </a:xfrm>
            <a:custGeom>
              <a:avLst/>
              <a:gdLst/>
              <a:ahLst/>
              <a:cxnLst/>
              <a:rect l="l" t="t" r="r" b="b"/>
              <a:pathLst>
                <a:path w="9525" h="3657600">
                  <a:moveTo>
                    <a:pt x="0" y="0"/>
                  </a:moveTo>
                  <a:lnTo>
                    <a:pt x="0" y="3657600"/>
                  </a:lnTo>
                </a:path>
              </a:pathLst>
            </a:custGeom>
            <a:noFill/>
            <a:ln w="9525">
              <a:solidFill>
                <a:srgbClr val="E2DCCD"/>
              </a:solidFill>
            </a:ln>
          </p:spPr>
        </p:sp>
      </p:grpSp>
      <p:grpSp>
        <p:nvGrpSpPr>
          <p:cNvPr id="28" name="Group 28"/>
          <p:cNvGrpSpPr/>
          <p:nvPr/>
        </p:nvGrpSpPr>
        <p:grpSpPr>
          <a:xfrm>
            <a:off x="571500" y="2114550"/>
            <a:ext cx="11049000" cy="609600"/>
            <a:chOff x="571500" y="2114550"/>
            <a:chExt cx="11049000" cy="609600"/>
          </a:xfrm>
        </p:grpSpPr>
        <p:sp>
          <p:nvSpPr>
            <p:cNvPr id="17" name="Rectangle 17"/>
            <p:cNvSpPr/>
            <p:nvPr/>
          </p:nvSpPr>
          <p:spPr>
            <a:xfrm>
              <a:off x="571500" y="2114550"/>
              <a:ext cx="11049000" cy="609600"/>
            </a:xfrm>
            <a:prstGeom prst="rect">
              <a:avLst/>
            </a:prstGeom>
            <a:solidFill>
              <a:srgbClr val="F6E7DD"/>
            </a:solidFill>
            <a:ln>
              <a:noFill/>
            </a:ln>
          </p:spPr>
        </p:sp>
        <p:grpSp>
          <p:nvGrpSpPr>
            <p:cNvPr id="21" name="Group 21"/>
            <p:cNvGrpSpPr/>
            <p:nvPr/>
          </p:nvGrpSpPr>
          <p:grpSpPr>
            <a:xfrm>
              <a:off x="771298" y="2319338"/>
              <a:ext cx="185965" cy="200024"/>
              <a:chOff x="771298" y="2319338"/>
              <a:chExt cx="185965" cy="200024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771298" y="2374899"/>
                <a:ext cx="171915" cy="144463"/>
              </a:xfrm>
              <a:custGeom>
                <a:avLst/>
                <a:gdLst/>
                <a:ahLst/>
                <a:cxnLst/>
                <a:rect l="l" t="t" r="r" b="b"/>
                <a:pathLst>
                  <a:path w="171915" h="144463">
                    <a:moveTo>
                      <a:pt x="80396" y="144463"/>
                    </a:moveTo>
                    <a:lnTo>
                      <a:pt x="47880" y="144463"/>
                    </a:lnTo>
                    <a:cubicBezTo>
                      <a:pt x="31426" y="144462"/>
                      <a:pt x="17433" y="132456"/>
                      <a:pt x="14932" y="116193"/>
                    </a:cubicBezTo>
                    <a:lnTo>
                      <a:pt x="986" y="25604"/>
                    </a:lnTo>
                    <a:cubicBezTo>
                      <a:pt x="0" y="19195"/>
                      <a:pt x="1863" y="12674"/>
                      <a:pt x="6086" y="7753"/>
                    </a:cubicBezTo>
                    <a:cubicBezTo>
                      <a:pt x="10309" y="2832"/>
                      <a:pt x="16470" y="0"/>
                      <a:pt x="22955" y="1"/>
                    </a:cubicBezTo>
                    <a:lnTo>
                      <a:pt x="148960" y="1"/>
                    </a:lnTo>
                    <a:cubicBezTo>
                      <a:pt x="155445" y="0"/>
                      <a:pt x="161606" y="2832"/>
                      <a:pt x="165829" y="7753"/>
                    </a:cubicBezTo>
                    <a:cubicBezTo>
                      <a:pt x="170052" y="12674"/>
                      <a:pt x="171915" y="19195"/>
                      <a:pt x="170929" y="25604"/>
                    </a:cubicBezTo>
                    <a:lnTo>
                      <a:pt x="165373" y="61697"/>
                    </a:ln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  <p:sp>
            <p:nvSpPr>
              <p:cNvPr id="19" name="Freeform 19"/>
              <p:cNvSpPr/>
              <p:nvPr/>
            </p:nvSpPr>
            <p:spPr>
              <a:xfrm>
                <a:off x="823912" y="2319338"/>
                <a:ext cx="66675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88900">
                    <a:moveTo>
                      <a:pt x="0" y="88900"/>
                    </a:moveTo>
                    <a:lnTo>
                      <a:pt x="0" y="33338"/>
                    </a:lnTo>
                    <a:cubicBezTo>
                      <a:pt x="0" y="14926"/>
                      <a:pt x="14926" y="0"/>
                      <a:pt x="33338" y="0"/>
                    </a:cubicBezTo>
                    <a:cubicBezTo>
                      <a:pt x="51749" y="0"/>
                      <a:pt x="66675" y="14926"/>
                      <a:pt x="66675" y="33338"/>
                    </a:cubicBezTo>
                    <a:lnTo>
                      <a:pt x="66675" y="88900"/>
                    </a:ln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890588" y="2474912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</p:grpSp>
        <p:sp>
          <p:nvSpPr>
            <p:cNvPr id="22" name="TextBox 22"/>
            <p:cNvSpPr txBox="1"/>
            <p:nvPr/>
          </p:nvSpPr>
          <p:spPr>
            <a:xfrm>
              <a:off x="1085850" y="2238375"/>
              <a:ext cx="1560790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让 FDE 小队进场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092518" y="2504599"/>
              <a:ext cx="1064895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唯一要花钱的一行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317808" y="2243614"/>
              <a:ext cx="773253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C4471F"/>
                  </a:solidFill>
                  <a:latin typeface="Consolas"/>
                  <a:ea typeface="Microsoft YaHei"/>
                  <a:cs typeface="Consolas"/>
                </a:rPr>
                <a:t>/hirefde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5321618" y="2485549"/>
              <a:ext cx="934879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导航右上主按钮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558212" y="2259806"/>
              <a:ext cx="1978819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填飞书表单，或扫聘请二维码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561070" y="2493645"/>
              <a:ext cx="265118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A9284"/>
                  </a:solidFill>
                  <a:latin typeface="Consolas"/>
                  <a:ea typeface="Microsoft YaHei"/>
                  <a:cs typeface="Consolas"/>
                </a:rPr>
                <a:t>hcnfm23c2tlg.feishu.cn/share/base/form/…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571500" y="2724150"/>
            <a:ext cx="11049000" cy="588169"/>
            <a:chOff x="571500" y="2724150"/>
            <a:chExt cx="11049000" cy="588169"/>
          </a:xfrm>
        </p:grpSpPr>
        <p:grpSp>
          <p:nvGrpSpPr>
            <p:cNvPr id="33" name="Group 33"/>
            <p:cNvGrpSpPr/>
            <p:nvPr/>
          </p:nvGrpSpPr>
          <p:grpSpPr>
            <a:xfrm>
              <a:off x="757238" y="2928938"/>
              <a:ext cx="200025" cy="209549"/>
              <a:chOff x="757238" y="2928938"/>
              <a:chExt cx="200025" cy="209549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868362" y="302895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111"/>
                    </a:lnTo>
                  </a:path>
                </a:pathLst>
              </a:custGeom>
              <a:noFill/>
              <a:ln w="19050">
                <a:solidFill>
                  <a:srgbClr val="B8552E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757238" y="3128962"/>
                <a:ext cx="2000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00025" h="9525">
                    <a:moveTo>
                      <a:pt x="0" y="0"/>
                    </a:moveTo>
                    <a:lnTo>
                      <a:pt x="200025" y="0"/>
                    </a:lnTo>
                  </a:path>
                </a:pathLst>
              </a:custGeom>
              <a:noFill/>
              <a:ln w="19050">
                <a:solidFill>
                  <a:srgbClr val="B8552E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779462" y="2928938"/>
                <a:ext cx="133350" cy="20002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200025">
                    <a:moveTo>
                      <a:pt x="0" y="200025"/>
                    </a:moveTo>
                    <a:lnTo>
                      <a:pt x="0" y="22225"/>
                    </a:lnTo>
                    <a:cubicBezTo>
                      <a:pt x="0" y="9950"/>
                      <a:pt x="9950" y="0"/>
                      <a:pt x="22225" y="0"/>
                    </a:cubicBezTo>
                    <a:lnTo>
                      <a:pt x="88900" y="0"/>
                    </a:lnTo>
                    <a:moveTo>
                      <a:pt x="133350" y="116681"/>
                    </a:moveTo>
                    <a:lnTo>
                      <a:pt x="133350" y="200025"/>
                    </a:lnTo>
                  </a:path>
                </a:pathLst>
              </a:custGeom>
              <a:noFill/>
              <a:ln w="19050">
                <a:solidFill>
                  <a:srgbClr val="B8552E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879475" y="2940050"/>
                <a:ext cx="77787" cy="66675"/>
              </a:xfrm>
              <a:custGeom>
                <a:avLst/>
                <a:gdLst/>
                <a:ahLst/>
                <a:cxnLst/>
                <a:rect l="l" t="t" r="r" b="b"/>
                <a:pathLst>
                  <a:path w="77787" h="66675">
                    <a:moveTo>
                      <a:pt x="77787" y="33338"/>
                    </a:moveTo>
                    <a:lnTo>
                      <a:pt x="0" y="33338"/>
                    </a:lnTo>
                    <a:moveTo>
                      <a:pt x="33338" y="0"/>
                    </a:moveTo>
                    <a:lnTo>
                      <a:pt x="0" y="33338"/>
                    </a:lnTo>
                    <a:lnTo>
                      <a:pt x="33338" y="66675"/>
                    </a:lnTo>
                  </a:path>
                </a:pathLst>
              </a:custGeom>
              <a:noFill/>
              <a:ln w="19050">
                <a:solidFill>
                  <a:srgbClr val="B8552E"/>
                </a:solidFill>
              </a:ln>
            </p:spPr>
          </p:sp>
        </p:grpSp>
        <p:sp>
          <p:nvSpPr>
            <p:cNvPr id="34" name="TextBox 34"/>
            <p:cNvSpPr txBox="1"/>
            <p:nvPr/>
          </p:nvSpPr>
          <p:spPr>
            <a:xfrm>
              <a:off x="1085850" y="2847975"/>
              <a:ext cx="1865328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申请首批 20 人计划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092518" y="3114199"/>
              <a:ext cx="145494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想接项目的工程师走这条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5317808" y="2853214"/>
              <a:ext cx="434060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B8552E"/>
                  </a:solidFill>
                  <a:latin typeface="Consolas"/>
                  <a:ea typeface="Microsoft YaHei"/>
                  <a:cs typeface="Consolas"/>
                </a:rPr>
                <a:t>/join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5321618" y="3095149"/>
              <a:ext cx="934879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导航右上次按钮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8558212" y="2869406"/>
              <a:ext cx="18288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先对四类角色，再提交申请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8561070" y="3103245"/>
              <a:ext cx="146304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加入不收费，有项目才合作</a:t>
              </a:r>
            </a:p>
          </p:txBody>
        </p:sp>
        <p:sp>
          <p:nvSpPr>
            <p:cNvPr id="40" name="Line 40"/>
            <p:cNvSpPr/>
            <p:nvPr/>
          </p:nvSpPr>
          <p:spPr>
            <a:xfrm>
              <a:off x="571500" y="272415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E2DCCD"/>
              </a:solidFill>
            </a:ln>
          </p:spPr>
        </p:sp>
      </p:grpSp>
      <p:grpSp>
        <p:nvGrpSpPr>
          <p:cNvPr id="57" name="Group 57"/>
          <p:cNvGrpSpPr/>
          <p:nvPr/>
        </p:nvGrpSpPr>
        <p:grpSpPr>
          <a:xfrm>
            <a:off x="571500" y="3333750"/>
            <a:ext cx="11049000" cy="609600"/>
            <a:chOff x="571500" y="3333750"/>
            <a:chExt cx="11049000" cy="609600"/>
          </a:xfrm>
        </p:grpSpPr>
        <p:sp>
          <p:nvSpPr>
            <p:cNvPr id="42" name="Rectangle 42"/>
            <p:cNvSpPr/>
            <p:nvPr/>
          </p:nvSpPr>
          <p:spPr>
            <a:xfrm>
              <a:off x="571500" y="3333750"/>
              <a:ext cx="11049000" cy="609600"/>
            </a:xfrm>
            <a:prstGeom prst="rect">
              <a:avLst/>
            </a:prstGeom>
            <a:solidFill>
              <a:srgbClr val="EFEBE0"/>
            </a:solidFill>
            <a:ln>
              <a:noFill/>
            </a:ln>
          </p:spPr>
        </p:sp>
        <p:grpSp>
          <p:nvGrpSpPr>
            <p:cNvPr id="49" name="Group 49"/>
            <p:cNvGrpSpPr/>
            <p:nvPr/>
          </p:nvGrpSpPr>
          <p:grpSpPr>
            <a:xfrm>
              <a:off x="757238" y="3538538"/>
              <a:ext cx="200025" cy="200025"/>
              <a:chOff x="757238" y="3538538"/>
              <a:chExt cx="200025" cy="200025"/>
            </a:xfrm>
          </p:grpSpPr>
          <p:sp>
            <p:nvSpPr>
              <p:cNvPr id="43" name="Freeform 43"/>
              <p:cNvSpPr/>
              <p:nvPr/>
            </p:nvSpPr>
            <p:spPr>
              <a:xfrm>
                <a:off x="835025" y="3627438"/>
                <a:ext cx="44450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44450">
                    <a:moveTo>
                      <a:pt x="0" y="22225"/>
                    </a:moveTo>
                    <a:cubicBezTo>
                      <a:pt x="0" y="34500"/>
                      <a:pt x="9950" y="44450"/>
                      <a:pt x="22225" y="44450"/>
                    </a:cubicBezTo>
                    <a:cubicBezTo>
                      <a:pt x="34500" y="44450"/>
                      <a:pt x="44450" y="34500"/>
                      <a:pt x="44450" y="22225"/>
                    </a:cubicBezTo>
                    <a:cubicBezTo>
                      <a:pt x="44450" y="9950"/>
                      <a:pt x="34500" y="0"/>
                      <a:pt x="22225" y="0"/>
                    </a:cubicBezTo>
                    <a:cubicBezTo>
                      <a:pt x="9950" y="0"/>
                      <a:pt x="0" y="9950"/>
                      <a:pt x="0" y="22225"/>
                    </a:cubicBez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44" name="Freeform 44"/>
              <p:cNvSpPr/>
              <p:nvPr/>
            </p:nvSpPr>
            <p:spPr>
              <a:xfrm>
                <a:off x="812800" y="3705225"/>
                <a:ext cx="88900" cy="33338"/>
              </a:xfrm>
              <a:custGeom>
                <a:avLst/>
                <a:gdLst/>
                <a:ahLst/>
                <a:cxnLst/>
                <a:rect l="l" t="t" r="r" b="b"/>
                <a:pathLst>
                  <a:path w="88900" h="33338">
                    <a:moveTo>
                      <a:pt x="0" y="33338"/>
                    </a:moveTo>
                    <a:lnTo>
                      <a:pt x="0" y="22225"/>
                    </a:lnTo>
                    <a:cubicBezTo>
                      <a:pt x="0" y="9950"/>
                      <a:pt x="9950" y="0"/>
                      <a:pt x="22225" y="0"/>
                    </a:cubicBezTo>
                    <a:lnTo>
                      <a:pt x="66675" y="0"/>
                    </a:lnTo>
                    <a:cubicBezTo>
                      <a:pt x="78950" y="0"/>
                      <a:pt x="88900" y="9950"/>
                      <a:pt x="88900" y="22225"/>
                    </a:cubicBezTo>
                    <a:lnTo>
                      <a:pt x="88900" y="33338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890588" y="3538538"/>
                <a:ext cx="44450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44450">
                    <a:moveTo>
                      <a:pt x="0" y="22225"/>
                    </a:moveTo>
                    <a:cubicBezTo>
                      <a:pt x="0" y="34500"/>
                      <a:pt x="9950" y="44450"/>
                      <a:pt x="22225" y="44450"/>
                    </a:cubicBezTo>
                    <a:cubicBezTo>
                      <a:pt x="34500" y="44450"/>
                      <a:pt x="44450" y="34500"/>
                      <a:pt x="44450" y="22225"/>
                    </a:cubicBezTo>
                    <a:cubicBezTo>
                      <a:pt x="44450" y="9950"/>
                      <a:pt x="34500" y="0"/>
                      <a:pt x="22225" y="0"/>
                    </a:cubicBezTo>
                    <a:cubicBezTo>
                      <a:pt x="9950" y="0"/>
                      <a:pt x="0" y="9950"/>
                      <a:pt x="0" y="22225"/>
                    </a:cubicBez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912813" y="3616325"/>
                <a:ext cx="44450" cy="33338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33338">
                    <a:moveTo>
                      <a:pt x="0" y="0"/>
                    </a:moveTo>
                    <a:lnTo>
                      <a:pt x="22225" y="0"/>
                    </a:lnTo>
                    <a:cubicBezTo>
                      <a:pt x="34500" y="0"/>
                      <a:pt x="44450" y="9950"/>
                      <a:pt x="44450" y="22225"/>
                    </a:cubicBezTo>
                    <a:lnTo>
                      <a:pt x="44450" y="33338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779462" y="3538538"/>
                <a:ext cx="44450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44450">
                    <a:moveTo>
                      <a:pt x="0" y="22225"/>
                    </a:moveTo>
                    <a:cubicBezTo>
                      <a:pt x="0" y="34500"/>
                      <a:pt x="9950" y="44450"/>
                      <a:pt x="22225" y="44450"/>
                    </a:cubicBezTo>
                    <a:cubicBezTo>
                      <a:pt x="34500" y="44450"/>
                      <a:pt x="44450" y="34500"/>
                      <a:pt x="44450" y="22225"/>
                    </a:cubicBezTo>
                    <a:cubicBezTo>
                      <a:pt x="44450" y="9950"/>
                      <a:pt x="34500" y="0"/>
                      <a:pt x="22225" y="0"/>
                    </a:cubicBezTo>
                    <a:cubicBezTo>
                      <a:pt x="9950" y="0"/>
                      <a:pt x="0" y="9950"/>
                      <a:pt x="0" y="22225"/>
                    </a:cubicBez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48" name="Freeform 48"/>
              <p:cNvSpPr/>
              <p:nvPr/>
            </p:nvSpPr>
            <p:spPr>
              <a:xfrm>
                <a:off x="757238" y="3616325"/>
                <a:ext cx="44450" cy="33338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33338">
                    <a:moveTo>
                      <a:pt x="0" y="33338"/>
                    </a:moveTo>
                    <a:lnTo>
                      <a:pt x="0" y="22225"/>
                    </a:lnTo>
                    <a:cubicBezTo>
                      <a:pt x="0" y="9950"/>
                      <a:pt x="9950" y="0"/>
                      <a:pt x="22225" y="0"/>
                    </a:cubicBezTo>
                    <a:lnTo>
                      <a:pt x="44450" y="0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</p:grpSp>
        <p:sp>
          <p:nvSpPr>
            <p:cNvPr id="50" name="TextBox 50"/>
            <p:cNvSpPr txBox="1"/>
            <p:nvPr/>
          </p:nvSpPr>
          <p:spPr>
            <a:xfrm>
              <a:off x="1085850" y="3457575"/>
              <a:ext cx="1928336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进社群、先找人聊聊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092518" y="3723799"/>
              <a:ext cx="934879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门槛最低的一步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5317808" y="3462814"/>
              <a:ext cx="1041036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17140D"/>
                  </a:solidFill>
                  <a:latin typeface="Consolas"/>
                  <a:ea typeface="Microsoft YaHei"/>
                  <a:cs typeface="Consolas"/>
                </a:rPr>
                <a:t>/community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5321618" y="3704749"/>
              <a:ext cx="80486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导航「社区」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8558212" y="3479006"/>
              <a:ext cx="152876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扫页面上的社群二维码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8561070" y="3712845"/>
              <a:ext cx="100098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微信群 + 线下活动</a:t>
              </a:r>
            </a:p>
          </p:txBody>
        </p:sp>
        <p:sp>
          <p:nvSpPr>
            <p:cNvPr id="56" name="Line 56"/>
            <p:cNvSpPr/>
            <p:nvPr/>
          </p:nvSpPr>
          <p:spPr>
            <a:xfrm>
              <a:off x="571500" y="333375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E2DCCD"/>
              </a:solidFill>
            </a:ln>
          </p:spPr>
        </p:sp>
      </p:grpSp>
      <p:grpSp>
        <p:nvGrpSpPr>
          <p:cNvPr id="71" name="Group 71"/>
          <p:cNvGrpSpPr/>
          <p:nvPr/>
        </p:nvGrpSpPr>
        <p:grpSpPr>
          <a:xfrm>
            <a:off x="571500" y="3943350"/>
            <a:ext cx="11049000" cy="588169"/>
            <a:chOff x="571500" y="3943350"/>
            <a:chExt cx="11049000" cy="588169"/>
          </a:xfrm>
        </p:grpSpPr>
        <p:grpSp>
          <p:nvGrpSpPr>
            <p:cNvPr id="63" name="Group 63"/>
            <p:cNvGrpSpPr/>
            <p:nvPr/>
          </p:nvGrpSpPr>
          <p:grpSpPr>
            <a:xfrm>
              <a:off x="779462" y="4148138"/>
              <a:ext cx="155575" cy="200025"/>
              <a:chOff x="779462" y="4148138"/>
              <a:chExt cx="155575" cy="200025"/>
            </a:xfrm>
          </p:grpSpPr>
          <p:sp>
            <p:nvSpPr>
              <p:cNvPr id="58" name="Freeform 58"/>
              <p:cNvSpPr/>
              <p:nvPr/>
            </p:nvSpPr>
            <p:spPr>
              <a:xfrm>
                <a:off x="879475" y="4148138"/>
                <a:ext cx="55562" cy="55562"/>
              </a:xfrm>
              <a:custGeom>
                <a:avLst/>
                <a:gdLst/>
                <a:ahLst/>
                <a:cxnLst/>
                <a:rect l="l" t="t" r="r" b="b"/>
                <a:pathLst>
                  <a:path w="55562" h="55562">
                    <a:moveTo>
                      <a:pt x="0" y="0"/>
                    </a:moveTo>
                    <a:lnTo>
                      <a:pt x="0" y="44450"/>
                    </a:lnTo>
                    <a:cubicBezTo>
                      <a:pt x="0" y="50587"/>
                      <a:pt x="4975" y="55562"/>
                      <a:pt x="11112" y="55562"/>
                    </a:cubicBezTo>
                    <a:lnTo>
                      <a:pt x="55562" y="55562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59" name="Freeform 59"/>
              <p:cNvSpPr/>
              <p:nvPr/>
            </p:nvSpPr>
            <p:spPr>
              <a:xfrm>
                <a:off x="779462" y="4148138"/>
                <a:ext cx="155575" cy="200025"/>
              </a:xfrm>
              <a:custGeom>
                <a:avLst/>
                <a:gdLst/>
                <a:ahLst/>
                <a:cxnLst/>
                <a:rect l="l" t="t" r="r" b="b"/>
                <a:pathLst>
                  <a:path w="155575" h="200025">
                    <a:moveTo>
                      <a:pt x="133350" y="200025"/>
                    </a:moveTo>
                    <a:lnTo>
                      <a:pt x="22225" y="200025"/>
                    </a:lnTo>
                    <a:cubicBezTo>
                      <a:pt x="9950" y="200025"/>
                      <a:pt x="0" y="190075"/>
                      <a:pt x="0" y="177800"/>
                    </a:cubicBezTo>
                    <a:lnTo>
                      <a:pt x="0" y="22225"/>
                    </a:lnTo>
                    <a:cubicBezTo>
                      <a:pt x="0" y="9950"/>
                      <a:pt x="9950" y="0"/>
                      <a:pt x="22225" y="0"/>
                    </a:cubicBezTo>
                    <a:lnTo>
                      <a:pt x="100013" y="0"/>
                    </a:lnTo>
                    <a:lnTo>
                      <a:pt x="155575" y="55562"/>
                    </a:lnTo>
                    <a:lnTo>
                      <a:pt x="155575" y="177800"/>
                    </a:lnTo>
                    <a:cubicBezTo>
                      <a:pt x="155575" y="190075"/>
                      <a:pt x="145625" y="200025"/>
                      <a:pt x="133350" y="200025"/>
                    </a:cubicBez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60" name="Freeform 60"/>
              <p:cNvSpPr/>
              <p:nvPr/>
            </p:nvSpPr>
            <p:spPr>
              <a:xfrm>
                <a:off x="823912" y="4214812"/>
                <a:ext cx="1111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1113" h="9525">
                    <a:moveTo>
                      <a:pt x="0" y="0"/>
                    </a:moveTo>
                    <a:lnTo>
                      <a:pt x="11113" y="0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61" name="Freeform 61"/>
              <p:cNvSpPr/>
              <p:nvPr/>
            </p:nvSpPr>
            <p:spPr>
              <a:xfrm>
                <a:off x="823912" y="4259262"/>
                <a:ext cx="666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9525">
                    <a:moveTo>
                      <a:pt x="0" y="0"/>
                    </a:moveTo>
                    <a:lnTo>
                      <a:pt x="66675" y="0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62" name="Freeform 62"/>
              <p:cNvSpPr/>
              <p:nvPr/>
            </p:nvSpPr>
            <p:spPr>
              <a:xfrm>
                <a:off x="823912" y="4303712"/>
                <a:ext cx="666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9525">
                    <a:moveTo>
                      <a:pt x="0" y="0"/>
                    </a:moveTo>
                    <a:lnTo>
                      <a:pt x="66675" y="0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</p:grpSp>
        <p:sp>
          <p:nvSpPr>
            <p:cNvPr id="64" name="TextBox 64"/>
            <p:cNvSpPr txBox="1"/>
            <p:nvPr/>
          </p:nvSpPr>
          <p:spPr>
            <a:xfrm>
              <a:off x="1085850" y="4067175"/>
              <a:ext cx="1928336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补资料、投一线经验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1092518" y="4333399"/>
              <a:ext cx="1194911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给开源那一半做贡献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5317808" y="4072414"/>
              <a:ext cx="1067814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17140D"/>
                  </a:solidFill>
                  <a:latin typeface="Consolas"/>
                  <a:ea typeface="Microsoft YaHei"/>
                  <a:cs typeface="Consolas"/>
                </a:rPr>
                <a:t>/contribute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5321618" y="4314349"/>
              <a:ext cx="1064895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在「社区」下拉里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8558212" y="4088606"/>
              <a:ext cx="1978819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补充一手资料或第一人称经验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8561070" y="4322445"/>
              <a:ext cx="150504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会进那个 1,251 条的信号库</a:t>
              </a:r>
            </a:p>
          </p:txBody>
        </p:sp>
        <p:sp>
          <p:nvSpPr>
            <p:cNvPr id="70" name="Line 70"/>
            <p:cNvSpPr/>
            <p:nvPr/>
          </p:nvSpPr>
          <p:spPr>
            <a:xfrm>
              <a:off x="571500" y="394335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E2DCCD"/>
              </a:solidFill>
            </a:ln>
          </p:spPr>
        </p:sp>
      </p:grpSp>
      <p:grpSp>
        <p:nvGrpSpPr>
          <p:cNvPr id="81" name="Group 81"/>
          <p:cNvGrpSpPr/>
          <p:nvPr/>
        </p:nvGrpSpPr>
        <p:grpSpPr>
          <a:xfrm>
            <a:off x="571500" y="4552950"/>
            <a:ext cx="11049000" cy="609600"/>
            <a:chOff x="571500" y="4552950"/>
            <a:chExt cx="11049000" cy="609600"/>
          </a:xfrm>
        </p:grpSpPr>
        <p:sp>
          <p:nvSpPr>
            <p:cNvPr id="72" name="Rectangle 72"/>
            <p:cNvSpPr/>
            <p:nvPr/>
          </p:nvSpPr>
          <p:spPr>
            <a:xfrm>
              <a:off x="571500" y="4552950"/>
              <a:ext cx="11049000" cy="609600"/>
            </a:xfrm>
            <a:prstGeom prst="rect">
              <a:avLst/>
            </a:prstGeom>
            <a:solidFill>
              <a:srgbClr val="EFEBE0"/>
            </a:solidFill>
            <a:ln>
              <a:noFill/>
            </a:ln>
          </p:spPr>
        </p:sp>
        <p:sp>
          <p:nvSpPr>
            <p:cNvPr id="73" name="Freeform 73"/>
            <p:cNvSpPr/>
            <p:nvPr/>
          </p:nvSpPr>
          <p:spPr>
            <a:xfrm>
              <a:off x="723900" y="4727700"/>
              <a:ext cx="266700" cy="261122"/>
            </a:xfrm>
            <a:custGeom>
              <a:avLst/>
              <a:gdLst/>
              <a:ahLst/>
              <a:cxnLst/>
              <a:rect l="l" t="t" r="r" b="b"/>
              <a:pathLst>
                <a:path w="266700" h="261122">
                  <a:moveTo>
                    <a:pt x="133350" y="0"/>
                  </a:moveTo>
                  <a:cubicBezTo>
                    <a:pt x="59674" y="0"/>
                    <a:pt x="0" y="59707"/>
                    <a:pt x="0" y="133350"/>
                  </a:cubicBezTo>
                  <a:cubicBezTo>
                    <a:pt x="0" y="192280"/>
                    <a:pt x="38205" y="242253"/>
                    <a:pt x="91178" y="259866"/>
                  </a:cubicBezTo>
                  <a:cubicBezTo>
                    <a:pt x="97846" y="261122"/>
                    <a:pt x="100290" y="256999"/>
                    <a:pt x="100290" y="253454"/>
                  </a:cubicBezTo>
                  <a:cubicBezTo>
                    <a:pt x="100290" y="250287"/>
                    <a:pt x="100179" y="241897"/>
                    <a:pt x="100124" y="230784"/>
                  </a:cubicBezTo>
                  <a:cubicBezTo>
                    <a:pt x="63030" y="238830"/>
                    <a:pt x="55207" y="212893"/>
                    <a:pt x="55207" y="212893"/>
                  </a:cubicBezTo>
                  <a:cubicBezTo>
                    <a:pt x="49139" y="197502"/>
                    <a:pt x="40372" y="193391"/>
                    <a:pt x="40372" y="193391"/>
                  </a:cubicBezTo>
                  <a:cubicBezTo>
                    <a:pt x="28292" y="185123"/>
                    <a:pt x="41305" y="185290"/>
                    <a:pt x="41305" y="185290"/>
                  </a:cubicBezTo>
                  <a:cubicBezTo>
                    <a:pt x="54696" y="186223"/>
                    <a:pt x="61730" y="199025"/>
                    <a:pt x="61730" y="199025"/>
                  </a:cubicBezTo>
                  <a:cubicBezTo>
                    <a:pt x="73620" y="219416"/>
                    <a:pt x="92945" y="213527"/>
                    <a:pt x="100568" y="210115"/>
                  </a:cubicBezTo>
                  <a:cubicBezTo>
                    <a:pt x="101768" y="201492"/>
                    <a:pt x="105202" y="195613"/>
                    <a:pt x="109014" y="192280"/>
                  </a:cubicBezTo>
                  <a:cubicBezTo>
                    <a:pt x="79399" y="188946"/>
                    <a:pt x="48273" y="177478"/>
                    <a:pt x="48273" y="126382"/>
                  </a:cubicBezTo>
                  <a:cubicBezTo>
                    <a:pt x="48273" y="111825"/>
                    <a:pt x="53440" y="99935"/>
                    <a:pt x="61997" y="90600"/>
                  </a:cubicBezTo>
                  <a:cubicBezTo>
                    <a:pt x="60496" y="87233"/>
                    <a:pt x="55996" y="73676"/>
                    <a:pt x="63163" y="55307"/>
                  </a:cubicBezTo>
                  <a:cubicBezTo>
                    <a:pt x="63163" y="55307"/>
                    <a:pt x="74332" y="51729"/>
                    <a:pt x="99835" y="68975"/>
                  </a:cubicBezTo>
                  <a:cubicBezTo>
                    <a:pt x="110503" y="66008"/>
                    <a:pt x="121837" y="64541"/>
                    <a:pt x="133172" y="64475"/>
                  </a:cubicBezTo>
                  <a:cubicBezTo>
                    <a:pt x="144507" y="64541"/>
                    <a:pt x="155842" y="66008"/>
                    <a:pt x="166510" y="68975"/>
                  </a:cubicBezTo>
                  <a:cubicBezTo>
                    <a:pt x="191846" y="51729"/>
                    <a:pt x="203014" y="55307"/>
                    <a:pt x="203014" y="55307"/>
                  </a:cubicBezTo>
                  <a:cubicBezTo>
                    <a:pt x="210182" y="73676"/>
                    <a:pt x="205681" y="87233"/>
                    <a:pt x="204348" y="90600"/>
                  </a:cubicBezTo>
                  <a:cubicBezTo>
                    <a:pt x="212849" y="99935"/>
                    <a:pt x="218016" y="111825"/>
                    <a:pt x="218016" y="126382"/>
                  </a:cubicBezTo>
                  <a:cubicBezTo>
                    <a:pt x="218016" y="177611"/>
                    <a:pt x="186846" y="188890"/>
                    <a:pt x="157175" y="192168"/>
                  </a:cubicBezTo>
                  <a:cubicBezTo>
                    <a:pt x="161842" y="196169"/>
                    <a:pt x="166176" y="204348"/>
                    <a:pt x="166176" y="216838"/>
                  </a:cubicBezTo>
                  <a:cubicBezTo>
                    <a:pt x="166176" y="234685"/>
                    <a:pt x="166010" y="249020"/>
                    <a:pt x="166010" y="253354"/>
                  </a:cubicBezTo>
                  <a:cubicBezTo>
                    <a:pt x="166010" y="256854"/>
                    <a:pt x="168343" y="261022"/>
                    <a:pt x="175177" y="259688"/>
                  </a:cubicBezTo>
                  <a:cubicBezTo>
                    <a:pt x="228529" y="242197"/>
                    <a:pt x="266700" y="192191"/>
                    <a:pt x="266700" y="133350"/>
                  </a:cubicBezTo>
                  <a:cubicBezTo>
                    <a:pt x="266700" y="59707"/>
                    <a:pt x="206993" y="0"/>
                    <a:pt x="133350" y="0"/>
                  </a:cubicBezTo>
                </a:path>
              </a:pathLst>
            </a:custGeom>
            <a:solidFill>
              <a:srgbClr val="17140D"/>
            </a:solidFill>
            <a:ln>
              <a:noFill/>
            </a:ln>
          </p:spPr>
        </p:sp>
        <p:sp>
          <p:nvSpPr>
            <p:cNvPr id="74" name="TextBox 74"/>
            <p:cNvSpPr txBox="1"/>
            <p:nvPr/>
          </p:nvSpPr>
          <p:spPr>
            <a:xfrm>
              <a:off x="1085850" y="4676775"/>
              <a:ext cx="1088231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看开源代码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1092518" y="4942999"/>
              <a:ext cx="158496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这份讲解就是从这里逆向的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5319712" y="4698206"/>
              <a:ext cx="169828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7140D"/>
                  </a:solidFill>
                  <a:latin typeface="Consolas"/>
                  <a:ea typeface="Microsoft YaHei"/>
                  <a:cs typeface="Consolas"/>
                </a:rPr>
                <a:t>github.com/Open-FDE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5321618" y="4923949"/>
              <a:ext cx="1194911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页脚与「社区」下拉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8558212" y="4698206"/>
              <a:ext cx="92868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本站源码仓库</a:t>
              </a: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8561070" y="4932045"/>
              <a:ext cx="145103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A9284"/>
                  </a:solidFill>
                  <a:latin typeface="Consolas"/>
                  <a:ea typeface="Microsoft YaHei"/>
                  <a:cs typeface="Consolas"/>
                </a:rPr>
                <a:t>OpenFDEAI/OpenFDE-WEB</a:t>
              </a:r>
            </a:p>
          </p:txBody>
        </p:sp>
        <p:sp>
          <p:nvSpPr>
            <p:cNvPr id="80" name="Line 80"/>
            <p:cNvSpPr/>
            <p:nvPr/>
          </p:nvSpPr>
          <p:spPr>
            <a:xfrm>
              <a:off x="571500" y="455295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E2DCCD"/>
              </a:solidFill>
            </a:ln>
          </p:spPr>
        </p:sp>
      </p:grpSp>
      <p:grpSp>
        <p:nvGrpSpPr>
          <p:cNvPr id="94" name="Group 94"/>
          <p:cNvGrpSpPr/>
          <p:nvPr/>
        </p:nvGrpSpPr>
        <p:grpSpPr>
          <a:xfrm>
            <a:off x="571500" y="5162550"/>
            <a:ext cx="11049000" cy="619125"/>
            <a:chOff x="571500" y="5162550"/>
            <a:chExt cx="11049000" cy="619125"/>
          </a:xfrm>
        </p:grpSpPr>
        <p:grpSp>
          <p:nvGrpSpPr>
            <p:cNvPr id="85" name="Group 85"/>
            <p:cNvGrpSpPr/>
            <p:nvPr/>
          </p:nvGrpSpPr>
          <p:grpSpPr>
            <a:xfrm>
              <a:off x="757238" y="5367338"/>
              <a:ext cx="200025" cy="200025"/>
              <a:chOff x="757238" y="5367338"/>
              <a:chExt cx="200025" cy="200025"/>
            </a:xfrm>
          </p:grpSpPr>
          <p:sp>
            <p:nvSpPr>
              <p:cNvPr id="82" name="Freeform 82"/>
              <p:cNvSpPr/>
              <p:nvPr/>
            </p:nvSpPr>
            <p:spPr>
              <a:xfrm>
                <a:off x="757238" y="5367338"/>
                <a:ext cx="200025" cy="100012"/>
              </a:xfrm>
              <a:custGeom>
                <a:avLst/>
                <a:gdLst/>
                <a:ahLst/>
                <a:cxnLst/>
                <a:rect l="l" t="t" r="r" b="b"/>
                <a:pathLst>
                  <a:path w="200025" h="100012">
                    <a:moveTo>
                      <a:pt x="0" y="100012"/>
                    </a:moveTo>
                    <a:lnTo>
                      <a:pt x="11113" y="100012"/>
                    </a:lnTo>
                    <a:moveTo>
                      <a:pt x="100012" y="0"/>
                    </a:moveTo>
                    <a:lnTo>
                      <a:pt x="100012" y="11112"/>
                    </a:lnTo>
                    <a:moveTo>
                      <a:pt x="188913" y="100012"/>
                    </a:moveTo>
                    <a:lnTo>
                      <a:pt x="200025" y="100012"/>
                    </a:lnTo>
                    <a:moveTo>
                      <a:pt x="28892" y="28892"/>
                    </a:moveTo>
                    <a:lnTo>
                      <a:pt x="36671" y="36671"/>
                    </a:lnTo>
                    <a:moveTo>
                      <a:pt x="171133" y="28892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83" name="Freeform 83"/>
              <p:cNvSpPr/>
              <p:nvPr/>
            </p:nvSpPr>
            <p:spPr>
              <a:xfrm>
                <a:off x="796976" y="541178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2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2" y="15304"/>
                      <a:pt x="112985" y="37992"/>
                    </a:cubicBezTo>
                    <a:cubicBezTo>
                      <a:pt x="120548" y="60681"/>
                      <a:pt x="112744" y="85663"/>
                      <a:pt x="93612" y="100012"/>
                    </a:cubicBezTo>
                    <a:cubicBezTo>
                      <a:pt x="84812" y="108723"/>
                      <a:pt x="80686" y="121102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2"/>
                      <a:pt x="35736" y="108723"/>
                      <a:pt x="26937" y="100012"/>
                    </a:cubicBez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84" name="Freeform 84"/>
              <p:cNvSpPr/>
              <p:nvPr/>
            </p:nvSpPr>
            <p:spPr>
              <a:xfrm>
                <a:off x="831691" y="5522912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</p:grpSp>
        <p:sp>
          <p:nvSpPr>
            <p:cNvPr id="86" name="TextBox 86"/>
            <p:cNvSpPr txBox="1"/>
            <p:nvPr/>
          </p:nvSpPr>
          <p:spPr>
            <a:xfrm>
              <a:off x="1085850" y="5286375"/>
              <a:ext cx="1718310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看他们到底信什么</a:t>
              </a:r>
            </a:p>
          </p:txBody>
        </p:sp>
        <p:sp>
          <p:nvSpPr>
            <p:cNvPr id="87" name="TextBox 87"/>
            <p:cNvSpPr txBox="1"/>
            <p:nvPr/>
          </p:nvSpPr>
          <p:spPr>
            <a:xfrm>
              <a:off x="1092518" y="5552599"/>
              <a:ext cx="1064895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判断值不值得深交</a:t>
              </a:r>
            </a:p>
          </p:txBody>
        </p:sp>
        <p:sp>
          <p:nvSpPr>
            <p:cNvPr id="88" name="TextBox 88"/>
            <p:cNvSpPr txBox="1"/>
            <p:nvPr/>
          </p:nvSpPr>
          <p:spPr>
            <a:xfrm>
              <a:off x="5317808" y="5291614"/>
              <a:ext cx="1005332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17140D"/>
                  </a:solidFill>
                  <a:latin typeface="Consolas"/>
                  <a:ea typeface="Microsoft YaHei"/>
                  <a:cs typeface="Consolas"/>
                </a:rPr>
                <a:t>/manifesto</a:t>
              </a:r>
            </a:p>
          </p:txBody>
        </p:sp>
        <p:sp>
          <p:nvSpPr>
            <p:cNvPr id="89" name="TextBox 89"/>
            <p:cNvSpPr txBox="1"/>
            <p:nvPr/>
          </p:nvSpPr>
          <p:spPr>
            <a:xfrm>
              <a:off x="5321618" y="5533549"/>
              <a:ext cx="1064895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在「社区」下拉里</a:t>
              </a:r>
            </a:p>
          </p:txBody>
        </p:sp>
        <p:sp>
          <p:nvSpPr>
            <p:cNvPr id="90" name="TextBox 90"/>
            <p:cNvSpPr txBox="1"/>
            <p:nvPr/>
          </p:nvSpPr>
          <p:spPr>
            <a:xfrm>
              <a:off x="8558212" y="5307806"/>
              <a:ext cx="62865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社区宣言</a:t>
              </a:r>
            </a:p>
          </p:txBody>
        </p:sp>
        <p:sp>
          <p:nvSpPr>
            <p:cNvPr id="91" name="TextBox 91"/>
            <p:cNvSpPr txBox="1"/>
            <p:nvPr/>
          </p:nvSpPr>
          <p:spPr>
            <a:xfrm>
              <a:off x="8561070" y="5541645"/>
              <a:ext cx="159505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另有 /blog 看一线实践与发布</a:t>
              </a:r>
            </a:p>
          </p:txBody>
        </p:sp>
        <p:sp>
          <p:nvSpPr>
            <p:cNvPr id="92" name="Line 92"/>
            <p:cNvSpPr/>
            <p:nvPr/>
          </p:nvSpPr>
          <p:spPr>
            <a:xfrm>
              <a:off x="571500" y="516255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E2DCCD"/>
              </a:solidFill>
            </a:ln>
          </p:spPr>
        </p:sp>
        <p:sp>
          <p:nvSpPr>
            <p:cNvPr id="93" name="Line 93"/>
            <p:cNvSpPr/>
            <p:nvPr/>
          </p:nvSpPr>
          <p:spPr>
            <a:xfrm>
              <a:off x="571500" y="577215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19050">
              <a:solidFill>
                <a:srgbClr val="17140D"/>
              </a:solidFill>
            </a:ln>
          </p:spPr>
        </p:sp>
      </p:grpSp>
      <p:grpSp>
        <p:nvGrpSpPr>
          <p:cNvPr id="96" name="Group 96"/>
          <p:cNvGrpSpPr/>
          <p:nvPr/>
        </p:nvGrpSpPr>
        <p:grpSpPr>
          <a:xfrm>
            <a:off x="552450" y="5991225"/>
            <a:ext cx="10259378" cy="304800"/>
            <a:chOff x="552450" y="5991225"/>
            <a:chExt cx="10259378" cy="304800"/>
          </a:xfrm>
        </p:grpSpPr>
        <p:sp>
          <p:nvSpPr>
            <p:cNvPr id="95" name="TextBox 95"/>
            <p:cNvSpPr txBox="1"/>
            <p:nvPr/>
          </p:nvSpPr>
          <p:spPr>
            <a:xfrm>
              <a:off x="552450" y="5991225"/>
              <a:ext cx="10259378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六行里</a:t>
              </a:r>
              <a:r>
                <a:rPr lang="zh-CN" sz="1500" b="1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只有第一行要花钱</a:t>
              </a: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，其余五行都免费——只是好奇的话，从第三行（进社群）或第五行（看源码）开始最省事。</a:t>
              </a:r>
            </a:p>
          </p:txBody>
        </p:sp>
      </p:grpSp>
      <p:grpSp>
        <p:nvGrpSpPr>
          <p:cNvPr id="101" name="Group 101"/>
          <p:cNvGrpSpPr/>
          <p:nvPr/>
        </p:nvGrpSpPr>
        <p:grpSpPr>
          <a:xfrm>
            <a:off x="571500" y="6438900"/>
            <a:ext cx="11060430" cy="304800"/>
            <a:chOff x="571500" y="6438900"/>
            <a:chExt cx="11060430" cy="304800"/>
          </a:xfrm>
        </p:grpSpPr>
        <p:sp>
          <p:nvSpPr>
            <p:cNvPr id="97" name="Line 97"/>
            <p:cNvSpPr/>
            <p:nvPr/>
          </p:nvSpPr>
          <p:spPr>
            <a:xfrm>
              <a:off x="571500" y="64389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ECE7DA"/>
              </a:solidFill>
            </a:ln>
          </p:spPr>
        </p:sp>
        <p:pic>
          <p:nvPicPr>
            <p:cNvPr id="98" name="Image 98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71500" y="6517891"/>
              <a:ext cx="190500" cy="184919"/>
            </a:xfrm>
            <a:prstGeom prst="rect">
              <a:avLst/>
            </a:prstGeom>
          </p:spPr>
        </p:pic>
        <p:sp>
          <p:nvSpPr>
            <p:cNvPr id="99" name="TextBox 99"/>
            <p:cNvSpPr txBox="1"/>
            <p:nvPr/>
          </p:nvSpPr>
          <p:spPr>
            <a:xfrm>
              <a:off x="845820" y="6560820"/>
              <a:ext cx="74895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openfde.net</a:t>
              </a:r>
            </a:p>
          </p:txBody>
        </p:sp>
        <p:sp>
          <p:nvSpPr>
            <p:cNvPr id="100" name="TextBox 100"/>
            <p:cNvSpPr txBox="1"/>
            <p:nvPr/>
          </p:nvSpPr>
          <p:spPr>
            <a:xfrm>
              <a:off x="11207020" y="6560820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25 / 26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5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0"/>
                            </p:stCondLst>
                            <p:childTnLst>
                              <p:par>
                                <p:cTn id="2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27" dur="4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400"/>
                            </p:stCondLst>
                            <p:childTnLst>
                              <p:par>
                                <p:cTn id="29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31" dur="4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300"/>
                            </p:stCondLst>
                            <p:childTnLst>
                              <p:par>
                                <p:cTn id="3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7200"/>
                            </p:stCondLst>
                            <p:childTnLst>
                              <p:par>
                                <p:cTn id="3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6" grpId="0"/>
      <p:bldP spid="28" grpId="0"/>
      <p:bldP spid="41" grpId="0"/>
      <p:bldP spid="57" grpId="0"/>
      <p:bldP spid="71" grpId="0"/>
      <p:bldP spid="81" grpId="0"/>
      <p:bldP spid="94" grpId="0"/>
      <p:bldP spid="96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</p:sp>
      <p:grpSp>
        <p:nvGrpSpPr>
          <p:cNvPr id="5" name="Group 5"/>
          <p:cNvGrpSpPr/>
          <p:nvPr/>
        </p:nvGrpSpPr>
        <p:grpSpPr>
          <a:xfrm>
            <a:off x="557212" y="571500"/>
            <a:ext cx="1469880" cy="392906"/>
            <a:chOff x="557212" y="571500"/>
            <a:chExt cx="1469880" cy="392906"/>
          </a:xfrm>
        </p:grpSpPr>
        <p:sp>
          <p:nvSpPr>
            <p:cNvPr id="3" name="Rectangle 3"/>
            <p:cNvSpPr/>
            <p:nvPr/>
          </p:nvSpPr>
          <p:spPr>
            <a:xfrm>
              <a:off x="571500" y="571500"/>
              <a:ext cx="381000" cy="28575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557212" y="735806"/>
              <a:ext cx="146988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收尾 · 三句话记住它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514350" y="1800225"/>
            <a:ext cx="9099661" cy="3200400"/>
            <a:chOff x="514350" y="1800225"/>
            <a:chExt cx="9099661" cy="3200400"/>
          </a:xfrm>
        </p:grpSpPr>
        <p:sp>
          <p:nvSpPr>
            <p:cNvPr id="6" name="TextBox 6"/>
            <p:cNvSpPr txBox="1"/>
            <p:nvPr/>
          </p:nvSpPr>
          <p:spPr>
            <a:xfrm>
              <a:off x="514350" y="1800225"/>
              <a:ext cx="1374458" cy="914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50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想学</a:t>
              </a:r>
            </a:p>
          </p:txBody>
        </p:sp>
        <p:sp>
          <p:nvSpPr>
            <p:cNvPr id="7" name="Line 7"/>
            <p:cNvSpPr/>
            <p:nvPr/>
          </p:nvSpPr>
          <p:spPr>
            <a:xfrm>
              <a:off x="2019300" y="2095500"/>
              <a:ext cx="762000" cy="9525"/>
            </a:xfrm>
            <a:custGeom>
              <a:avLst/>
              <a:gdLst/>
              <a:ahLst/>
              <a:cxnLst/>
              <a:rect l="l" t="t" r="r" b="b"/>
              <a:pathLst>
                <a:path w="762000" h="9525">
                  <a:moveTo>
                    <a:pt x="0" y="0"/>
                  </a:moveTo>
                  <a:lnTo>
                    <a:pt x="762000" y="0"/>
                  </a:lnTo>
                </a:path>
              </a:pathLst>
            </a:custGeom>
            <a:noFill/>
            <a:ln w="28575">
              <a:solidFill>
                <a:srgbClr val="C4471F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3009900" y="1800225"/>
              <a:ext cx="4619363" cy="914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500" b="1" dirty="0">
                  <a:solidFill>
                    <a:srgbClr val="2F2B20"/>
                  </a:solidFill>
                  <a:latin typeface="Georgia"/>
                  <a:ea typeface="KaiTi"/>
                  <a:cs typeface="Georgia"/>
                </a:rPr>
                <a:t>白皮书 / 信号库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514350" y="2943225"/>
              <a:ext cx="1374458" cy="914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50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想买</a:t>
              </a:r>
            </a:p>
          </p:txBody>
        </p:sp>
        <p:sp>
          <p:nvSpPr>
            <p:cNvPr id="10" name="Line 10"/>
            <p:cNvSpPr/>
            <p:nvPr/>
          </p:nvSpPr>
          <p:spPr>
            <a:xfrm>
              <a:off x="2019300" y="3238500"/>
              <a:ext cx="762000" cy="9525"/>
            </a:xfrm>
            <a:custGeom>
              <a:avLst/>
              <a:gdLst/>
              <a:ahLst/>
              <a:cxnLst/>
              <a:rect l="l" t="t" r="r" b="b"/>
              <a:pathLst>
                <a:path w="762000" h="9525">
                  <a:moveTo>
                    <a:pt x="0" y="0"/>
                  </a:moveTo>
                  <a:lnTo>
                    <a:pt x="762000" y="0"/>
                  </a:lnTo>
                </a:path>
              </a:pathLst>
            </a:custGeom>
            <a:noFill/>
            <a:ln w="28575">
              <a:solidFill>
                <a:srgbClr val="C4471F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3009900" y="2943225"/>
              <a:ext cx="6604111" cy="914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500" b="1" dirty="0">
                  <a:solidFill>
                    <a:srgbClr val="2F2B20"/>
                  </a:solidFill>
                  <a:latin typeface="Georgia"/>
                  <a:ea typeface="KaiTi"/>
                  <a:cs typeface="Georgia"/>
                </a:rPr>
                <a:t>解决方案 / 案例 / 服务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514350" y="4086225"/>
              <a:ext cx="1374458" cy="914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50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想干</a:t>
              </a:r>
            </a:p>
          </p:txBody>
        </p:sp>
        <p:sp>
          <p:nvSpPr>
            <p:cNvPr id="13" name="Line 13"/>
            <p:cNvSpPr/>
            <p:nvPr/>
          </p:nvSpPr>
          <p:spPr>
            <a:xfrm>
              <a:off x="2019300" y="4381500"/>
              <a:ext cx="762000" cy="9525"/>
            </a:xfrm>
            <a:custGeom>
              <a:avLst/>
              <a:gdLst/>
              <a:ahLst/>
              <a:cxnLst/>
              <a:rect l="l" t="t" r="r" b="b"/>
              <a:pathLst>
                <a:path w="762000" h="9525">
                  <a:moveTo>
                    <a:pt x="0" y="0"/>
                  </a:moveTo>
                  <a:lnTo>
                    <a:pt x="762000" y="0"/>
                  </a:lnTo>
                </a:path>
              </a:pathLst>
            </a:custGeom>
            <a:noFill/>
            <a:ln w="28575">
              <a:solidFill>
                <a:srgbClr val="C4471F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3009900" y="4086225"/>
              <a:ext cx="4871395" cy="914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500" b="1" dirty="0">
                  <a:solidFill>
                    <a:srgbClr val="2F2B20"/>
                  </a:solidFill>
                  <a:latin typeface="Georgia"/>
                  <a:ea typeface="KaiTi"/>
                  <a:cs typeface="Georgia"/>
                </a:rPr>
                <a:t>20 人计划 / 社群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9258300" y="4762500"/>
            <a:ext cx="2362200" cy="1428750"/>
            <a:chOff x="9258300" y="4762500"/>
            <a:chExt cx="2362200" cy="1428750"/>
          </a:xfrm>
        </p:grpSpPr>
        <p:pic>
          <p:nvPicPr>
            <p:cNvPr id="16" name="Image 16"/>
            <p:cNvPicPr>
              <a:picLocks noChangeAspect="1"/>
            </p:cNvPicPr>
            <p:nvPr/>
          </p:nvPicPr>
          <p:blipFill>
            <a:blip r:embed="rId2"/>
            <a:srcRect l="0" t="19758" r="0" b="19758"/>
            <a:stretch>
              <a:fillRect/>
            </a:stretch>
          </p:blipFill>
          <p:spPr>
            <a:xfrm>
              <a:off x="9258300" y="4762500"/>
              <a:ext cx="2362200" cy="1428750"/>
            </a:xfrm>
            <a:prstGeom prst="rect">
              <a:avLst/>
            </a:prstGeom>
          </p:spPr>
        </p:pic>
      </p:grpSp>
      <p:grpSp>
        <p:nvGrpSpPr>
          <p:cNvPr id="21" name="Group 21"/>
          <p:cNvGrpSpPr/>
          <p:nvPr/>
        </p:nvGrpSpPr>
        <p:grpSpPr>
          <a:xfrm>
            <a:off x="539115" y="5162550"/>
            <a:ext cx="8223885" cy="962025"/>
            <a:chOff x="539115" y="5162550"/>
            <a:chExt cx="8223885" cy="962025"/>
          </a:xfrm>
        </p:grpSpPr>
        <p:sp>
          <p:nvSpPr>
            <p:cNvPr id="18" name="Line 18"/>
            <p:cNvSpPr/>
            <p:nvPr/>
          </p:nvSpPr>
          <p:spPr>
            <a:xfrm>
              <a:off x="571500" y="5162550"/>
              <a:ext cx="8191500" cy="9525"/>
            </a:xfrm>
            <a:custGeom>
              <a:avLst/>
              <a:gdLst/>
              <a:ahLst/>
              <a:cxnLst/>
              <a:rect l="l" t="t" r="r" b="b"/>
              <a:pathLst>
                <a:path w="8191500" h="9525">
                  <a:moveTo>
                    <a:pt x="0" y="0"/>
                  </a:moveTo>
                  <a:lnTo>
                    <a:pt x="8191500" y="0"/>
                  </a:lnTo>
                </a:path>
              </a:pathLst>
            </a:custGeom>
            <a:noFill/>
            <a:ln w="9525">
              <a:solidFill>
                <a:srgbClr val="D4CDB9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539115" y="5382578"/>
              <a:ext cx="5920302" cy="518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C4471F"/>
                  </a:solidFill>
                  <a:latin typeface="Georgia"/>
                  <a:ea typeface="KaiTi"/>
                  <a:cs typeface="Georgia"/>
                </a:rPr>
                <a:t>企业 AI 落地的最后一公里，是 FDE。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52450" y="5819775"/>
              <a:ext cx="5038725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进入业务现场，把前沿模型变成生产系统，对结果负责。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571500" y="6324600"/>
            <a:ext cx="11060430" cy="419100"/>
            <a:chOff x="571500" y="6324600"/>
            <a:chExt cx="11060430" cy="419100"/>
          </a:xfrm>
        </p:grpSpPr>
        <p:pic>
          <p:nvPicPr>
            <p:cNvPr id="22" name="Image 22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71500" y="6324600"/>
              <a:ext cx="1676400" cy="419100"/>
            </a:xfrm>
            <a:prstGeom prst="rect">
              <a:avLst/>
            </a:prstGeom>
          </p:spPr>
        </p:pic>
        <p:sp>
          <p:nvSpPr>
            <p:cNvPr id="23" name="TextBox 23"/>
            <p:cNvSpPr txBox="1"/>
            <p:nvPr/>
          </p:nvSpPr>
          <p:spPr>
            <a:xfrm>
              <a:off x="10342912" y="6513195"/>
              <a:ext cx="128901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openfde.net · 26 / 26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4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5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26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/>
  <cp:lastModifiedBy/>
  <cp:revision>1</cp:revision>
  <dcterms:created xsi:type="dcterms:W3CDTF">2026-08-17T12:01:26Z</dcterms:created>
  <dcterms:modified xsi:type="dcterms:W3CDTF">2026-08-17T12:01:26Z</dcterms:modified>
  <cp:category/>
  <cp:contentStatus/>
</cp:coreProperties>
</file>